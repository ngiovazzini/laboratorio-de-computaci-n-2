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Saira"/>
      <p:regular r:id="rId17"/>
      <p:bold r:id="rId18"/>
      <p:italic r:id="rId19"/>
      <p:boldItalic r:id="rId20"/>
    </p:embeddedFont>
    <p:embeddedFont>
      <p:font typeface="Saira Light"/>
      <p:regular r:id="rId21"/>
      <p:bold r:id="rId22"/>
      <p:italic r:id="rId23"/>
      <p:boldItalic r:id="rId24"/>
    </p:embeddedFont>
    <p:embeddedFont>
      <p:font typeface="Saira SemiBol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FcSPkcMdwgCKrHDFACGF5mxkK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aira-boldItalic.fntdata"/><Relationship Id="rId22" Type="http://schemas.openxmlformats.org/officeDocument/2006/relationships/font" Target="fonts/SairaLight-bold.fntdata"/><Relationship Id="rId21" Type="http://schemas.openxmlformats.org/officeDocument/2006/relationships/font" Target="fonts/SairaLight-regular.fntdata"/><Relationship Id="rId24" Type="http://schemas.openxmlformats.org/officeDocument/2006/relationships/font" Target="fonts/SairaLight-boldItalic.fntdata"/><Relationship Id="rId23" Type="http://schemas.openxmlformats.org/officeDocument/2006/relationships/font" Target="fonts/Saira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airaSemiBold-bold.fntdata"/><Relationship Id="rId25" Type="http://schemas.openxmlformats.org/officeDocument/2006/relationships/font" Target="fonts/SairaSemiBold-regular.fntdata"/><Relationship Id="rId28" Type="http://schemas.openxmlformats.org/officeDocument/2006/relationships/font" Target="fonts/SairaSemiBold-boldItalic.fntdata"/><Relationship Id="rId27" Type="http://schemas.openxmlformats.org/officeDocument/2006/relationships/font" Target="fonts/SairaSemiBold-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Saira-regular.fntdata"/><Relationship Id="rId16" Type="http://schemas.openxmlformats.org/officeDocument/2006/relationships/slide" Target="slides/slide12.xml"/><Relationship Id="rId19" Type="http://schemas.openxmlformats.org/officeDocument/2006/relationships/font" Target="fonts/Saira-italic.fntdata"/><Relationship Id="rId18" Type="http://schemas.openxmlformats.org/officeDocument/2006/relationships/font" Target="fonts/Sair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f55550cd8a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1f55550cd8a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f575dcc7c2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1f575dcc7c2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f55550cd8a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1f55550cd8a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f594071a04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1f594071a0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ce81047cb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g2ce81047cb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e81047cb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2ce81047cb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e81047cbb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2ce81047cb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f55550cd8a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1f55550cd8a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c1d2f75a92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2c1d2f75a92_0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computación 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2856838" y="2445375"/>
            <a:ext cx="5483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a:t>
            </a:r>
            <a:r>
              <a:rPr lang="es-AR" sz="2800">
                <a:solidFill>
                  <a:schemeClr val="dk1"/>
                </a:solidFill>
                <a:latin typeface="Saira"/>
                <a:ea typeface="Saira"/>
                <a:cs typeface="Saira"/>
                <a:sym typeface="Saira"/>
              </a:rPr>
              <a:t>11</a:t>
            </a:r>
            <a:r>
              <a:rPr b="0" i="0" lang="es-AR" sz="2800" u="none" cap="none" strike="noStrike">
                <a:solidFill>
                  <a:schemeClr val="dk1"/>
                </a:solidFill>
                <a:latin typeface="Saira"/>
                <a:ea typeface="Saira"/>
                <a:cs typeface="Saira"/>
                <a:sym typeface="Saira"/>
              </a:rPr>
              <a:t> - Archivos </a:t>
            </a:r>
            <a:r>
              <a:rPr lang="es-AR" sz="2800">
                <a:solidFill>
                  <a:schemeClr val="dk1"/>
                </a:solidFill>
                <a:latin typeface="Saira"/>
                <a:ea typeface="Saira"/>
                <a:cs typeface="Saira"/>
                <a:sym typeface="Saira"/>
              </a:rPr>
              <a:t>binarios</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pic>
        <p:nvPicPr>
          <p:cNvPr id="89" name="Google Shape;89;p1"/>
          <p:cNvPicPr preferRelativeResize="0"/>
          <p:nvPr/>
        </p:nvPicPr>
        <p:blipFill>
          <a:blip r:embed="rId5">
            <a:alphaModFix/>
          </a:blip>
          <a:stretch>
            <a:fillRect/>
          </a:stretch>
        </p:blipFill>
        <p:spPr>
          <a:xfrm>
            <a:off x="4308450" y="3141600"/>
            <a:ext cx="2580475" cy="26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f2ce82f4ef_0_5"/>
          <p:cNvSpPr txBox="1"/>
          <p:nvPr/>
        </p:nvSpPr>
        <p:spPr>
          <a:xfrm>
            <a:off x="466764" y="10005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Archivos Binarios</a:t>
            </a:r>
            <a:endParaRPr b="0" i="0" sz="3600" u="none" cap="none" strike="noStrike">
              <a:solidFill>
                <a:schemeClr val="dk1"/>
              </a:solidFill>
              <a:latin typeface="Saira"/>
              <a:ea typeface="Saira"/>
              <a:cs typeface="Saira"/>
              <a:sym typeface="Saira"/>
            </a:endParaRPr>
          </a:p>
        </p:txBody>
      </p:sp>
      <p:pic>
        <p:nvPicPr>
          <p:cNvPr id="95" name="Google Shape;95;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96" name="Google Shape;96;g1f2ce82f4ef_0_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97" name="Google Shape;97;g1f2ce82f4ef_0_5"/>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98" name="Google Shape;98;g1f2ce82f4ef_0_5"/>
          <p:cNvSpPr txBox="1"/>
          <p:nvPr/>
        </p:nvSpPr>
        <p:spPr>
          <a:xfrm>
            <a:off x="466775" y="1717988"/>
            <a:ext cx="9938400" cy="230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2300">
                <a:solidFill>
                  <a:schemeClr val="dk1"/>
                </a:solidFill>
                <a:latin typeface="Saira Light"/>
                <a:ea typeface="Saira Light"/>
                <a:cs typeface="Saira Light"/>
                <a:sym typeface="Saira Light"/>
              </a:rPr>
              <a:t>Los archivos binarios almacenan datos numéricos en un formato que las computadoras pueden entender directamente. Esto incluye imágenes, audio, programas y otros tipos de datos. Los archivos binarios están codificados en un lenguaje de máquina que solo las computadoras pueden interpretar. Esta característica los hace más eficientes para almacenar y procesar grandes cantidades de datos numéricos.</a:t>
            </a:r>
            <a:endParaRPr sz="2300">
              <a:solidFill>
                <a:schemeClr val="dk1"/>
              </a:solidFill>
              <a:latin typeface="Saira Light"/>
              <a:ea typeface="Saira Light"/>
              <a:cs typeface="Saira Light"/>
              <a:sym typeface="Saira Light"/>
            </a:endParaRPr>
          </a:p>
        </p:txBody>
      </p:sp>
      <p:pic>
        <p:nvPicPr>
          <p:cNvPr id="99" name="Google Shape;99;g1f2ce82f4ef_0_5"/>
          <p:cNvPicPr preferRelativeResize="0"/>
          <p:nvPr/>
        </p:nvPicPr>
        <p:blipFill>
          <a:blip r:embed="rId5">
            <a:alphaModFix/>
          </a:blip>
          <a:stretch>
            <a:fillRect/>
          </a:stretch>
        </p:blipFill>
        <p:spPr>
          <a:xfrm>
            <a:off x="4483838" y="4026788"/>
            <a:ext cx="1904287" cy="19042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f55550cd8a_0_63"/>
          <p:cNvSpPr txBox="1"/>
          <p:nvPr/>
        </p:nvSpPr>
        <p:spPr>
          <a:xfrm>
            <a:off x="319452" y="990225"/>
            <a:ext cx="9735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000" u="none" cap="none" strike="noStrike">
                <a:solidFill>
                  <a:schemeClr val="dk1"/>
                </a:solidFill>
                <a:latin typeface="Saira"/>
                <a:ea typeface="Saira"/>
                <a:cs typeface="Saira"/>
                <a:sym typeface="Saira"/>
              </a:rPr>
              <a:t>Modos de apertura en archivos </a:t>
            </a:r>
            <a:r>
              <a:rPr lang="es-AR" sz="3000">
                <a:solidFill>
                  <a:schemeClr val="dk1"/>
                </a:solidFill>
                <a:latin typeface="Saira"/>
                <a:ea typeface="Saira"/>
                <a:cs typeface="Saira"/>
                <a:sym typeface="Saira"/>
              </a:rPr>
              <a:t>binarios</a:t>
            </a:r>
            <a:endParaRPr b="0" i="0" sz="3000" u="none" cap="none" strike="noStrike">
              <a:solidFill>
                <a:schemeClr val="dk1"/>
              </a:solidFill>
              <a:latin typeface="Saira"/>
              <a:ea typeface="Saira"/>
              <a:cs typeface="Saira"/>
              <a:sym typeface="Saira"/>
            </a:endParaRPr>
          </a:p>
        </p:txBody>
      </p:sp>
      <p:pic>
        <p:nvPicPr>
          <p:cNvPr id="105" name="Google Shape;105;g1f55550cd8a_0_63"/>
          <p:cNvPicPr preferRelativeResize="0"/>
          <p:nvPr/>
        </p:nvPicPr>
        <p:blipFill rotWithShape="1">
          <a:blip r:embed="rId3">
            <a:alphaModFix/>
          </a:blip>
          <a:srcRect b="30668" l="23552" r="22734" t="29911"/>
          <a:stretch/>
        </p:blipFill>
        <p:spPr>
          <a:xfrm>
            <a:off x="8791460" y="390327"/>
            <a:ext cx="2959467" cy="1085934"/>
          </a:xfrm>
          <a:prstGeom prst="rect">
            <a:avLst/>
          </a:prstGeom>
          <a:noFill/>
          <a:ln>
            <a:noFill/>
          </a:ln>
        </p:spPr>
      </p:pic>
      <p:sp>
        <p:nvSpPr>
          <p:cNvPr id="106" name="Google Shape;106;g1f55550cd8a_0_63"/>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07" name="Google Shape;107;g1f55550cd8a_0_63"/>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08" name="Google Shape;108;g1f55550cd8a_0_63"/>
          <p:cNvSpPr txBox="1"/>
          <p:nvPr/>
        </p:nvSpPr>
        <p:spPr>
          <a:xfrm>
            <a:off x="453750" y="1775375"/>
            <a:ext cx="10477800" cy="483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rb</a:t>
            </a:r>
            <a:r>
              <a:rPr b="1" i="0" lang="es-AR" sz="1800" u="none" cap="none" strike="noStrike">
                <a:solidFill>
                  <a:srgbClr val="000000"/>
                </a:solidFill>
                <a:latin typeface="Saira"/>
                <a:ea typeface="Saira"/>
                <a:cs typeface="Saira"/>
                <a:sym typeface="Saira"/>
              </a:rPr>
              <a:t>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sólo lectura, el archivo debe existir</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wb</a:t>
            </a:r>
            <a:r>
              <a:rPr b="1" i="0" lang="es-AR" sz="1800" u="none" cap="none" strike="noStrike">
                <a:solidFill>
                  <a:srgbClr val="000000"/>
                </a:solidFill>
                <a:latin typeface="Saira"/>
                <a:ea typeface="Saira"/>
                <a:cs typeface="Saira"/>
                <a:sym typeface="Saira"/>
              </a:rPr>
              <a:t>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escritura, si el archivo existe se sobreescribe y pierde el contenido anterior. Si no existe lo crea.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ab</a:t>
            </a:r>
            <a:r>
              <a:rPr b="1" i="0" lang="es-AR" sz="1800" u="none" cap="none" strike="noStrike">
                <a:solidFill>
                  <a:srgbClr val="000000"/>
                </a:solidFill>
                <a:latin typeface="Saira"/>
                <a:ea typeface="Saira"/>
                <a:cs typeface="Saira"/>
                <a:sym typeface="Saira"/>
              </a:rPr>
              <a:t>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agregar, si el archivo existe agrega los datos al final del archivo, si no existe lo crea.</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rb+ ó r+b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lectura / escritura, el archivo debe existir.</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wb+ ó w+b</a:t>
            </a:r>
            <a:r>
              <a:rPr b="1" i="0" lang="es-AR" sz="1800" u="none" cap="none" strike="noStrike">
                <a:solidFill>
                  <a:srgbClr val="000000"/>
                </a:solidFill>
                <a:latin typeface="Saira"/>
                <a:ea typeface="Saira"/>
                <a:cs typeface="Saira"/>
                <a:sym typeface="Saira"/>
              </a:rPr>
              <a:t>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lectura / escritura, el archivo debe existir, si el archivo existe se </a:t>
            </a:r>
            <a:r>
              <a:rPr lang="es-AR" sz="1800">
                <a:solidFill>
                  <a:schemeClr val="dk1"/>
                </a:solidFill>
                <a:latin typeface="Saira"/>
                <a:ea typeface="Saira"/>
                <a:cs typeface="Saira"/>
                <a:sym typeface="Saira"/>
              </a:rPr>
              <a:t>sobrescribe</a:t>
            </a:r>
            <a:r>
              <a:rPr lang="es-AR" sz="1800">
                <a:solidFill>
                  <a:schemeClr val="dk1"/>
                </a:solidFill>
                <a:latin typeface="Saira"/>
                <a:ea typeface="Saira"/>
                <a:cs typeface="Saira"/>
                <a:sym typeface="Saira"/>
              </a:rPr>
              <a:t> y pierde el contenido anterior. Si no existe lo crea.</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rPr b="1" lang="es-AR" sz="1800">
                <a:latin typeface="Saira"/>
                <a:ea typeface="Saira"/>
                <a:cs typeface="Saira"/>
                <a:sym typeface="Saira"/>
              </a:rPr>
              <a:t>ab+ ó a+b </a:t>
            </a:r>
            <a:r>
              <a:rPr b="1" i="0" lang="es-AR" sz="1800" u="none" cap="none" strike="noStrike">
                <a:solidFill>
                  <a:srgbClr val="000000"/>
                </a:solidFill>
                <a:latin typeface="Saira"/>
                <a:ea typeface="Saira"/>
                <a:cs typeface="Saira"/>
                <a:sym typeface="Saira"/>
              </a:rPr>
              <a:t> </a:t>
            </a:r>
            <a:r>
              <a:rPr b="0" i="0" lang="es-AR" sz="1800" u="none" cap="none" strike="noStrike">
                <a:solidFill>
                  <a:srgbClr val="000000"/>
                </a:solidFill>
                <a:latin typeface="Saira"/>
                <a:ea typeface="Saira"/>
                <a:cs typeface="Saira"/>
                <a:sym typeface="Saira"/>
              </a:rPr>
              <a:t>: </a:t>
            </a:r>
            <a:r>
              <a:rPr lang="es-AR" sz="1800">
                <a:solidFill>
                  <a:schemeClr val="dk1"/>
                </a:solidFill>
                <a:latin typeface="Saira"/>
                <a:ea typeface="Saira"/>
                <a:cs typeface="Saira"/>
                <a:sym typeface="Saira"/>
              </a:rPr>
              <a:t>Apertura en modo lectura / agregar, si el archivo existe agrega los datos al final del archivo, si no existe lo crea.</a:t>
            </a:r>
            <a:endParaRPr b="0" i="0" sz="1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1f575dcc7c2_0_133"/>
          <p:cNvSpPr txBox="1"/>
          <p:nvPr/>
        </p:nvSpPr>
        <p:spPr>
          <a:xfrm>
            <a:off x="319452" y="990225"/>
            <a:ext cx="9735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000" u="none" cap="none" strike="noStrike">
                <a:solidFill>
                  <a:schemeClr val="dk1"/>
                </a:solidFill>
                <a:latin typeface="Saira"/>
                <a:ea typeface="Saira"/>
                <a:cs typeface="Saira"/>
                <a:sym typeface="Saira"/>
              </a:rPr>
              <a:t>Funciones de manejo de archivos</a:t>
            </a:r>
            <a:r>
              <a:rPr lang="es-AR" sz="3000">
                <a:solidFill>
                  <a:schemeClr val="dk1"/>
                </a:solidFill>
                <a:latin typeface="Saira"/>
                <a:ea typeface="Saira"/>
                <a:cs typeface="Saira"/>
                <a:sym typeface="Saira"/>
              </a:rPr>
              <a:t> binarios</a:t>
            </a:r>
            <a:endParaRPr b="0" i="0" sz="3000" u="none" cap="none" strike="noStrike">
              <a:solidFill>
                <a:schemeClr val="dk1"/>
              </a:solidFill>
              <a:latin typeface="Saira"/>
              <a:ea typeface="Saira"/>
              <a:cs typeface="Saira"/>
              <a:sym typeface="Saira"/>
            </a:endParaRPr>
          </a:p>
        </p:txBody>
      </p:sp>
      <p:pic>
        <p:nvPicPr>
          <p:cNvPr id="114" name="Google Shape;114;g1f575dcc7c2_0_133"/>
          <p:cNvPicPr preferRelativeResize="0"/>
          <p:nvPr/>
        </p:nvPicPr>
        <p:blipFill rotWithShape="1">
          <a:blip r:embed="rId3">
            <a:alphaModFix/>
          </a:blip>
          <a:srcRect b="30665" l="23552" r="22735" t="29912"/>
          <a:stretch/>
        </p:blipFill>
        <p:spPr>
          <a:xfrm>
            <a:off x="8791460" y="390327"/>
            <a:ext cx="2959467" cy="1085934"/>
          </a:xfrm>
          <a:prstGeom prst="rect">
            <a:avLst/>
          </a:prstGeom>
          <a:noFill/>
          <a:ln>
            <a:noFill/>
          </a:ln>
        </p:spPr>
      </p:pic>
      <p:sp>
        <p:nvSpPr>
          <p:cNvPr id="115" name="Google Shape;115;g1f575dcc7c2_0_133"/>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16" name="Google Shape;116;g1f575dcc7c2_0_133"/>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17" name="Google Shape;117;g1f575dcc7c2_0_133"/>
          <p:cNvSpPr txBox="1"/>
          <p:nvPr/>
        </p:nvSpPr>
        <p:spPr>
          <a:xfrm>
            <a:off x="690950" y="1812750"/>
            <a:ext cx="10013700" cy="45252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fopen() </a:t>
            </a:r>
            <a:r>
              <a:rPr b="0" i="0" lang="es-AR" sz="2400" u="none" cap="none" strike="noStrike">
                <a:solidFill>
                  <a:srgbClr val="000000"/>
                </a:solidFill>
                <a:latin typeface="Saira"/>
                <a:ea typeface="Saira"/>
                <a:cs typeface="Saira"/>
                <a:sym typeface="Saira"/>
              </a:rPr>
              <a:t>Abre un archivo.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fclose() </a:t>
            </a:r>
            <a:r>
              <a:rPr b="0" i="0" lang="es-AR" sz="2400" u="none" cap="none" strike="noStrike">
                <a:solidFill>
                  <a:srgbClr val="000000"/>
                </a:solidFill>
                <a:latin typeface="Saira"/>
                <a:ea typeface="Saira"/>
                <a:cs typeface="Saira"/>
                <a:sym typeface="Saira"/>
              </a:rPr>
              <a:t>Cierra un archivo.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fseek() </a:t>
            </a:r>
            <a:r>
              <a:rPr b="0" i="0" lang="es-AR" sz="2400" u="none" cap="none" strike="noStrike">
                <a:solidFill>
                  <a:srgbClr val="000000"/>
                </a:solidFill>
                <a:latin typeface="Saira"/>
                <a:ea typeface="Saira"/>
                <a:cs typeface="Saira"/>
                <a:sym typeface="Saira"/>
              </a:rPr>
              <a:t>Busca un byte específico de un archivo.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SzPts val="2400"/>
              <a:buFont typeface="Saira"/>
              <a:buChar char="❖"/>
            </a:pPr>
            <a:r>
              <a:rPr b="1" lang="es-AR" sz="2400">
                <a:latin typeface="Saira"/>
                <a:ea typeface="Saira"/>
                <a:cs typeface="Saira"/>
                <a:sym typeface="Saira"/>
              </a:rPr>
              <a:t>fwrite() </a:t>
            </a:r>
            <a:r>
              <a:rPr lang="es-AR" sz="2400">
                <a:latin typeface="Saira"/>
                <a:ea typeface="Saira"/>
                <a:cs typeface="Saira"/>
                <a:sym typeface="Saira"/>
              </a:rPr>
              <a:t>Escribe una salida con formato en el archivo.</a:t>
            </a:r>
            <a:endParaRPr sz="2400">
              <a:latin typeface="Saira"/>
              <a:ea typeface="Saira"/>
              <a:cs typeface="Saira"/>
              <a:sym typeface="Saira"/>
            </a:endParaRPr>
          </a:p>
          <a:p>
            <a:pPr indent="-381000" lvl="0" marL="457200" marR="0" rtl="0" algn="l">
              <a:lnSpc>
                <a:spcPct val="100000"/>
              </a:lnSpc>
              <a:spcBef>
                <a:spcPts val="0"/>
              </a:spcBef>
              <a:spcAft>
                <a:spcPts val="0"/>
              </a:spcAft>
              <a:buSzPts val="2400"/>
              <a:buFont typeface="Saira"/>
              <a:buChar char="❖"/>
            </a:pPr>
            <a:r>
              <a:rPr b="1" lang="es-AR" sz="2400">
                <a:latin typeface="Saira"/>
                <a:ea typeface="Saira"/>
                <a:cs typeface="Saira"/>
                <a:sym typeface="Saira"/>
              </a:rPr>
              <a:t>fread() </a:t>
            </a:r>
            <a:r>
              <a:rPr lang="es-AR" sz="2400">
                <a:latin typeface="Saira"/>
                <a:ea typeface="Saira"/>
                <a:cs typeface="Saira"/>
                <a:sym typeface="Saira"/>
              </a:rPr>
              <a:t>Lee una entrada con formato desde el archivo. </a:t>
            </a:r>
            <a:endParaRPr sz="2400">
              <a:latin typeface="Saira"/>
              <a:ea typeface="Saira"/>
              <a:cs typeface="Saira"/>
              <a:sym typeface="Saira"/>
            </a:endParaRPr>
          </a:p>
          <a:p>
            <a:pPr indent="-381000" lvl="0" marL="457200" marR="0" rtl="0" algn="l">
              <a:lnSpc>
                <a:spcPct val="100000"/>
              </a:lnSpc>
              <a:spcBef>
                <a:spcPts val="0"/>
              </a:spcBef>
              <a:spcAft>
                <a:spcPts val="0"/>
              </a:spcAft>
              <a:buSzPts val="2400"/>
              <a:buFont typeface="Saira"/>
              <a:buChar char="❖"/>
            </a:pPr>
            <a:r>
              <a:rPr b="1" lang="es-AR" sz="2400">
                <a:latin typeface="Saira"/>
                <a:ea typeface="Saira"/>
                <a:cs typeface="Saira"/>
                <a:sym typeface="Saira"/>
              </a:rPr>
              <a:t>ftell() </a:t>
            </a:r>
            <a:r>
              <a:rPr lang="es-AR" sz="2400">
                <a:latin typeface="Saira"/>
                <a:ea typeface="Saira"/>
                <a:cs typeface="Saira"/>
                <a:sym typeface="Saira"/>
              </a:rPr>
              <a:t>obtiene el valor actual del indicador de posición del archivo </a:t>
            </a:r>
            <a:endParaRPr sz="2400">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feof() </a:t>
            </a:r>
            <a:r>
              <a:rPr b="0" i="0" lang="es-AR" sz="2400" u="none" cap="none" strike="noStrike">
                <a:solidFill>
                  <a:srgbClr val="000000"/>
                </a:solidFill>
                <a:latin typeface="Saira"/>
                <a:ea typeface="Saira"/>
                <a:cs typeface="Saira"/>
                <a:sym typeface="Saira"/>
              </a:rPr>
              <a:t>Devuelve cierto si se llega al final del archivo.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ferror() </a:t>
            </a:r>
            <a:r>
              <a:rPr b="0" i="0" lang="es-AR" sz="2400" u="none" cap="none" strike="noStrike">
                <a:solidFill>
                  <a:srgbClr val="000000"/>
                </a:solidFill>
                <a:latin typeface="Saira"/>
                <a:ea typeface="Saira"/>
                <a:cs typeface="Saira"/>
                <a:sym typeface="Saira"/>
              </a:rPr>
              <a:t>Devuelve cierto si se produce un error.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remove() </a:t>
            </a:r>
            <a:r>
              <a:rPr b="0" i="0" lang="es-AR" sz="2400" u="none" cap="none" strike="noStrike">
                <a:solidFill>
                  <a:srgbClr val="000000"/>
                </a:solidFill>
                <a:latin typeface="Saira"/>
                <a:ea typeface="Saira"/>
                <a:cs typeface="Saira"/>
                <a:sym typeface="Saira"/>
              </a:rPr>
              <a:t>Borra un archivo. </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rename() </a:t>
            </a:r>
            <a:r>
              <a:rPr b="0" i="0" lang="es-AR" sz="2400" u="none" cap="none" strike="noStrike">
                <a:solidFill>
                  <a:srgbClr val="000000"/>
                </a:solidFill>
                <a:latin typeface="Saira"/>
                <a:ea typeface="Saira"/>
                <a:cs typeface="Saira"/>
                <a:sym typeface="Saira"/>
              </a:rPr>
              <a:t>renombra un archivo</a:t>
            </a:r>
            <a:endParaRPr b="0" i="0" sz="2400" u="none" cap="none" strike="noStrike">
              <a:solidFill>
                <a:srgbClr val="000000"/>
              </a:solidFill>
              <a:latin typeface="Saira"/>
              <a:ea typeface="Saira"/>
              <a:cs typeface="Saira"/>
              <a:sym typeface="Saira"/>
            </a:endParaRPr>
          </a:p>
          <a:p>
            <a:pPr indent="-381000" lvl="0" marL="457200" marR="0" rtl="0" algn="l">
              <a:lnSpc>
                <a:spcPct val="100000"/>
              </a:lnSpc>
              <a:spcBef>
                <a:spcPts val="0"/>
              </a:spcBef>
              <a:spcAft>
                <a:spcPts val="0"/>
              </a:spcAft>
              <a:buClr>
                <a:srgbClr val="000000"/>
              </a:buClr>
              <a:buSzPts val="2400"/>
              <a:buFont typeface="Saira"/>
              <a:buChar char="❖"/>
            </a:pPr>
            <a:r>
              <a:rPr b="1" i="0" lang="es-AR" sz="2400" u="none" cap="none" strike="noStrike">
                <a:solidFill>
                  <a:srgbClr val="000000"/>
                </a:solidFill>
                <a:latin typeface="Saira"/>
                <a:ea typeface="Saira"/>
                <a:cs typeface="Saira"/>
                <a:sym typeface="Saira"/>
              </a:rPr>
              <a:t>fflush() </a:t>
            </a:r>
            <a:r>
              <a:rPr b="0" i="0" lang="es-AR" sz="2400" u="none" cap="none" strike="noStrike">
                <a:solidFill>
                  <a:srgbClr val="000000"/>
                </a:solidFill>
                <a:latin typeface="Saira"/>
                <a:ea typeface="Saira"/>
                <a:cs typeface="Saira"/>
                <a:sym typeface="Saira"/>
              </a:rPr>
              <a:t>Vacía un archivo.</a:t>
            </a:r>
            <a:endParaRPr b="0" i="0" sz="2400" u="none" cap="none" strike="noStrike">
              <a:solidFill>
                <a:srgbClr val="000000"/>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1600"/>
              <a:buFont typeface="Arial"/>
              <a:buNone/>
            </a:pPr>
            <a:r>
              <a:t/>
            </a:r>
            <a:endParaRPr b="1" i="0" sz="1800" u="none" cap="none" strike="noStrike">
              <a:solidFill>
                <a:srgbClr val="000000"/>
              </a:solidFill>
              <a:latin typeface="Saira"/>
              <a:ea typeface="Saira"/>
              <a:cs typeface="Saira"/>
              <a:sym typeface="Sai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f55550cd8a_0_89"/>
          <p:cNvSpPr txBox="1"/>
          <p:nvPr/>
        </p:nvSpPr>
        <p:spPr>
          <a:xfrm>
            <a:off x="298689" y="9695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Modos de búsqueda </a:t>
            </a:r>
            <a:r>
              <a:rPr b="1" lang="es-AR" sz="3600">
                <a:solidFill>
                  <a:schemeClr val="dk1"/>
                </a:solidFill>
                <a:latin typeface="Saira"/>
                <a:ea typeface="Saira"/>
                <a:cs typeface="Saira"/>
                <a:sym typeface="Saira"/>
              </a:rPr>
              <a:t>fseek()</a:t>
            </a:r>
            <a:endParaRPr b="1" i="0" sz="3600" u="none" cap="none" strike="noStrike">
              <a:solidFill>
                <a:schemeClr val="dk1"/>
              </a:solidFill>
              <a:latin typeface="Saira"/>
              <a:ea typeface="Saira"/>
              <a:cs typeface="Saira"/>
              <a:sym typeface="Saira"/>
            </a:endParaRPr>
          </a:p>
        </p:txBody>
      </p:sp>
      <p:pic>
        <p:nvPicPr>
          <p:cNvPr id="123" name="Google Shape;123;g1f55550cd8a_0_89"/>
          <p:cNvPicPr preferRelativeResize="0"/>
          <p:nvPr/>
        </p:nvPicPr>
        <p:blipFill rotWithShape="1">
          <a:blip r:embed="rId3">
            <a:alphaModFix/>
          </a:blip>
          <a:srcRect b="30668" l="23552" r="22734" t="29911"/>
          <a:stretch/>
        </p:blipFill>
        <p:spPr>
          <a:xfrm>
            <a:off x="8770710" y="369702"/>
            <a:ext cx="2959467" cy="1085934"/>
          </a:xfrm>
          <a:prstGeom prst="rect">
            <a:avLst/>
          </a:prstGeom>
          <a:noFill/>
          <a:ln>
            <a:noFill/>
          </a:ln>
        </p:spPr>
      </p:pic>
      <p:sp>
        <p:nvSpPr>
          <p:cNvPr id="124" name="Google Shape;124;g1f55550cd8a_0_89"/>
          <p:cNvSpPr txBox="1"/>
          <p:nvPr/>
        </p:nvSpPr>
        <p:spPr>
          <a:xfrm>
            <a:off x="4418650" y="63176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25" name="Google Shape;125;g1f55550cd8a_0_89"/>
          <p:cNvPicPr preferRelativeResize="0"/>
          <p:nvPr/>
        </p:nvPicPr>
        <p:blipFill rotWithShape="1">
          <a:blip r:embed="rId4">
            <a:alphaModFix/>
          </a:blip>
          <a:srcRect b="0" l="27396" r="27817" t="0"/>
          <a:stretch/>
        </p:blipFill>
        <p:spPr>
          <a:xfrm>
            <a:off x="11015725" y="5596775"/>
            <a:ext cx="877574" cy="1085925"/>
          </a:xfrm>
          <a:prstGeom prst="rect">
            <a:avLst/>
          </a:prstGeom>
          <a:noFill/>
          <a:ln>
            <a:noFill/>
          </a:ln>
        </p:spPr>
      </p:pic>
      <p:sp>
        <p:nvSpPr>
          <p:cNvPr id="126" name="Google Shape;126;g1f55550cd8a_0_89"/>
          <p:cNvSpPr txBox="1"/>
          <p:nvPr/>
        </p:nvSpPr>
        <p:spPr>
          <a:xfrm>
            <a:off x="231650" y="2000700"/>
            <a:ext cx="10720500" cy="31677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500"/>
              </a:spcBef>
              <a:spcAft>
                <a:spcPts val="0"/>
              </a:spcAft>
              <a:buClr>
                <a:srgbClr val="0D0D0D"/>
              </a:buClr>
              <a:buSzPts val="1900"/>
              <a:buFont typeface="Roboto"/>
              <a:buChar char="●"/>
            </a:pPr>
            <a:r>
              <a:rPr lang="es-AR" sz="1900">
                <a:solidFill>
                  <a:srgbClr val="FF0000"/>
                </a:solidFill>
                <a:highlight>
                  <a:srgbClr val="FFFFFF"/>
                </a:highlight>
                <a:latin typeface="Saira"/>
                <a:ea typeface="Saira"/>
                <a:cs typeface="Saira"/>
                <a:sym typeface="Saira"/>
              </a:rPr>
              <a:t>SEEK_SET</a:t>
            </a:r>
            <a:r>
              <a:rPr lang="es-AR" sz="1900">
                <a:solidFill>
                  <a:srgbClr val="0D0D0D"/>
                </a:solidFill>
                <a:highlight>
                  <a:srgbClr val="FFFFFF"/>
                </a:highlight>
                <a:latin typeface="Saira"/>
                <a:ea typeface="Saira"/>
                <a:cs typeface="Saira"/>
                <a:sym typeface="Saira"/>
              </a:rPr>
              <a:t>: Este modo mueve el puntero de posición al principio del archivo. Cuando se utiliza fseek(file_pointer, offset, SEEK_SET), el puntero se desplazará offset bytes desde el inicio del archivo.</a:t>
            </a:r>
            <a:endParaRPr sz="1900">
              <a:solidFill>
                <a:srgbClr val="0D0D0D"/>
              </a:solidFill>
              <a:highlight>
                <a:srgbClr val="FFFFFF"/>
              </a:highlight>
              <a:latin typeface="Saira"/>
              <a:ea typeface="Saira"/>
              <a:cs typeface="Saira"/>
              <a:sym typeface="Saira"/>
            </a:endParaRPr>
          </a:p>
          <a:p>
            <a:pPr indent="-349250" lvl="0" marL="457200" rtl="0" algn="l">
              <a:lnSpc>
                <a:spcPct val="115000"/>
              </a:lnSpc>
              <a:spcBef>
                <a:spcPts val="0"/>
              </a:spcBef>
              <a:spcAft>
                <a:spcPts val="0"/>
              </a:spcAft>
              <a:buClr>
                <a:srgbClr val="0D0D0D"/>
              </a:buClr>
              <a:buSzPts val="1900"/>
              <a:buFont typeface="Roboto"/>
              <a:buChar char="●"/>
            </a:pPr>
            <a:r>
              <a:rPr lang="es-AR" sz="1900">
                <a:solidFill>
                  <a:srgbClr val="38761D"/>
                </a:solidFill>
                <a:highlight>
                  <a:srgbClr val="FFFFFF"/>
                </a:highlight>
                <a:latin typeface="Saira"/>
                <a:ea typeface="Saira"/>
                <a:cs typeface="Saira"/>
                <a:sym typeface="Saira"/>
              </a:rPr>
              <a:t>SEEK_CUR</a:t>
            </a:r>
            <a:r>
              <a:rPr lang="es-AR" sz="1900">
                <a:solidFill>
                  <a:srgbClr val="0D0D0D"/>
                </a:solidFill>
                <a:highlight>
                  <a:srgbClr val="FFFFFF"/>
                </a:highlight>
                <a:latin typeface="Saira"/>
                <a:ea typeface="Saira"/>
                <a:cs typeface="Saira"/>
                <a:sym typeface="Saira"/>
              </a:rPr>
              <a:t>: Este modo mueve el puntero de posición a una ubicación determinada relativa a su posición actual. Cuando se utiliza fseek(file_pointer, offset, SEEK_CUR), el puntero se desplazará offset bytes desde su posición actual.</a:t>
            </a:r>
            <a:endParaRPr sz="1900">
              <a:solidFill>
                <a:srgbClr val="0D0D0D"/>
              </a:solidFill>
              <a:highlight>
                <a:srgbClr val="FFFFFF"/>
              </a:highlight>
              <a:latin typeface="Saira"/>
              <a:ea typeface="Saira"/>
              <a:cs typeface="Saira"/>
              <a:sym typeface="Saira"/>
            </a:endParaRPr>
          </a:p>
          <a:p>
            <a:pPr indent="-349250" lvl="0" marL="457200" rtl="0" algn="l">
              <a:lnSpc>
                <a:spcPct val="115000"/>
              </a:lnSpc>
              <a:spcBef>
                <a:spcPts val="0"/>
              </a:spcBef>
              <a:spcAft>
                <a:spcPts val="0"/>
              </a:spcAft>
              <a:buClr>
                <a:srgbClr val="0D0D0D"/>
              </a:buClr>
              <a:buSzPts val="1900"/>
              <a:buFont typeface="Roboto"/>
              <a:buChar char="●"/>
            </a:pPr>
            <a:r>
              <a:rPr lang="es-AR" sz="1900">
                <a:solidFill>
                  <a:srgbClr val="0000FF"/>
                </a:solidFill>
                <a:highlight>
                  <a:srgbClr val="FFFFFF"/>
                </a:highlight>
                <a:latin typeface="Saira"/>
                <a:ea typeface="Saira"/>
                <a:cs typeface="Saira"/>
                <a:sym typeface="Saira"/>
              </a:rPr>
              <a:t>SEEK_END</a:t>
            </a:r>
            <a:r>
              <a:rPr lang="es-AR" sz="1900">
                <a:solidFill>
                  <a:srgbClr val="0D0D0D"/>
                </a:solidFill>
                <a:highlight>
                  <a:srgbClr val="FFFFFF"/>
                </a:highlight>
                <a:latin typeface="Saira"/>
                <a:ea typeface="Saira"/>
                <a:cs typeface="Saira"/>
                <a:sym typeface="Saira"/>
              </a:rPr>
              <a:t>: Este modo mueve el puntero de posición al final del archivo. Cuando se utiliza fseek(file_pointer, offset, SEEK_END), el puntero se desplazará offset bytes desde el final del archivo.</a:t>
            </a:r>
            <a:endParaRPr sz="1900">
              <a:solidFill>
                <a:srgbClr val="0D0D0D"/>
              </a:solidFill>
              <a:highlight>
                <a:srgbClr val="FFFFFF"/>
              </a:highlight>
              <a:latin typeface="Saira"/>
              <a:ea typeface="Saira"/>
              <a:cs typeface="Saira"/>
              <a:sym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1f594071a04_0_21"/>
          <p:cNvSpPr txBox="1"/>
          <p:nvPr/>
        </p:nvSpPr>
        <p:spPr>
          <a:xfrm>
            <a:off x="298689" y="9695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Fread() y Fwrite()</a:t>
            </a:r>
            <a:endParaRPr b="1" i="0" sz="3600" u="none" cap="none" strike="noStrike">
              <a:solidFill>
                <a:schemeClr val="dk1"/>
              </a:solidFill>
              <a:latin typeface="Saira"/>
              <a:ea typeface="Saira"/>
              <a:cs typeface="Saira"/>
              <a:sym typeface="Saira"/>
            </a:endParaRPr>
          </a:p>
        </p:txBody>
      </p:sp>
      <p:pic>
        <p:nvPicPr>
          <p:cNvPr id="132" name="Google Shape;132;g1f594071a04_0_21"/>
          <p:cNvPicPr preferRelativeResize="0"/>
          <p:nvPr/>
        </p:nvPicPr>
        <p:blipFill rotWithShape="1">
          <a:blip r:embed="rId3">
            <a:alphaModFix/>
          </a:blip>
          <a:srcRect b="30665" l="23553" r="22731" t="29912"/>
          <a:stretch/>
        </p:blipFill>
        <p:spPr>
          <a:xfrm>
            <a:off x="8770710" y="369702"/>
            <a:ext cx="2959467" cy="1085934"/>
          </a:xfrm>
          <a:prstGeom prst="rect">
            <a:avLst/>
          </a:prstGeom>
          <a:noFill/>
          <a:ln>
            <a:noFill/>
          </a:ln>
        </p:spPr>
      </p:pic>
      <p:sp>
        <p:nvSpPr>
          <p:cNvPr id="133" name="Google Shape;133;g1f594071a04_0_21"/>
          <p:cNvSpPr txBox="1"/>
          <p:nvPr/>
        </p:nvSpPr>
        <p:spPr>
          <a:xfrm>
            <a:off x="4418650" y="63176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34" name="Google Shape;134;g1f594071a04_0_21"/>
          <p:cNvPicPr preferRelativeResize="0"/>
          <p:nvPr/>
        </p:nvPicPr>
        <p:blipFill rotWithShape="1">
          <a:blip r:embed="rId4">
            <a:alphaModFix/>
          </a:blip>
          <a:srcRect b="0" l="27396" r="27817" t="0"/>
          <a:stretch/>
        </p:blipFill>
        <p:spPr>
          <a:xfrm>
            <a:off x="11015725" y="5596775"/>
            <a:ext cx="877574" cy="1085925"/>
          </a:xfrm>
          <a:prstGeom prst="rect">
            <a:avLst/>
          </a:prstGeom>
          <a:noFill/>
          <a:ln>
            <a:noFill/>
          </a:ln>
        </p:spPr>
      </p:pic>
      <p:sp>
        <p:nvSpPr>
          <p:cNvPr id="135" name="Google Shape;135;g1f594071a04_0_21"/>
          <p:cNvSpPr txBox="1"/>
          <p:nvPr/>
        </p:nvSpPr>
        <p:spPr>
          <a:xfrm>
            <a:off x="298700" y="1752500"/>
            <a:ext cx="10921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400">
                <a:latin typeface="Saira"/>
                <a:ea typeface="Saira"/>
                <a:cs typeface="Saira"/>
                <a:sym typeface="Saira"/>
              </a:rPr>
              <a:t>Tanto a fread() como fwrite() tenemos que pasarle, además de otros parámetros, el tamaño del tipo de datos en bytes, para ello utilizamos el operador sizeof.</a:t>
            </a:r>
            <a:endParaRPr sz="2400">
              <a:latin typeface="Saira"/>
              <a:ea typeface="Saira"/>
              <a:cs typeface="Saira"/>
              <a:sym typeface="Saira"/>
            </a:endParaRPr>
          </a:p>
        </p:txBody>
      </p:sp>
      <p:sp>
        <p:nvSpPr>
          <p:cNvPr id="136" name="Google Shape;136;g1f594071a04_0_21"/>
          <p:cNvSpPr txBox="1"/>
          <p:nvPr/>
        </p:nvSpPr>
        <p:spPr>
          <a:xfrm>
            <a:off x="1592900" y="3295338"/>
            <a:ext cx="83328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3000">
                <a:solidFill>
                  <a:srgbClr val="FF0000"/>
                </a:solidFill>
                <a:latin typeface="Saira"/>
                <a:ea typeface="Saira"/>
                <a:cs typeface="Saira"/>
                <a:sym typeface="Saira"/>
              </a:rPr>
              <a:t>FILE </a:t>
            </a:r>
            <a:r>
              <a:rPr lang="es-AR" sz="3000">
                <a:latin typeface="Saira"/>
                <a:ea typeface="Saira"/>
                <a:cs typeface="Saira"/>
                <a:sym typeface="Saira"/>
              </a:rPr>
              <a:t>*archivo;</a:t>
            </a:r>
            <a:endParaRPr sz="3000">
              <a:latin typeface="Saira"/>
              <a:ea typeface="Saira"/>
              <a:cs typeface="Saira"/>
              <a:sym typeface="Saira"/>
            </a:endParaRPr>
          </a:p>
          <a:p>
            <a:pPr indent="0" lvl="0" marL="0" rtl="0" algn="l">
              <a:spcBef>
                <a:spcPts val="0"/>
              </a:spcBef>
              <a:spcAft>
                <a:spcPts val="0"/>
              </a:spcAft>
              <a:buNone/>
            </a:pPr>
            <a:r>
              <a:t/>
            </a:r>
            <a:endParaRPr sz="3000">
              <a:latin typeface="Saira"/>
              <a:ea typeface="Saira"/>
              <a:cs typeface="Saira"/>
              <a:sym typeface="Saira"/>
            </a:endParaRPr>
          </a:p>
          <a:p>
            <a:pPr indent="0" lvl="0" marL="0" rtl="0" algn="l">
              <a:spcBef>
                <a:spcPts val="0"/>
              </a:spcBef>
              <a:spcAft>
                <a:spcPts val="0"/>
              </a:spcAft>
              <a:buNone/>
            </a:pPr>
            <a:r>
              <a:rPr lang="es-AR" sz="3000">
                <a:latin typeface="Saira"/>
                <a:ea typeface="Saira"/>
                <a:cs typeface="Saira"/>
                <a:sym typeface="Saira"/>
              </a:rPr>
              <a:t>fread(</a:t>
            </a:r>
            <a:r>
              <a:rPr lang="es-AR" sz="3000"/>
              <a:t>&amp;</a:t>
            </a:r>
            <a:r>
              <a:rPr lang="es-AR" sz="3000">
                <a:latin typeface="Saira"/>
                <a:ea typeface="Saira"/>
                <a:cs typeface="Saira"/>
                <a:sym typeface="Saira"/>
              </a:rPr>
              <a:t>numero_leido, </a:t>
            </a:r>
            <a:r>
              <a:rPr lang="es-AR" sz="3000">
                <a:solidFill>
                  <a:srgbClr val="0000FF"/>
                </a:solidFill>
                <a:latin typeface="Saira"/>
                <a:ea typeface="Saira"/>
                <a:cs typeface="Saira"/>
                <a:sym typeface="Saira"/>
              </a:rPr>
              <a:t>sizeof</a:t>
            </a:r>
            <a:r>
              <a:rPr lang="es-AR" sz="3000">
                <a:latin typeface="Saira"/>
                <a:ea typeface="Saira"/>
                <a:cs typeface="Saira"/>
                <a:sym typeface="Saira"/>
              </a:rPr>
              <a:t>(</a:t>
            </a:r>
            <a:r>
              <a:rPr lang="es-AR" sz="3000">
                <a:solidFill>
                  <a:srgbClr val="FF0000"/>
                </a:solidFill>
                <a:latin typeface="Saira"/>
                <a:ea typeface="Saira"/>
                <a:cs typeface="Saira"/>
                <a:sym typeface="Saira"/>
              </a:rPr>
              <a:t>int</a:t>
            </a:r>
            <a:r>
              <a:rPr lang="es-AR" sz="3000">
                <a:latin typeface="Saira"/>
                <a:ea typeface="Saira"/>
                <a:cs typeface="Saira"/>
                <a:sym typeface="Saira"/>
              </a:rPr>
              <a:t>), 1, archivo);</a:t>
            </a:r>
            <a:endParaRPr sz="3000">
              <a:latin typeface="Saira"/>
              <a:ea typeface="Saira"/>
              <a:cs typeface="Saira"/>
              <a:sym typeface="Saira"/>
            </a:endParaRPr>
          </a:p>
          <a:p>
            <a:pPr indent="0" lvl="0" marL="0" rtl="0" algn="l">
              <a:spcBef>
                <a:spcPts val="0"/>
              </a:spcBef>
              <a:spcAft>
                <a:spcPts val="0"/>
              </a:spcAft>
              <a:buNone/>
            </a:pPr>
            <a:r>
              <a:t/>
            </a:r>
            <a:endParaRPr sz="3000">
              <a:latin typeface="Saira"/>
              <a:ea typeface="Saira"/>
              <a:cs typeface="Saira"/>
              <a:sym typeface="Saira"/>
            </a:endParaRPr>
          </a:p>
          <a:p>
            <a:pPr indent="0" lvl="0" marL="0" rtl="0" algn="l">
              <a:spcBef>
                <a:spcPts val="0"/>
              </a:spcBef>
              <a:spcAft>
                <a:spcPts val="0"/>
              </a:spcAft>
              <a:buNone/>
            </a:pPr>
            <a:r>
              <a:rPr lang="es-AR" sz="3000">
                <a:solidFill>
                  <a:schemeClr val="dk1"/>
                </a:solidFill>
                <a:latin typeface="Saira"/>
                <a:ea typeface="Saira"/>
                <a:cs typeface="Saira"/>
                <a:sym typeface="Saira"/>
              </a:rPr>
              <a:t>fwrite(</a:t>
            </a:r>
            <a:r>
              <a:rPr lang="es-AR" sz="3000">
                <a:solidFill>
                  <a:schemeClr val="dk1"/>
                </a:solidFill>
              </a:rPr>
              <a:t>&amp;</a:t>
            </a:r>
            <a:r>
              <a:rPr lang="es-AR" sz="3000">
                <a:solidFill>
                  <a:schemeClr val="dk1"/>
                </a:solidFill>
                <a:latin typeface="Saira"/>
                <a:ea typeface="Saira"/>
                <a:cs typeface="Saira"/>
                <a:sym typeface="Saira"/>
              </a:rPr>
              <a:t>numero, </a:t>
            </a:r>
            <a:r>
              <a:rPr lang="es-AR" sz="3000">
                <a:solidFill>
                  <a:srgbClr val="0000FF"/>
                </a:solidFill>
                <a:latin typeface="Saira"/>
                <a:ea typeface="Saira"/>
                <a:cs typeface="Saira"/>
                <a:sym typeface="Saira"/>
              </a:rPr>
              <a:t>sizeof</a:t>
            </a:r>
            <a:r>
              <a:rPr lang="es-AR" sz="3000">
                <a:solidFill>
                  <a:schemeClr val="dk1"/>
                </a:solidFill>
                <a:latin typeface="Saira"/>
                <a:ea typeface="Saira"/>
                <a:cs typeface="Saira"/>
                <a:sym typeface="Saira"/>
              </a:rPr>
              <a:t>(</a:t>
            </a:r>
            <a:r>
              <a:rPr lang="es-AR" sz="3000">
                <a:solidFill>
                  <a:srgbClr val="FF0000"/>
                </a:solidFill>
                <a:latin typeface="Saira"/>
                <a:ea typeface="Saira"/>
                <a:cs typeface="Saira"/>
                <a:sym typeface="Saira"/>
              </a:rPr>
              <a:t>int</a:t>
            </a:r>
            <a:r>
              <a:rPr lang="es-AR" sz="3000">
                <a:solidFill>
                  <a:schemeClr val="dk1"/>
                </a:solidFill>
                <a:latin typeface="Saira"/>
                <a:ea typeface="Saira"/>
                <a:cs typeface="Saira"/>
                <a:sym typeface="Saira"/>
              </a:rPr>
              <a:t>), 1, archivo);</a:t>
            </a:r>
            <a:endParaRPr sz="3000">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ce81047cbb_0_0"/>
          <p:cNvSpPr txBox="1"/>
          <p:nvPr/>
        </p:nvSpPr>
        <p:spPr>
          <a:xfrm>
            <a:off x="298689" y="9695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Fread() y Fwrite() control de errores</a:t>
            </a:r>
            <a:endParaRPr b="1" i="0" sz="3600" u="none" cap="none" strike="noStrike">
              <a:solidFill>
                <a:schemeClr val="dk1"/>
              </a:solidFill>
              <a:latin typeface="Saira"/>
              <a:ea typeface="Saira"/>
              <a:cs typeface="Saira"/>
              <a:sym typeface="Saira"/>
            </a:endParaRPr>
          </a:p>
        </p:txBody>
      </p:sp>
      <p:pic>
        <p:nvPicPr>
          <p:cNvPr id="142" name="Google Shape;142;g2ce81047cbb_0_0"/>
          <p:cNvPicPr preferRelativeResize="0"/>
          <p:nvPr/>
        </p:nvPicPr>
        <p:blipFill rotWithShape="1">
          <a:blip r:embed="rId3">
            <a:alphaModFix/>
          </a:blip>
          <a:srcRect b="30665" l="23553" r="22731" t="29912"/>
          <a:stretch/>
        </p:blipFill>
        <p:spPr>
          <a:xfrm>
            <a:off x="8770710" y="369702"/>
            <a:ext cx="2959467" cy="1085934"/>
          </a:xfrm>
          <a:prstGeom prst="rect">
            <a:avLst/>
          </a:prstGeom>
          <a:noFill/>
          <a:ln>
            <a:noFill/>
          </a:ln>
        </p:spPr>
      </p:pic>
      <p:sp>
        <p:nvSpPr>
          <p:cNvPr id="143" name="Google Shape;143;g2ce81047cbb_0_0"/>
          <p:cNvSpPr txBox="1"/>
          <p:nvPr/>
        </p:nvSpPr>
        <p:spPr>
          <a:xfrm>
            <a:off x="4418650" y="63176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44" name="Google Shape;144;g2ce81047cbb_0_0"/>
          <p:cNvPicPr preferRelativeResize="0"/>
          <p:nvPr/>
        </p:nvPicPr>
        <p:blipFill rotWithShape="1">
          <a:blip r:embed="rId4">
            <a:alphaModFix/>
          </a:blip>
          <a:srcRect b="0" l="27396" r="27817" t="0"/>
          <a:stretch/>
        </p:blipFill>
        <p:spPr>
          <a:xfrm>
            <a:off x="11015725" y="5596775"/>
            <a:ext cx="877574" cy="1085925"/>
          </a:xfrm>
          <a:prstGeom prst="rect">
            <a:avLst/>
          </a:prstGeom>
          <a:noFill/>
          <a:ln>
            <a:noFill/>
          </a:ln>
        </p:spPr>
      </p:pic>
      <p:sp>
        <p:nvSpPr>
          <p:cNvPr id="145" name="Google Shape;145;g2ce81047cbb_0_0"/>
          <p:cNvSpPr txBox="1"/>
          <p:nvPr/>
        </p:nvSpPr>
        <p:spPr>
          <a:xfrm>
            <a:off x="298700" y="1752500"/>
            <a:ext cx="109212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100">
                <a:latin typeface="Saira"/>
                <a:ea typeface="Saira"/>
                <a:cs typeface="Saira"/>
                <a:sym typeface="Saira"/>
              </a:rPr>
              <a:t>Tanto a fread() como fwrite() debemos indicarles la cantidad de elementos que queremos leer y escribir respectivamente. </a:t>
            </a:r>
            <a:endParaRPr sz="2100">
              <a:latin typeface="Saira"/>
              <a:ea typeface="Saira"/>
              <a:cs typeface="Saira"/>
              <a:sym typeface="Saira"/>
            </a:endParaRPr>
          </a:p>
          <a:p>
            <a:pPr indent="0" lvl="0" marL="0" rtl="0" algn="l">
              <a:spcBef>
                <a:spcPts val="0"/>
              </a:spcBef>
              <a:spcAft>
                <a:spcPts val="0"/>
              </a:spcAft>
              <a:buNone/>
            </a:pPr>
            <a:r>
              <a:rPr lang="es-AR" sz="2100">
                <a:latin typeface="Saira"/>
                <a:ea typeface="Saira"/>
                <a:cs typeface="Saira"/>
                <a:sym typeface="Saira"/>
              </a:rPr>
              <a:t>Para asegurarnos una correcta lectura y escritura podemos utilizar el valor de retorno de estas funciones que nos devuelven ese mismo </a:t>
            </a:r>
            <a:r>
              <a:rPr lang="es-AR" sz="2100">
                <a:latin typeface="Saira"/>
                <a:ea typeface="Saira"/>
                <a:cs typeface="Saira"/>
                <a:sym typeface="Saira"/>
              </a:rPr>
              <a:t>número</a:t>
            </a:r>
            <a:r>
              <a:rPr lang="es-AR" sz="2100">
                <a:latin typeface="Saira"/>
                <a:ea typeface="Saira"/>
                <a:cs typeface="Saira"/>
                <a:sym typeface="Saira"/>
              </a:rPr>
              <a:t> en caso de realizar la operación correctamente. </a:t>
            </a:r>
            <a:endParaRPr sz="2100">
              <a:latin typeface="Saira"/>
              <a:ea typeface="Saira"/>
              <a:cs typeface="Saira"/>
              <a:sym typeface="Saira"/>
            </a:endParaRPr>
          </a:p>
          <a:p>
            <a:pPr indent="0" lvl="0" marL="0" rtl="0" algn="l">
              <a:spcBef>
                <a:spcPts val="0"/>
              </a:spcBef>
              <a:spcAft>
                <a:spcPts val="0"/>
              </a:spcAft>
              <a:buNone/>
            </a:pPr>
            <a:r>
              <a:rPr lang="es-AR" sz="2100">
                <a:latin typeface="Saira"/>
                <a:ea typeface="Saira"/>
                <a:cs typeface="Saira"/>
                <a:sym typeface="Saira"/>
              </a:rPr>
              <a:t>Si la operación no llegara a completarse correctamente el </a:t>
            </a:r>
            <a:r>
              <a:rPr lang="es-AR" sz="2100">
                <a:latin typeface="Saira"/>
                <a:ea typeface="Saira"/>
                <a:cs typeface="Saira"/>
                <a:sym typeface="Saira"/>
              </a:rPr>
              <a:t>número</a:t>
            </a:r>
            <a:r>
              <a:rPr lang="es-AR" sz="2100">
                <a:latin typeface="Saira"/>
                <a:ea typeface="Saira"/>
                <a:cs typeface="Saira"/>
                <a:sym typeface="Saira"/>
              </a:rPr>
              <a:t> devuelto será distinto.</a:t>
            </a:r>
            <a:endParaRPr sz="2100">
              <a:latin typeface="Saira"/>
              <a:ea typeface="Saira"/>
              <a:cs typeface="Saira"/>
              <a:sym typeface="Sai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ce81047cbb_0_9"/>
          <p:cNvSpPr txBox="1"/>
          <p:nvPr/>
        </p:nvSpPr>
        <p:spPr>
          <a:xfrm>
            <a:off x="298689" y="9695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Fread() control de errores</a:t>
            </a:r>
            <a:endParaRPr b="1" i="0" sz="3600" u="none" cap="none" strike="noStrike">
              <a:solidFill>
                <a:schemeClr val="dk1"/>
              </a:solidFill>
              <a:latin typeface="Saira"/>
              <a:ea typeface="Saira"/>
              <a:cs typeface="Saira"/>
              <a:sym typeface="Saira"/>
            </a:endParaRPr>
          </a:p>
        </p:txBody>
      </p:sp>
      <p:pic>
        <p:nvPicPr>
          <p:cNvPr id="151" name="Google Shape;151;g2ce81047cbb_0_9"/>
          <p:cNvPicPr preferRelativeResize="0"/>
          <p:nvPr/>
        </p:nvPicPr>
        <p:blipFill rotWithShape="1">
          <a:blip r:embed="rId3">
            <a:alphaModFix/>
          </a:blip>
          <a:srcRect b="30665" l="23553" r="22731" t="29912"/>
          <a:stretch/>
        </p:blipFill>
        <p:spPr>
          <a:xfrm>
            <a:off x="8770710" y="369702"/>
            <a:ext cx="2959467" cy="1085934"/>
          </a:xfrm>
          <a:prstGeom prst="rect">
            <a:avLst/>
          </a:prstGeom>
          <a:noFill/>
          <a:ln>
            <a:noFill/>
          </a:ln>
        </p:spPr>
      </p:pic>
      <p:sp>
        <p:nvSpPr>
          <p:cNvPr id="152" name="Google Shape;152;g2ce81047cbb_0_9"/>
          <p:cNvSpPr txBox="1"/>
          <p:nvPr/>
        </p:nvSpPr>
        <p:spPr>
          <a:xfrm>
            <a:off x="4418650" y="63176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53" name="Google Shape;153;g2ce81047cbb_0_9"/>
          <p:cNvPicPr preferRelativeResize="0"/>
          <p:nvPr/>
        </p:nvPicPr>
        <p:blipFill rotWithShape="1">
          <a:blip r:embed="rId4">
            <a:alphaModFix/>
          </a:blip>
          <a:srcRect b="0" l="27396" r="27817" t="0"/>
          <a:stretch/>
        </p:blipFill>
        <p:spPr>
          <a:xfrm>
            <a:off x="11015725" y="5596775"/>
            <a:ext cx="877574" cy="1085925"/>
          </a:xfrm>
          <a:prstGeom prst="rect">
            <a:avLst/>
          </a:prstGeom>
          <a:noFill/>
          <a:ln>
            <a:noFill/>
          </a:ln>
        </p:spPr>
      </p:pic>
      <p:sp>
        <p:nvSpPr>
          <p:cNvPr id="154" name="Google Shape;154;g2ce81047cbb_0_9"/>
          <p:cNvSpPr txBox="1"/>
          <p:nvPr/>
        </p:nvSpPr>
        <p:spPr>
          <a:xfrm>
            <a:off x="453425" y="2041800"/>
            <a:ext cx="108081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100">
                <a:solidFill>
                  <a:srgbClr val="FF0000"/>
                </a:solidFill>
                <a:latin typeface="Saira"/>
                <a:ea typeface="Saira"/>
                <a:cs typeface="Saira"/>
                <a:sym typeface="Saira"/>
              </a:rPr>
              <a:t>int </a:t>
            </a:r>
            <a:r>
              <a:rPr lang="es-AR" sz="2100">
                <a:solidFill>
                  <a:schemeClr val="dk1"/>
                </a:solidFill>
                <a:latin typeface="Saira"/>
                <a:ea typeface="Saira"/>
                <a:cs typeface="Saira"/>
                <a:sym typeface="Saira"/>
              </a:rPr>
              <a:t>elementos_leidos = </a:t>
            </a:r>
            <a:r>
              <a:rPr lang="es-AR" sz="2100">
                <a:solidFill>
                  <a:srgbClr val="3D85C6"/>
                </a:solidFill>
                <a:latin typeface="Saira"/>
                <a:ea typeface="Saira"/>
                <a:cs typeface="Saira"/>
                <a:sym typeface="Saira"/>
              </a:rPr>
              <a:t>fread</a:t>
            </a:r>
            <a:r>
              <a:rPr lang="es-AR" sz="2100">
                <a:solidFill>
                  <a:schemeClr val="dk1"/>
                </a:solidFill>
                <a:latin typeface="Saira"/>
                <a:ea typeface="Saira"/>
                <a:cs typeface="Saira"/>
                <a:sym typeface="Saira"/>
              </a:rPr>
              <a:t>(datos_leidos, sizeof(</a:t>
            </a:r>
            <a:r>
              <a:rPr lang="es-AR" sz="2100">
                <a:solidFill>
                  <a:srgbClr val="FF0000"/>
                </a:solidFill>
                <a:latin typeface="Saira"/>
                <a:ea typeface="Saira"/>
                <a:cs typeface="Saira"/>
                <a:sym typeface="Saira"/>
              </a:rPr>
              <a:t>int</a:t>
            </a:r>
            <a:r>
              <a:rPr lang="es-AR" sz="2100">
                <a:solidFill>
                  <a:schemeClr val="dk1"/>
                </a:solidFill>
                <a:latin typeface="Saira"/>
                <a:ea typeface="Saira"/>
                <a:cs typeface="Saira"/>
                <a:sym typeface="Saira"/>
              </a:rPr>
              <a:t>), </a:t>
            </a:r>
            <a:r>
              <a:rPr lang="es-AR" sz="2100">
                <a:solidFill>
                  <a:srgbClr val="0000FF"/>
                </a:solidFill>
                <a:latin typeface="Saira"/>
                <a:ea typeface="Saira"/>
                <a:cs typeface="Saira"/>
                <a:sym typeface="Saira"/>
              </a:rPr>
              <a:t>NUM_ELEMENTOS</a:t>
            </a:r>
            <a:r>
              <a:rPr lang="es-AR" sz="2100">
                <a:solidFill>
                  <a:schemeClr val="dk1"/>
                </a:solidFill>
                <a:latin typeface="Saira"/>
                <a:ea typeface="Saira"/>
                <a:cs typeface="Saira"/>
                <a:sym typeface="Saira"/>
              </a:rPr>
              <a:t>, archivo);</a:t>
            </a:r>
            <a:endParaRPr sz="2100">
              <a:solidFill>
                <a:schemeClr val="dk1"/>
              </a:solidFill>
              <a:latin typeface="Saira"/>
              <a:ea typeface="Saira"/>
              <a:cs typeface="Saira"/>
              <a:sym typeface="Saira"/>
            </a:endParaRPr>
          </a:p>
          <a:p>
            <a:pPr indent="0" lvl="0" marL="0" rtl="0" algn="l">
              <a:spcBef>
                <a:spcPts val="0"/>
              </a:spcBef>
              <a:spcAft>
                <a:spcPts val="0"/>
              </a:spcAft>
              <a:buNone/>
            </a:pPr>
            <a:r>
              <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if (elementos_leidos != </a:t>
            </a:r>
            <a:r>
              <a:rPr lang="es-AR" sz="2100">
                <a:solidFill>
                  <a:srgbClr val="0000FF"/>
                </a:solidFill>
                <a:latin typeface="Saira"/>
                <a:ea typeface="Saira"/>
                <a:cs typeface="Saira"/>
                <a:sym typeface="Saira"/>
              </a:rPr>
              <a:t>NUM_ELEMENTOS</a:t>
            </a:r>
            <a:r>
              <a:rPr lang="es-AR" sz="2100">
                <a:solidFill>
                  <a:schemeClr val="dk1"/>
                </a:solidFill>
                <a:latin typeface="Saira"/>
                <a:ea typeface="Saira"/>
                <a:cs typeface="Saira"/>
                <a:sym typeface="Saira"/>
              </a:rPr>
              <a:t>) {</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printf("Error: No se leyeron todos los elementos desde el archivo.\n");</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fclose(archivo);</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a:t>
            </a:r>
            <a:r>
              <a:rPr lang="es-AR" sz="2100">
                <a:solidFill>
                  <a:srgbClr val="FF0000"/>
                </a:solidFill>
                <a:latin typeface="Saira"/>
                <a:ea typeface="Saira"/>
                <a:cs typeface="Saira"/>
                <a:sym typeface="Saira"/>
              </a:rPr>
              <a:t>exit</a:t>
            </a:r>
            <a:r>
              <a:rPr lang="es-AR" sz="2100">
                <a:solidFill>
                  <a:schemeClr val="dk1"/>
                </a:solidFill>
                <a:latin typeface="Saira"/>
                <a:ea typeface="Saira"/>
                <a:cs typeface="Saira"/>
                <a:sym typeface="Saira"/>
              </a:rPr>
              <a:t>(1);</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a:t>
            </a:r>
            <a:endParaRPr sz="2100">
              <a:solidFill>
                <a:schemeClr val="dk1"/>
              </a:solidFill>
              <a:latin typeface="Saira"/>
              <a:ea typeface="Saira"/>
              <a:cs typeface="Saira"/>
              <a:sym typeface="Sai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ce81047cbb_0_18"/>
          <p:cNvSpPr txBox="1"/>
          <p:nvPr/>
        </p:nvSpPr>
        <p:spPr>
          <a:xfrm>
            <a:off x="298689" y="9695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Fwrite() control de errores</a:t>
            </a:r>
            <a:endParaRPr b="1" i="0" sz="3600" u="none" cap="none" strike="noStrike">
              <a:solidFill>
                <a:schemeClr val="dk1"/>
              </a:solidFill>
              <a:latin typeface="Saira"/>
              <a:ea typeface="Saira"/>
              <a:cs typeface="Saira"/>
              <a:sym typeface="Saira"/>
            </a:endParaRPr>
          </a:p>
        </p:txBody>
      </p:sp>
      <p:pic>
        <p:nvPicPr>
          <p:cNvPr id="160" name="Google Shape;160;g2ce81047cbb_0_18"/>
          <p:cNvPicPr preferRelativeResize="0"/>
          <p:nvPr/>
        </p:nvPicPr>
        <p:blipFill rotWithShape="1">
          <a:blip r:embed="rId3">
            <a:alphaModFix/>
          </a:blip>
          <a:srcRect b="30665" l="23553" r="22731" t="29912"/>
          <a:stretch/>
        </p:blipFill>
        <p:spPr>
          <a:xfrm>
            <a:off x="8770710" y="369702"/>
            <a:ext cx="2959467" cy="1085934"/>
          </a:xfrm>
          <a:prstGeom prst="rect">
            <a:avLst/>
          </a:prstGeom>
          <a:noFill/>
          <a:ln>
            <a:noFill/>
          </a:ln>
        </p:spPr>
      </p:pic>
      <p:sp>
        <p:nvSpPr>
          <p:cNvPr id="161" name="Google Shape;161;g2ce81047cbb_0_18"/>
          <p:cNvSpPr txBox="1"/>
          <p:nvPr/>
        </p:nvSpPr>
        <p:spPr>
          <a:xfrm>
            <a:off x="4418650" y="63176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62" name="Google Shape;162;g2ce81047cbb_0_18"/>
          <p:cNvPicPr preferRelativeResize="0"/>
          <p:nvPr/>
        </p:nvPicPr>
        <p:blipFill rotWithShape="1">
          <a:blip r:embed="rId4">
            <a:alphaModFix/>
          </a:blip>
          <a:srcRect b="0" l="27396" r="27817" t="0"/>
          <a:stretch/>
        </p:blipFill>
        <p:spPr>
          <a:xfrm>
            <a:off x="11015725" y="5596775"/>
            <a:ext cx="877574" cy="1085925"/>
          </a:xfrm>
          <a:prstGeom prst="rect">
            <a:avLst/>
          </a:prstGeom>
          <a:noFill/>
          <a:ln>
            <a:noFill/>
          </a:ln>
        </p:spPr>
      </p:pic>
      <p:sp>
        <p:nvSpPr>
          <p:cNvPr id="163" name="Google Shape;163;g2ce81047cbb_0_18"/>
          <p:cNvSpPr txBox="1"/>
          <p:nvPr/>
        </p:nvSpPr>
        <p:spPr>
          <a:xfrm>
            <a:off x="453425" y="2041800"/>
            <a:ext cx="100344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100">
                <a:solidFill>
                  <a:srgbClr val="FF0000"/>
                </a:solidFill>
                <a:latin typeface="Saira"/>
                <a:ea typeface="Saira"/>
                <a:cs typeface="Saira"/>
                <a:sym typeface="Saira"/>
              </a:rPr>
              <a:t>int </a:t>
            </a:r>
            <a:r>
              <a:rPr lang="es-AR" sz="2100">
                <a:solidFill>
                  <a:schemeClr val="dk1"/>
                </a:solidFill>
                <a:latin typeface="Saira"/>
                <a:ea typeface="Saira"/>
                <a:cs typeface="Saira"/>
                <a:sym typeface="Saira"/>
              </a:rPr>
              <a:t>elementos_escritos = </a:t>
            </a:r>
            <a:r>
              <a:rPr lang="es-AR" sz="2100">
                <a:solidFill>
                  <a:srgbClr val="38761D"/>
                </a:solidFill>
                <a:latin typeface="Saira"/>
                <a:ea typeface="Saira"/>
                <a:cs typeface="Saira"/>
                <a:sym typeface="Saira"/>
              </a:rPr>
              <a:t>fwrite</a:t>
            </a:r>
            <a:r>
              <a:rPr lang="es-AR" sz="2100">
                <a:solidFill>
                  <a:schemeClr val="dk1"/>
                </a:solidFill>
                <a:latin typeface="Saira"/>
                <a:ea typeface="Saira"/>
                <a:cs typeface="Saira"/>
                <a:sym typeface="Saira"/>
              </a:rPr>
              <a:t>(datos, sizeof(</a:t>
            </a:r>
            <a:r>
              <a:rPr lang="es-AR" sz="2100">
                <a:solidFill>
                  <a:srgbClr val="FF0000"/>
                </a:solidFill>
                <a:latin typeface="Saira"/>
                <a:ea typeface="Saira"/>
                <a:cs typeface="Saira"/>
                <a:sym typeface="Saira"/>
              </a:rPr>
              <a:t>int</a:t>
            </a:r>
            <a:r>
              <a:rPr lang="es-AR" sz="2100">
                <a:solidFill>
                  <a:schemeClr val="dk1"/>
                </a:solidFill>
                <a:latin typeface="Saira"/>
                <a:ea typeface="Saira"/>
                <a:cs typeface="Saira"/>
                <a:sym typeface="Saira"/>
              </a:rPr>
              <a:t>), </a:t>
            </a:r>
            <a:r>
              <a:rPr lang="es-AR" sz="2100">
                <a:solidFill>
                  <a:srgbClr val="0000FF"/>
                </a:solidFill>
                <a:latin typeface="Saira"/>
                <a:ea typeface="Saira"/>
                <a:cs typeface="Saira"/>
                <a:sym typeface="Saira"/>
              </a:rPr>
              <a:t>NUM_ELEMENTOS</a:t>
            </a:r>
            <a:r>
              <a:rPr lang="es-AR" sz="2100">
                <a:solidFill>
                  <a:schemeClr val="dk1"/>
                </a:solidFill>
                <a:latin typeface="Saira"/>
                <a:ea typeface="Saira"/>
                <a:cs typeface="Saira"/>
                <a:sym typeface="Saira"/>
              </a:rPr>
              <a:t>, archivo);</a:t>
            </a:r>
            <a:endParaRPr sz="2100">
              <a:solidFill>
                <a:schemeClr val="dk1"/>
              </a:solidFill>
              <a:latin typeface="Saira"/>
              <a:ea typeface="Saira"/>
              <a:cs typeface="Saira"/>
              <a:sym typeface="Saira"/>
            </a:endParaRPr>
          </a:p>
          <a:p>
            <a:pPr indent="0" lvl="0" marL="0" rtl="0" algn="l">
              <a:spcBef>
                <a:spcPts val="0"/>
              </a:spcBef>
              <a:spcAft>
                <a:spcPts val="0"/>
              </a:spcAft>
              <a:buNone/>
            </a:pPr>
            <a:r>
              <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if (elementos_escritos != </a:t>
            </a:r>
            <a:r>
              <a:rPr lang="es-AR" sz="2100">
                <a:solidFill>
                  <a:srgbClr val="0000FF"/>
                </a:solidFill>
                <a:latin typeface="Saira"/>
                <a:ea typeface="Saira"/>
                <a:cs typeface="Saira"/>
                <a:sym typeface="Saira"/>
              </a:rPr>
              <a:t>NUM_ELEMENTOS</a:t>
            </a:r>
            <a:r>
              <a:rPr lang="es-AR" sz="2100">
                <a:solidFill>
                  <a:schemeClr val="dk1"/>
                </a:solidFill>
                <a:latin typeface="Saira"/>
                <a:ea typeface="Saira"/>
                <a:cs typeface="Saira"/>
                <a:sym typeface="Saira"/>
              </a:rPr>
              <a:t>) {</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printf("Error: No se escribieron todos los elementos en el archivo.\n");</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fclose(archivo);</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        </a:t>
            </a:r>
            <a:r>
              <a:rPr lang="es-AR" sz="2100">
                <a:solidFill>
                  <a:srgbClr val="FF0000"/>
                </a:solidFill>
                <a:latin typeface="Saira"/>
                <a:ea typeface="Saira"/>
                <a:cs typeface="Saira"/>
                <a:sym typeface="Saira"/>
              </a:rPr>
              <a:t>exit</a:t>
            </a:r>
            <a:r>
              <a:rPr lang="es-AR" sz="2100">
                <a:solidFill>
                  <a:schemeClr val="dk1"/>
                </a:solidFill>
                <a:latin typeface="Saira"/>
                <a:ea typeface="Saira"/>
                <a:cs typeface="Saira"/>
                <a:sym typeface="Saira"/>
              </a:rPr>
              <a:t>(1);</a:t>
            </a:r>
            <a:endParaRPr sz="2100">
              <a:solidFill>
                <a:schemeClr val="dk1"/>
              </a:solidFill>
              <a:latin typeface="Saira"/>
              <a:ea typeface="Saira"/>
              <a:cs typeface="Saira"/>
              <a:sym typeface="Saira"/>
            </a:endParaRPr>
          </a:p>
          <a:p>
            <a:pPr indent="0" lvl="0" marL="0" rtl="0" algn="l">
              <a:spcBef>
                <a:spcPts val="0"/>
              </a:spcBef>
              <a:spcAft>
                <a:spcPts val="0"/>
              </a:spcAft>
              <a:buNone/>
            </a:pPr>
            <a:r>
              <a:rPr lang="es-AR" sz="2100">
                <a:solidFill>
                  <a:schemeClr val="dk1"/>
                </a:solidFill>
                <a:latin typeface="Saira"/>
                <a:ea typeface="Saira"/>
                <a:cs typeface="Saira"/>
                <a:sym typeface="Saira"/>
              </a:rPr>
              <a:t>}</a:t>
            </a:r>
            <a:endParaRPr sz="2100">
              <a:solidFill>
                <a:schemeClr val="dk1"/>
              </a:solidFill>
              <a:latin typeface="Saira"/>
              <a:ea typeface="Saira"/>
              <a:cs typeface="Saira"/>
              <a:sym typeface="Sai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1f55550cd8a_0_99"/>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600" u="none" cap="none" strike="noStrike">
                <a:solidFill>
                  <a:schemeClr val="dk1"/>
                </a:solidFill>
                <a:latin typeface="Saira"/>
                <a:ea typeface="Saira"/>
                <a:cs typeface="Saira"/>
                <a:sym typeface="Saira"/>
              </a:rPr>
              <a:t>Archivos </a:t>
            </a:r>
            <a:r>
              <a:rPr lang="es-AR" sz="3600">
                <a:solidFill>
                  <a:schemeClr val="dk1"/>
                </a:solidFill>
                <a:latin typeface="Saira"/>
                <a:ea typeface="Saira"/>
                <a:cs typeface="Saira"/>
                <a:sym typeface="Saira"/>
              </a:rPr>
              <a:t>binarios</a:t>
            </a:r>
            <a:endParaRPr b="0" i="0" sz="3600" u="none" cap="none" strike="noStrike">
              <a:solidFill>
                <a:schemeClr val="dk1"/>
              </a:solidFill>
              <a:latin typeface="Saira"/>
              <a:ea typeface="Saira"/>
              <a:cs typeface="Saira"/>
              <a:sym typeface="Saira"/>
            </a:endParaRPr>
          </a:p>
        </p:txBody>
      </p:sp>
      <p:pic>
        <p:nvPicPr>
          <p:cNvPr id="169" name="Google Shape;169;g1f55550cd8a_0_99"/>
          <p:cNvPicPr preferRelativeResize="0"/>
          <p:nvPr/>
        </p:nvPicPr>
        <p:blipFill rotWithShape="1">
          <a:blip r:embed="rId3">
            <a:alphaModFix/>
          </a:blip>
          <a:srcRect b="30668" l="23552" r="22734" t="29911"/>
          <a:stretch/>
        </p:blipFill>
        <p:spPr>
          <a:xfrm>
            <a:off x="8791460" y="390327"/>
            <a:ext cx="2959467" cy="1085934"/>
          </a:xfrm>
          <a:prstGeom prst="rect">
            <a:avLst/>
          </a:prstGeom>
          <a:noFill/>
          <a:ln>
            <a:noFill/>
          </a:ln>
        </p:spPr>
      </p:pic>
      <p:sp>
        <p:nvSpPr>
          <p:cNvPr id="170" name="Google Shape;170;g1f55550cd8a_0_9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71" name="Google Shape;171;g1f55550cd8a_0_99"/>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72" name="Google Shape;172;g1f55550cd8a_0_99"/>
          <p:cNvSpPr txBox="1"/>
          <p:nvPr/>
        </p:nvSpPr>
        <p:spPr>
          <a:xfrm>
            <a:off x="2959500" y="3090450"/>
            <a:ext cx="7002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500"/>
              </a:spcAft>
              <a:buClr>
                <a:srgbClr val="000000"/>
              </a:buClr>
              <a:buSzPts val="2400"/>
              <a:buFont typeface="Arial"/>
              <a:buNone/>
            </a:pPr>
            <a:r>
              <a:rPr b="0" i="0" lang="es-AR" sz="3200" u="none" cap="none" strike="noStrike">
                <a:solidFill>
                  <a:srgbClr val="0000FF"/>
                </a:solidFill>
                <a:highlight>
                  <a:srgbClr val="FFFFFF"/>
                </a:highlight>
                <a:latin typeface="Saira SemiBold"/>
                <a:ea typeface="Saira SemiBold"/>
                <a:cs typeface="Saira SemiBold"/>
                <a:sym typeface="Saira SemiBold"/>
              </a:rPr>
              <a:t>Ver ejemplos 1,2,3,4,5,6,7,8</a:t>
            </a:r>
            <a:r>
              <a:rPr lang="es-AR" sz="3200">
                <a:solidFill>
                  <a:srgbClr val="0000FF"/>
                </a:solidFill>
                <a:highlight>
                  <a:srgbClr val="FFFFFF"/>
                </a:highlight>
                <a:latin typeface="Saira SemiBold"/>
                <a:ea typeface="Saira SemiBold"/>
                <a:cs typeface="Saira SemiBold"/>
                <a:sym typeface="Saira SemiBold"/>
              </a:rPr>
              <a:t>,</a:t>
            </a:r>
            <a:r>
              <a:rPr b="0" i="0" lang="es-AR" sz="3200" u="none" cap="none" strike="noStrike">
                <a:solidFill>
                  <a:srgbClr val="0000FF"/>
                </a:solidFill>
                <a:highlight>
                  <a:srgbClr val="FFFFFF"/>
                </a:highlight>
                <a:latin typeface="Saira SemiBold"/>
                <a:ea typeface="Saira SemiBold"/>
                <a:cs typeface="Saira SemiBold"/>
                <a:sym typeface="Saira SemiBold"/>
              </a:rPr>
              <a:t> 9 y 10</a:t>
            </a:r>
            <a:endParaRPr b="0" i="0" sz="3200" u="none" cap="none" strike="noStrike">
              <a:solidFill>
                <a:srgbClr val="000000"/>
              </a:solidFill>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c1d2f75a92_0_314"/>
          <p:cNvSpPr txBox="1"/>
          <p:nvPr/>
        </p:nvSpPr>
        <p:spPr>
          <a:xfrm>
            <a:off x="319439" y="941496"/>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600" u="none" cap="none" strike="noStrike">
                <a:solidFill>
                  <a:schemeClr val="dk1"/>
                </a:solidFill>
                <a:latin typeface="Saira"/>
                <a:ea typeface="Saira"/>
                <a:cs typeface="Saira"/>
                <a:sym typeface="Saira"/>
              </a:rPr>
              <a:t>Archivos </a:t>
            </a:r>
            <a:r>
              <a:rPr lang="es-AR" sz="3600">
                <a:solidFill>
                  <a:schemeClr val="dk1"/>
                </a:solidFill>
                <a:latin typeface="Saira"/>
                <a:ea typeface="Saira"/>
                <a:cs typeface="Saira"/>
                <a:sym typeface="Saira"/>
              </a:rPr>
              <a:t>binarios</a:t>
            </a:r>
            <a:endParaRPr b="0" i="0" sz="4200" u="none" cap="none" strike="noStrike">
              <a:solidFill>
                <a:schemeClr val="dk1"/>
              </a:solidFill>
              <a:latin typeface="Saira"/>
              <a:ea typeface="Saira"/>
              <a:cs typeface="Saira"/>
              <a:sym typeface="Saira"/>
            </a:endParaRPr>
          </a:p>
        </p:txBody>
      </p:sp>
      <p:pic>
        <p:nvPicPr>
          <p:cNvPr id="178" name="Google Shape;178;g2c1d2f75a92_0_314"/>
          <p:cNvPicPr preferRelativeResize="0"/>
          <p:nvPr/>
        </p:nvPicPr>
        <p:blipFill rotWithShape="1">
          <a:blip r:embed="rId3">
            <a:alphaModFix/>
          </a:blip>
          <a:srcRect b="30665" l="23552" r="22734" t="29912"/>
          <a:stretch/>
        </p:blipFill>
        <p:spPr>
          <a:xfrm>
            <a:off x="8791460" y="390327"/>
            <a:ext cx="2959467" cy="1085934"/>
          </a:xfrm>
          <a:prstGeom prst="rect">
            <a:avLst/>
          </a:prstGeom>
          <a:noFill/>
          <a:ln>
            <a:noFill/>
          </a:ln>
        </p:spPr>
      </p:pic>
      <p:sp>
        <p:nvSpPr>
          <p:cNvPr id="179" name="Google Shape;179;g2c1d2f75a92_0_31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80" name="Google Shape;180;g2c1d2f75a92_0_314"/>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81" name="Google Shape;181;g2c1d2f75a92_0_31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82" name="Google Shape;182;g2c1d2f75a92_0_314"/>
          <p:cNvSpPr txBox="1"/>
          <p:nvPr/>
        </p:nvSpPr>
        <p:spPr>
          <a:xfrm>
            <a:off x="8974900" y="4046850"/>
            <a:ext cx="40500" cy="2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3" name="Google Shape;183;g2c1d2f75a92_0_314"/>
          <p:cNvSpPr txBox="1"/>
          <p:nvPr/>
        </p:nvSpPr>
        <p:spPr>
          <a:xfrm>
            <a:off x="9559625" y="3900675"/>
            <a:ext cx="40500" cy="24300"/>
          </a:xfrm>
          <a:prstGeom prst="rect">
            <a:avLst/>
          </a:prstGeom>
          <a:noFill/>
          <a:ln>
            <a:noFill/>
          </a:ln>
          <a:effectLst>
            <a:outerShdw blurRad="57150" rotWithShape="0" algn="bl" dir="5400000" dist="19050">
              <a:srgbClr val="000000">
                <a:alpha val="48627"/>
              </a:srgbClr>
            </a:outerShdw>
            <a:reflection blurRad="0" dir="5400000" dist="38100" endA="0" fadeDir="5400012" kx="0" rotWithShape="0" algn="bl" stPos="0" sy="-100000" ky="0"/>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184" name="Google Shape;184;g2c1d2f75a92_0_314"/>
          <p:cNvSpPr txBox="1"/>
          <p:nvPr/>
        </p:nvSpPr>
        <p:spPr>
          <a:xfrm>
            <a:off x="7724225" y="4899550"/>
            <a:ext cx="4493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5" name="Google Shape;185;g2c1d2f75a92_0_314"/>
          <p:cNvSpPr txBox="1"/>
          <p:nvPr/>
        </p:nvSpPr>
        <p:spPr>
          <a:xfrm>
            <a:off x="8974900" y="4046850"/>
            <a:ext cx="40500" cy="2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6" name="Google Shape;186;g2c1d2f75a92_0_314"/>
          <p:cNvSpPr txBox="1"/>
          <p:nvPr/>
        </p:nvSpPr>
        <p:spPr>
          <a:xfrm>
            <a:off x="9559625" y="3900675"/>
            <a:ext cx="40500" cy="24300"/>
          </a:xfrm>
          <a:prstGeom prst="rect">
            <a:avLst/>
          </a:prstGeom>
          <a:noFill/>
          <a:ln>
            <a:noFill/>
          </a:ln>
          <a:effectLst>
            <a:outerShdw blurRad="57150" rotWithShape="0" algn="bl" dir="5400000" dist="19050">
              <a:srgbClr val="000000">
                <a:alpha val="48627"/>
              </a:srgbClr>
            </a:outerShdw>
            <a:reflection blurRad="0" dir="5400000" dist="38100" endA="0" fadeDir="5400012" kx="0" rotWithShape="0" algn="bl" stPos="0" sy="-100000" ky="0"/>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187" name="Google Shape;187;g2c1d2f75a92_0_314"/>
          <p:cNvSpPr txBox="1"/>
          <p:nvPr/>
        </p:nvSpPr>
        <p:spPr>
          <a:xfrm>
            <a:off x="424150" y="1730750"/>
            <a:ext cx="43623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AR" sz="2900" u="none" cap="none" strike="noStrike">
                <a:solidFill>
                  <a:srgbClr val="4A86E8"/>
                </a:solidFill>
                <a:highlight>
                  <a:srgbClr val="FFFFFF"/>
                </a:highlight>
                <a:latin typeface="Saira"/>
                <a:ea typeface="Saira"/>
                <a:cs typeface="Saira"/>
                <a:sym typeface="Saira"/>
              </a:rPr>
              <a:t>Ejercicio integrador</a:t>
            </a:r>
            <a:endParaRPr b="1" i="0" sz="2900" u="none" cap="none" strike="noStrike">
              <a:solidFill>
                <a:srgbClr val="4A86E8"/>
              </a:solidFill>
              <a:latin typeface="Saira"/>
              <a:ea typeface="Saira"/>
              <a:cs typeface="Saira"/>
              <a:sym typeface="Saira"/>
            </a:endParaRPr>
          </a:p>
        </p:txBody>
      </p:sp>
      <p:sp>
        <p:nvSpPr>
          <p:cNvPr id="188" name="Google Shape;188;g2c1d2f75a92_0_314"/>
          <p:cNvSpPr txBox="1"/>
          <p:nvPr/>
        </p:nvSpPr>
        <p:spPr>
          <a:xfrm>
            <a:off x="424150" y="2361950"/>
            <a:ext cx="10776300" cy="360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Desarrolla un programa en C para gestionar la información de vuelos en un aeropuerto. El programa debe permitir al usuario realizar operaciones como añadir nuevos vuelos, listar vuelos existentes, guardar la información de los vuelos en un archivo binario y cargarla al inicio del programa. Para almacenar la información de los vuelos, se utilizarán archivos binarios. Se proporciona una estructura base para los vuelos.</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struct Vuelo {</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    char nombre_vuelo[20];</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    char destino[</a:t>
            </a:r>
            <a:r>
              <a:rPr lang="es-AR" sz="1500">
                <a:solidFill>
                  <a:srgbClr val="0D0D0D"/>
                </a:solidFill>
                <a:highlight>
                  <a:schemeClr val="lt1"/>
                </a:highlight>
                <a:latin typeface="Saira"/>
                <a:ea typeface="Saira"/>
                <a:cs typeface="Saira"/>
                <a:sym typeface="Saira"/>
              </a:rPr>
              <a:t>50</a:t>
            </a:r>
            <a:r>
              <a:rPr lang="es-AR" sz="1500">
                <a:solidFill>
                  <a:srgbClr val="0D0D0D"/>
                </a:solidFill>
                <a:highlight>
                  <a:schemeClr val="lt1"/>
                </a:highlight>
                <a:latin typeface="Saira"/>
                <a:ea typeface="Saira"/>
                <a:cs typeface="Saira"/>
                <a:sym typeface="Saira"/>
              </a:rPr>
              <a:t>];</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    char hora_salida[10];</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    int valor_dolares;</a:t>
            </a:r>
            <a:endParaRPr sz="1500">
              <a:solidFill>
                <a:srgbClr val="0D0D0D"/>
              </a:solidFill>
              <a:highlight>
                <a:schemeClr val="lt1"/>
              </a:highlight>
              <a:latin typeface="Saira"/>
              <a:ea typeface="Saira"/>
              <a:cs typeface="Saira"/>
              <a:sym typeface="Saira"/>
            </a:endParaRPr>
          </a:p>
          <a:p>
            <a:pPr indent="0" lvl="0" marL="0" marR="0" rtl="0" algn="l">
              <a:lnSpc>
                <a:spcPct val="115000"/>
              </a:lnSpc>
              <a:spcBef>
                <a:spcPts val="0"/>
              </a:spcBef>
              <a:spcAft>
                <a:spcPts val="0"/>
              </a:spcAft>
              <a:buNone/>
            </a:pPr>
            <a:r>
              <a:rPr lang="es-AR" sz="1500">
                <a:solidFill>
                  <a:srgbClr val="0D0D0D"/>
                </a:solidFill>
                <a:highlight>
                  <a:schemeClr val="lt1"/>
                </a:highlight>
                <a:latin typeface="Saira"/>
                <a:ea typeface="Saira"/>
                <a:cs typeface="Saira"/>
                <a:sym typeface="Saira"/>
              </a:rPr>
              <a:t>};</a:t>
            </a:r>
            <a:endParaRPr sz="1500">
              <a:solidFill>
                <a:srgbClr val="0D0D0D"/>
              </a:solidFill>
              <a:highlight>
                <a:schemeClr val="lt1"/>
              </a:highlight>
              <a:latin typeface="Saira"/>
              <a:ea typeface="Saira"/>
              <a:cs typeface="Saira"/>
              <a:sym typeface="Saira"/>
            </a:endParaRPr>
          </a:p>
          <a:p>
            <a:pPr indent="-323850" lvl="0" marL="457200" marR="0" rtl="0" algn="l">
              <a:lnSpc>
                <a:spcPct val="115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El programa debe utilizar archivos binarios para almacenar la información de los vuelos.</a:t>
            </a:r>
            <a:endParaRPr sz="1500">
              <a:solidFill>
                <a:srgbClr val="0D0D0D"/>
              </a:solidFill>
              <a:highlight>
                <a:schemeClr val="lt1"/>
              </a:highlight>
              <a:latin typeface="Saira"/>
              <a:ea typeface="Saira"/>
              <a:cs typeface="Saira"/>
              <a:sym typeface="Saira"/>
            </a:endParaRPr>
          </a:p>
          <a:p>
            <a:pPr indent="-323850" lvl="0" marL="457200" marR="0" rtl="0" algn="l">
              <a:lnSpc>
                <a:spcPct val="115000"/>
              </a:lnSpc>
              <a:spcBef>
                <a:spcPts val="0"/>
              </a:spcBef>
              <a:spcAft>
                <a:spcPts val="0"/>
              </a:spcAft>
              <a:buClr>
                <a:srgbClr val="0D0D0D"/>
              </a:buClr>
              <a:buSzPts val="1500"/>
              <a:buFont typeface="Saira"/>
              <a:buChar char="●"/>
            </a:pPr>
            <a:r>
              <a:rPr lang="es-AR" sz="1500">
                <a:solidFill>
                  <a:srgbClr val="0D0D0D"/>
                </a:solidFill>
                <a:highlight>
                  <a:schemeClr val="lt1"/>
                </a:highlight>
                <a:latin typeface="Saira"/>
                <a:ea typeface="Saira"/>
                <a:cs typeface="Saira"/>
                <a:sym typeface="Saira"/>
              </a:rPr>
              <a:t>El usuario debe poder interactuar con el programa a través de un menú de opciones.</a:t>
            </a:r>
            <a:endParaRPr sz="1500">
              <a:solidFill>
                <a:srgbClr val="0D0D0D"/>
              </a:solidFill>
              <a:highlight>
                <a:schemeClr val="lt1"/>
              </a:highlight>
              <a:latin typeface="Saira"/>
              <a:ea typeface="Saira"/>
              <a:cs typeface="Saira"/>
              <a:sym typeface="Sai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1f3006538ad_0_20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194" name="Google Shape;194;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a:t>
            </a:r>
            <a:r>
              <a:rPr lang="es-AR" sz="2000">
                <a:latin typeface="Saira"/>
                <a:ea typeface="Saira"/>
                <a:cs typeface="Saira"/>
                <a:sym typeface="Saira"/>
              </a:rPr>
              <a:t>Librerías</a:t>
            </a:r>
            <a:endParaRPr sz="2000"/>
          </a:p>
        </p:txBody>
      </p:sp>
      <p:pic>
        <p:nvPicPr>
          <p:cNvPr id="195" name="Google Shape;195;g1f3006538ad_0_205"/>
          <p:cNvPicPr preferRelativeResize="0"/>
          <p:nvPr/>
        </p:nvPicPr>
        <p:blipFill rotWithShape="1">
          <a:blip r:embed="rId4">
            <a:alphaModFix/>
          </a:blip>
          <a:srcRect b="0" l="27396" r="27817" t="0"/>
          <a:stretch/>
        </p:blipFill>
        <p:spPr>
          <a:xfrm>
            <a:off x="5219014" y="3378025"/>
            <a:ext cx="1753976" cy="2170400"/>
          </a:xfrm>
          <a:prstGeom prst="rect">
            <a:avLst/>
          </a:prstGeom>
          <a:noFill/>
          <a:ln>
            <a:noFill/>
          </a:ln>
        </p:spPr>
      </p:pic>
      <p:sp>
        <p:nvSpPr>
          <p:cNvPr id="196" name="Google Shape;196;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