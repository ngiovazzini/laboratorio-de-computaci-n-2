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Saira"/>
      <p:regular r:id="rId21"/>
      <p:bold r:id="rId22"/>
      <p:italic r:id="rId23"/>
      <p:boldItalic r:id="rId24"/>
    </p:embeddedFont>
    <p:embeddedFont>
      <p:font typeface="Saira Light"/>
      <p:regular r:id="rId25"/>
      <p:bold r:id="rId26"/>
      <p:italic r:id="rId27"/>
      <p:boldItalic r:id="rId28"/>
    </p:embeddedFont>
    <p:embeddedFont>
      <p:font typeface="Saira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kaTlXaJRJxauWTUe2tMcgiVx+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Saira-bold.fntdata"/><Relationship Id="rId21" Type="http://schemas.openxmlformats.org/officeDocument/2006/relationships/font" Target="fonts/Saira-regular.fntdata"/><Relationship Id="rId24" Type="http://schemas.openxmlformats.org/officeDocument/2006/relationships/font" Target="fonts/Saira-boldItalic.fntdata"/><Relationship Id="rId23" Type="http://schemas.openxmlformats.org/officeDocument/2006/relationships/font" Target="fonts/Saira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airaLight-bold.fntdata"/><Relationship Id="rId25" Type="http://schemas.openxmlformats.org/officeDocument/2006/relationships/font" Target="fonts/SairaLight-regular.fntdata"/><Relationship Id="rId28" Type="http://schemas.openxmlformats.org/officeDocument/2006/relationships/font" Target="fonts/SairaLight-boldItalic.fntdata"/><Relationship Id="rId27" Type="http://schemas.openxmlformats.org/officeDocument/2006/relationships/font" Target="fonts/Saira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aira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airaSemiBold-italic.fntdata"/><Relationship Id="rId30" Type="http://schemas.openxmlformats.org/officeDocument/2006/relationships/font" Target="fonts/SairaSemiBold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SairaSemiBold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2ce82f4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1f2ce82f4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3174458e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1f3174458ef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f3174458e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1f3174458ef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299f8e1f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2c299f8e1f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299f8e1f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2c299f8e1f7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299f8e1f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2c299f8e1f7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299f8e1f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2c299f8e1f7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299f8e1f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2c299f8e1f7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299f8e1f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2c299f8e1f7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c299f8e1f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2c299f8e1f7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c299f8e1f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2c299f8e1f7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c299f8e1f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2c299f8e1f7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c299f8e1f7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2c299f8e1f7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c1d2f75a9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2c1d2f75a92_0_3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f3006538ad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1f3006538ad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2814" y="10145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computación II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272150" y="2200100"/>
            <a:ext cx="364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Unidad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4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-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850" y="3029150"/>
            <a:ext cx="929640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2ce82f4ef_0_5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¿Por qué usar vectores?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5" name="Google Shape;95;g1f2ce82f4ef_0_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1f2ce82f4ef_0_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7" name="Google Shape;97;g1f2ce82f4ef_0_5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1f2ce82f4ef_0_5"/>
          <p:cNvSpPr txBox="1"/>
          <p:nvPr/>
        </p:nvSpPr>
        <p:spPr>
          <a:xfrm>
            <a:off x="1126800" y="2429588"/>
            <a:ext cx="9938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Imaginense que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quisiéramos anotar el número de personas que ingresan cada día al campus durante una semana. Tendríamos que crear 7 variables enteras distintas.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Y si lo extendemos a un año ? Tendríamos que crear 365 variables enteras distintas.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f3174458ef_0_26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4" name="Google Shape;104;g1f3174458ef_0_26"/>
          <p:cNvPicPr preferRelativeResize="0"/>
          <p:nvPr/>
        </p:nvPicPr>
        <p:blipFill rotWithShape="1">
          <a:blip r:embed="rId3">
            <a:alphaModFix/>
          </a:blip>
          <a:srcRect b="30671" l="23551" r="22738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1f3174458ef_0_2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6" name="Google Shape;106;g1f3174458ef_0_26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1f3174458ef_0_26"/>
          <p:cNvSpPr txBox="1"/>
          <p:nvPr/>
        </p:nvSpPr>
        <p:spPr>
          <a:xfrm>
            <a:off x="319450" y="1747250"/>
            <a:ext cx="1041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Un vector unidimensional es una estructura de datos que consiste en un conjunto ordenado de valores del mismo tipo, todos ellos almacenados en una sola dimensión y con un tamaño limitado predefinido.</a:t>
            </a:r>
            <a:endParaRPr b="0" i="0" sz="20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08" name="Google Shape;108;g1f3174458ef_0_26"/>
          <p:cNvSpPr txBox="1"/>
          <p:nvPr/>
        </p:nvSpPr>
        <p:spPr>
          <a:xfrm>
            <a:off x="4408125" y="4053100"/>
            <a:ext cx="701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vector[10];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09" name="Google Shape;109;g1f3174458ef_0_26"/>
          <p:cNvSpPr/>
          <p:nvPr/>
        </p:nvSpPr>
        <p:spPr>
          <a:xfrm rot="5400000">
            <a:off x="6671750" y="4566719"/>
            <a:ext cx="266700" cy="525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1f3174458ef_0_26"/>
          <p:cNvSpPr txBox="1"/>
          <p:nvPr/>
        </p:nvSpPr>
        <p:spPr>
          <a:xfrm>
            <a:off x="6224475" y="5001788"/>
            <a:ext cx="16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Tamaño</a:t>
            </a:r>
            <a:endParaRPr sz="28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11" name="Google Shape;111;g1f3174458ef_0_26"/>
          <p:cNvSpPr/>
          <p:nvPr/>
        </p:nvSpPr>
        <p:spPr>
          <a:xfrm rot="-5400000">
            <a:off x="5573925" y="3557026"/>
            <a:ext cx="300600" cy="10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f3174458ef_0_26"/>
          <p:cNvSpPr txBox="1"/>
          <p:nvPr/>
        </p:nvSpPr>
        <p:spPr>
          <a:xfrm>
            <a:off x="4997750" y="3291375"/>
            <a:ext cx="16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Nombre</a:t>
            </a:r>
            <a:endParaRPr sz="28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13" name="Google Shape;113;g1f3174458ef_0_26"/>
          <p:cNvSpPr/>
          <p:nvPr/>
        </p:nvSpPr>
        <p:spPr>
          <a:xfrm rot="5400000">
            <a:off x="4667000" y="4566719"/>
            <a:ext cx="266700" cy="525300"/>
          </a:xfrm>
          <a:prstGeom prst="rightBrace">
            <a:avLst>
              <a:gd fmla="val 49241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f3174458ef_0_26"/>
          <p:cNvSpPr txBox="1"/>
          <p:nvPr/>
        </p:nvSpPr>
        <p:spPr>
          <a:xfrm>
            <a:off x="3455900" y="5001800"/>
            <a:ext cx="268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Tipo de datos</a:t>
            </a:r>
            <a:endParaRPr sz="28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f3174458ef_0_5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0" name="Google Shape;120;g1f3174458ef_0_51"/>
          <p:cNvPicPr preferRelativeResize="0"/>
          <p:nvPr/>
        </p:nvPicPr>
        <p:blipFill rotWithShape="1">
          <a:blip r:embed="rId3">
            <a:alphaModFix/>
          </a:blip>
          <a:srcRect b="30671" l="23551" r="22738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1f3174458ef_0_5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2" name="Google Shape;122;g1f3174458ef_0_5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1f3174458ef_0_5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24" name="Google Shape;124;g1f3174458ef_0_51"/>
          <p:cNvSpPr txBox="1"/>
          <p:nvPr/>
        </p:nvSpPr>
        <p:spPr>
          <a:xfrm>
            <a:off x="319450" y="2046400"/>
            <a:ext cx="10716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Al vector debemos darle un nombre y cada elemento del vector se identifica por el</a:t>
            </a:r>
            <a:endParaRPr sz="19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nombre y su posición señalada por el índice.</a:t>
            </a:r>
            <a:endParaRPr sz="19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5" name="Google Shape;125;g1f3174458ef_0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950" y="2975925"/>
            <a:ext cx="10011235" cy="278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299f8e1f7_0_14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1" name="Google Shape;131;g2c299f8e1f7_0_14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2c299f8e1f7_0_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33" name="Google Shape;133;g2c299f8e1f7_0_1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2c299f8e1f7_0_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5" name="Google Shape;135;g2c299f8e1f7_0_14"/>
          <p:cNvSpPr txBox="1"/>
          <p:nvPr/>
        </p:nvSpPr>
        <p:spPr>
          <a:xfrm>
            <a:off x="319450" y="2046400"/>
            <a:ext cx="1071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Puede realizarse en el momento de la declaración.</a:t>
            </a:r>
            <a:endParaRPr sz="19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6" name="Google Shape;136;g2c299f8e1f7_0_14"/>
          <p:cNvSpPr txBox="1"/>
          <p:nvPr/>
        </p:nvSpPr>
        <p:spPr>
          <a:xfrm>
            <a:off x="3041525" y="2762225"/>
            <a:ext cx="701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vector[5]={52,79,34,49,7};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7" name="Google Shape;137;g2c299f8e1f7_0_14"/>
          <p:cNvSpPr txBox="1"/>
          <p:nvPr/>
        </p:nvSpPr>
        <p:spPr>
          <a:xfrm>
            <a:off x="319575" y="3795175"/>
            <a:ext cx="10716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Si se </a:t>
            </a:r>
            <a:r>
              <a:rPr lang="es-AR" sz="1900">
                <a:latin typeface="Saira"/>
                <a:ea typeface="Saira"/>
                <a:cs typeface="Saira"/>
                <a:sym typeface="Saira"/>
              </a:rPr>
              <a:t>omitieran</a:t>
            </a:r>
            <a:r>
              <a:rPr lang="es-AR" sz="1900">
                <a:latin typeface="Saira"/>
                <a:ea typeface="Saira"/>
                <a:cs typeface="Saira"/>
                <a:sym typeface="Saira"/>
              </a:rPr>
              <a:t> valores en la inicialización, el compilador setea con valor ‘0’ el resto</a:t>
            </a:r>
            <a:endParaRPr sz="19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38" name="Google Shape;138;g2c299f8e1f7_0_14"/>
          <p:cNvSpPr txBox="1"/>
          <p:nvPr/>
        </p:nvSpPr>
        <p:spPr>
          <a:xfrm>
            <a:off x="3041525" y="4329775"/>
            <a:ext cx="701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vector[5]={52,79};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299f8e1f7_0_3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4" name="Google Shape;144;g2c299f8e1f7_0_35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c299f8e1f7_0_3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6" name="Google Shape;146;g2c299f8e1f7_0_3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2c299f8e1f7_0_3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8" name="Google Shape;148;g2c299f8e1f7_0_35"/>
          <p:cNvSpPr txBox="1"/>
          <p:nvPr/>
        </p:nvSpPr>
        <p:spPr>
          <a:xfrm>
            <a:off x="319450" y="2046400"/>
            <a:ext cx="1071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NO </a:t>
            </a:r>
            <a:r>
              <a:rPr lang="es-AR" sz="1900">
                <a:latin typeface="Saira"/>
                <a:ea typeface="Saira"/>
                <a:cs typeface="Saira"/>
                <a:sym typeface="Saira"/>
              </a:rPr>
              <a:t>se puede inicializar un array con más elementos de los declarados en la dimensión</a:t>
            </a:r>
            <a:endParaRPr sz="1900"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9" name="Google Shape;149;g2c299f8e1f7_0_35"/>
          <p:cNvSpPr txBox="1"/>
          <p:nvPr/>
        </p:nvSpPr>
        <p:spPr>
          <a:xfrm>
            <a:off x="2034600" y="2815900"/>
            <a:ext cx="740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vector[5]={52,79,34,49,7,9,25};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0" name="Google Shape;150;g2c299f8e1f7_0_35"/>
          <p:cNvSpPr txBox="1"/>
          <p:nvPr/>
        </p:nvSpPr>
        <p:spPr>
          <a:xfrm>
            <a:off x="319575" y="3795175"/>
            <a:ext cx="10716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Se puede omitir la dimensión si se inicializa en la declaración</a:t>
            </a:r>
            <a:endParaRPr sz="19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51" name="Google Shape;151;g2c299f8e1f7_0_35"/>
          <p:cNvSpPr txBox="1"/>
          <p:nvPr/>
        </p:nvSpPr>
        <p:spPr>
          <a:xfrm>
            <a:off x="3041525" y="4329775"/>
            <a:ext cx="701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vector[]={52,79};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299f8e1f7_0_47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7" name="Google Shape;157;g2c299f8e1f7_0_47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c299f8e1f7_0_47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9" name="Google Shape;159;g2c299f8e1f7_0_47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2c299f8e1f7_0_47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1" name="Google Shape;161;g2c299f8e1f7_0_47"/>
          <p:cNvSpPr txBox="1"/>
          <p:nvPr/>
        </p:nvSpPr>
        <p:spPr>
          <a:xfrm>
            <a:off x="319450" y="2046400"/>
            <a:ext cx="10716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Los elementos de un vector se almacenan de manera contigua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2" name="Google Shape;162;g2c299f8e1f7_0_47"/>
          <p:cNvSpPr txBox="1"/>
          <p:nvPr/>
        </p:nvSpPr>
        <p:spPr>
          <a:xfrm>
            <a:off x="2887300" y="2615250"/>
            <a:ext cx="701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vector[]={52,79,38};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3" name="Google Shape;163;g2c299f8e1f7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2800" y="3476625"/>
            <a:ext cx="9650196" cy="111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c299f8e1f7_0_79"/>
          <p:cNvSpPr/>
          <p:nvPr/>
        </p:nvSpPr>
        <p:spPr>
          <a:xfrm>
            <a:off x="2430550" y="3581025"/>
            <a:ext cx="4109400" cy="581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2c299f8e1f7_0_79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0" name="Google Shape;170;g2c299f8e1f7_0_79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2c299f8e1f7_0_7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2" name="Google Shape;172;g2c299f8e1f7_0_79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2c299f8e1f7_0_7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4" name="Google Shape;174;g2c299f8e1f7_0_79"/>
          <p:cNvSpPr txBox="1"/>
          <p:nvPr/>
        </p:nvSpPr>
        <p:spPr>
          <a:xfrm>
            <a:off x="537175" y="1729125"/>
            <a:ext cx="10716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rgbClr val="FF0000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NO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se pueden accedera todos los elementos de un vector a la vez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5" name="Google Shape;175;g2c299f8e1f7_0_79"/>
          <p:cNvSpPr txBox="1"/>
          <p:nvPr/>
        </p:nvSpPr>
        <p:spPr>
          <a:xfrm>
            <a:off x="2387425" y="2361475"/>
            <a:ext cx="7016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vector[]={52,79,38};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otro_vector[3];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otro_vector=vector;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6" name="Google Shape;176;g2c299f8e1f7_0_79"/>
          <p:cNvSpPr txBox="1"/>
          <p:nvPr/>
        </p:nvSpPr>
        <p:spPr>
          <a:xfrm>
            <a:off x="6738250" y="36332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MAL</a:t>
            </a:r>
            <a:endParaRPr b="1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7" name="Google Shape;177;g2c299f8e1f7_0_79"/>
          <p:cNvSpPr txBox="1"/>
          <p:nvPr/>
        </p:nvSpPr>
        <p:spPr>
          <a:xfrm>
            <a:off x="580725" y="4470100"/>
            <a:ext cx="10716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rgbClr val="00B050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SI</a:t>
            </a:r>
            <a:r>
              <a:rPr lang="es-AR" sz="1900">
                <a:solidFill>
                  <a:srgbClr val="FF0000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 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se pueden acceder a los elementos de un vector de uno en uno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8" name="Google Shape;178;g2c299f8e1f7_0_79"/>
          <p:cNvSpPr txBox="1"/>
          <p:nvPr/>
        </p:nvSpPr>
        <p:spPr>
          <a:xfrm>
            <a:off x="3028025" y="5047600"/>
            <a:ext cx="6260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otro_vector[1]=vector[1]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c299f8e1f7_0_60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4" name="Google Shape;184;g2c299f8e1f7_0_60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2c299f8e1f7_0_6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6" name="Google Shape;186;g2c299f8e1f7_0_60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2c299f8e1f7_0_6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8" name="Google Shape;188;g2c299f8e1f7_0_60"/>
          <p:cNvSpPr txBox="1"/>
          <p:nvPr/>
        </p:nvSpPr>
        <p:spPr>
          <a:xfrm>
            <a:off x="528075" y="2698000"/>
            <a:ext cx="720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Ojo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! Porque no se puede acceder a elementos fuera del vector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9" name="Google Shape;189;g2c299f8e1f7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775" y="3350188"/>
            <a:ext cx="9650196" cy="111408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c299f8e1f7_0_60"/>
          <p:cNvSpPr/>
          <p:nvPr/>
        </p:nvSpPr>
        <p:spPr>
          <a:xfrm>
            <a:off x="7728250" y="3472513"/>
            <a:ext cx="562500" cy="662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g2c299f8e1f7_0_60"/>
          <p:cNvCxnSpPr/>
          <p:nvPr/>
        </p:nvCxnSpPr>
        <p:spPr>
          <a:xfrm flipH="1">
            <a:off x="8290750" y="2827875"/>
            <a:ext cx="762000" cy="59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g2c299f8e1f7_0_60"/>
          <p:cNvSpPr txBox="1"/>
          <p:nvPr/>
        </p:nvSpPr>
        <p:spPr>
          <a:xfrm>
            <a:off x="8656100" y="2301150"/>
            <a:ext cx="2192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Vector[3] explota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3" name="Google Shape;193;g2c299f8e1f7_0_60"/>
          <p:cNvSpPr txBox="1"/>
          <p:nvPr/>
        </p:nvSpPr>
        <p:spPr>
          <a:xfrm>
            <a:off x="1651150" y="4549075"/>
            <a:ext cx="134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ector[0]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4" name="Google Shape;194;g2c299f8e1f7_0_60"/>
          <p:cNvSpPr txBox="1"/>
          <p:nvPr/>
        </p:nvSpPr>
        <p:spPr>
          <a:xfrm>
            <a:off x="4026050" y="4549075"/>
            <a:ext cx="122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ector[1]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5" name="Google Shape;195;g2c299f8e1f7_0_60"/>
          <p:cNvSpPr txBox="1"/>
          <p:nvPr/>
        </p:nvSpPr>
        <p:spPr>
          <a:xfrm>
            <a:off x="6264875" y="4549075"/>
            <a:ext cx="1182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[2]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6" name="Google Shape;196;g2c299f8e1f7_0_60"/>
          <p:cNvSpPr txBox="1"/>
          <p:nvPr/>
        </p:nvSpPr>
        <p:spPr>
          <a:xfrm>
            <a:off x="3402525" y="1799500"/>
            <a:ext cx="4968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vector[]={52,79,38};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c299f8e1f7_0_10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2" name="Google Shape;202;g2c299f8e1f7_0_102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c299f8e1f7_0_10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4" name="Google Shape;204;g2c299f8e1f7_0_102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c299f8e1f7_0_10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6" name="Google Shape;206;g2c299f8e1f7_0_102"/>
          <p:cNvSpPr txBox="1"/>
          <p:nvPr/>
        </p:nvSpPr>
        <p:spPr>
          <a:xfrm>
            <a:off x="455500" y="1990450"/>
            <a:ext cx="720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Acceso a elementos de un vector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7" name="Google Shape;207;g2c299f8e1f7_0_102"/>
          <p:cNvSpPr txBox="1"/>
          <p:nvPr/>
        </p:nvSpPr>
        <p:spPr>
          <a:xfrm>
            <a:off x="3865175" y="2615925"/>
            <a:ext cx="3019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vector[</a:t>
            </a:r>
            <a:r>
              <a:rPr lang="es-AR" sz="3500">
                <a:solidFill>
                  <a:srgbClr val="00B050"/>
                </a:solidFill>
                <a:latin typeface="Saira"/>
                <a:ea typeface="Saira"/>
                <a:cs typeface="Saira"/>
                <a:sym typeface="Saira"/>
              </a:rPr>
              <a:t>indice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8" name="Google Shape;208;g2c299f8e1f7_0_102"/>
          <p:cNvSpPr/>
          <p:nvPr/>
        </p:nvSpPr>
        <p:spPr>
          <a:xfrm rot="5400000">
            <a:off x="5796000" y="2827750"/>
            <a:ext cx="387900" cy="1281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2c299f8e1f7_0_102"/>
          <p:cNvSpPr txBox="1"/>
          <p:nvPr/>
        </p:nvSpPr>
        <p:spPr>
          <a:xfrm>
            <a:off x="2989800" y="3780375"/>
            <a:ext cx="6000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Cualquier valor entero o una expresion que de como resultado un valor entero 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c299f8e1f7_0_12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5" name="Google Shape;215;g2c299f8e1f7_0_121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2c299f8e1f7_0_12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7" name="Google Shape;217;g2c299f8e1f7_0_12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2c299f8e1f7_0_12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9" name="Google Shape;219;g2c299f8e1f7_0_121"/>
          <p:cNvSpPr txBox="1"/>
          <p:nvPr/>
        </p:nvSpPr>
        <p:spPr>
          <a:xfrm>
            <a:off x="527950" y="2026725"/>
            <a:ext cx="720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Acceso a la dirección de memoria de los elementos de un vector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20" name="Google Shape;220;g2c299f8e1f7_0_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775" y="3350188"/>
            <a:ext cx="9650196" cy="111408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c299f8e1f7_0_121"/>
          <p:cNvSpPr/>
          <p:nvPr/>
        </p:nvSpPr>
        <p:spPr>
          <a:xfrm>
            <a:off x="1042700" y="3526938"/>
            <a:ext cx="562500" cy="662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g2c299f8e1f7_0_121"/>
          <p:cNvCxnSpPr>
            <a:stCxn id="223" idx="1"/>
            <a:endCxn id="221" idx="2"/>
          </p:cNvCxnSpPr>
          <p:nvPr/>
        </p:nvCxnSpPr>
        <p:spPr>
          <a:xfrm rot="10800000">
            <a:off x="1323850" y="4189075"/>
            <a:ext cx="327300" cy="59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g2c299f8e1f7_0_121"/>
          <p:cNvSpPr txBox="1"/>
          <p:nvPr/>
        </p:nvSpPr>
        <p:spPr>
          <a:xfrm>
            <a:off x="1651150" y="4549075"/>
            <a:ext cx="1505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</a:rPr>
              <a:t>&amp;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vector[0]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4" name="Google Shape;224;g2c299f8e1f7_0_121"/>
          <p:cNvSpPr txBox="1"/>
          <p:nvPr/>
        </p:nvSpPr>
        <p:spPr>
          <a:xfrm>
            <a:off x="4026050" y="4549075"/>
            <a:ext cx="1360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</a:rPr>
              <a:t>&amp;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vector[1]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5" name="Google Shape;225;g2c299f8e1f7_0_121"/>
          <p:cNvSpPr txBox="1"/>
          <p:nvPr/>
        </p:nvSpPr>
        <p:spPr>
          <a:xfrm>
            <a:off x="6264875" y="4549075"/>
            <a:ext cx="1408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</a:rPr>
              <a:t>&amp;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vector[2]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6" name="Google Shape;226;g2c299f8e1f7_0_121"/>
          <p:cNvSpPr/>
          <p:nvPr/>
        </p:nvSpPr>
        <p:spPr>
          <a:xfrm>
            <a:off x="3254300" y="3470688"/>
            <a:ext cx="562500" cy="662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g2c299f8e1f7_0_121"/>
          <p:cNvCxnSpPr/>
          <p:nvPr/>
        </p:nvCxnSpPr>
        <p:spPr>
          <a:xfrm rot="10800000">
            <a:off x="3553600" y="4232625"/>
            <a:ext cx="327300" cy="59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g2c299f8e1f7_0_121"/>
          <p:cNvCxnSpPr/>
          <p:nvPr/>
        </p:nvCxnSpPr>
        <p:spPr>
          <a:xfrm rot="10800000">
            <a:off x="5932350" y="4121725"/>
            <a:ext cx="327300" cy="59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g2c299f8e1f7_0_121"/>
          <p:cNvSpPr/>
          <p:nvPr/>
        </p:nvSpPr>
        <p:spPr>
          <a:xfrm>
            <a:off x="5523625" y="3655797"/>
            <a:ext cx="562500" cy="477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2c299f8e1f7_0_121"/>
          <p:cNvSpPr txBox="1"/>
          <p:nvPr/>
        </p:nvSpPr>
        <p:spPr>
          <a:xfrm>
            <a:off x="1785475" y="5220225"/>
            <a:ext cx="953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1" name="Google Shape;231;g2c299f8e1f7_0_121"/>
          <p:cNvSpPr txBox="1"/>
          <p:nvPr/>
        </p:nvSpPr>
        <p:spPr>
          <a:xfrm>
            <a:off x="4078750" y="5220225"/>
            <a:ext cx="123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vector+1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2" name="Google Shape;232;g2c299f8e1f7_0_121"/>
          <p:cNvSpPr txBox="1"/>
          <p:nvPr/>
        </p:nvSpPr>
        <p:spPr>
          <a:xfrm>
            <a:off x="6350975" y="5220225"/>
            <a:ext cx="123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vector+2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3" name="Google Shape;233;g2c299f8e1f7_0_121"/>
          <p:cNvSpPr txBox="1"/>
          <p:nvPr/>
        </p:nvSpPr>
        <p:spPr>
          <a:xfrm>
            <a:off x="2098525" y="4930950"/>
            <a:ext cx="327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4" name="Google Shape;234;g2c299f8e1f7_0_121"/>
          <p:cNvSpPr txBox="1"/>
          <p:nvPr/>
        </p:nvSpPr>
        <p:spPr>
          <a:xfrm>
            <a:off x="4391800" y="4930950"/>
            <a:ext cx="327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5" name="Google Shape;235;g2c299f8e1f7_0_121"/>
          <p:cNvSpPr txBox="1"/>
          <p:nvPr/>
        </p:nvSpPr>
        <p:spPr>
          <a:xfrm>
            <a:off x="6805625" y="4930950"/>
            <a:ext cx="327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c299f8e1f7_0_154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 con punteros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1" name="Google Shape;241;g2c299f8e1f7_0_154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2c299f8e1f7_0_15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3" name="Google Shape;243;g2c299f8e1f7_0_15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2c299f8e1f7_0_15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5" name="Google Shape;245;g2c299f8e1f7_0_154"/>
          <p:cNvSpPr txBox="1"/>
          <p:nvPr/>
        </p:nvSpPr>
        <p:spPr>
          <a:xfrm>
            <a:off x="473375" y="1863425"/>
            <a:ext cx="10194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El nombre de un array es la dirección comienzo del mismo y es constante, es decir, no podemos hacer que comience en otra parte.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6" name="Google Shape;246;g2c299f8e1f7_0_154"/>
          <p:cNvSpPr txBox="1"/>
          <p:nvPr/>
        </p:nvSpPr>
        <p:spPr>
          <a:xfrm>
            <a:off x="3612000" y="2632925"/>
            <a:ext cx="4968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v[]={52,79,38};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7" name="Google Shape;247;g2c299f8e1f7_0_154"/>
          <p:cNvSpPr txBox="1"/>
          <p:nvPr/>
        </p:nvSpPr>
        <p:spPr>
          <a:xfrm>
            <a:off x="1495075" y="3425850"/>
            <a:ext cx="78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Si “v”</a:t>
            </a: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contiene la </a:t>
            </a: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dirección</a:t>
            </a:r>
            <a:r>
              <a:rPr lang="es-AR" sz="24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de memoria del vector </a:t>
            </a:r>
            <a:endParaRPr sz="24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8" name="Google Shape;248;g2c299f8e1f7_0_154"/>
          <p:cNvSpPr txBox="1"/>
          <p:nvPr/>
        </p:nvSpPr>
        <p:spPr>
          <a:xfrm>
            <a:off x="2900975" y="4539425"/>
            <a:ext cx="5338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Entonces v es un puntero que apunta al inicio del vector !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9" name="Google Shape;249;g2c299f8e1f7_0_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4075" y="4049575"/>
            <a:ext cx="1685750" cy="20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c299f8e1f7_0_184"/>
          <p:cNvSpPr txBox="1"/>
          <p:nvPr/>
        </p:nvSpPr>
        <p:spPr>
          <a:xfrm>
            <a:off x="319439" y="990221"/>
            <a:ext cx="847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 con punteros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t/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55" name="Google Shape;255;g2c299f8e1f7_0_184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c299f8e1f7_0_18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57" name="Google Shape;257;g2c299f8e1f7_0_18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2c299f8e1f7_0_18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59" name="Google Shape;259;g2c299f8e1f7_0_184"/>
          <p:cNvSpPr txBox="1"/>
          <p:nvPr/>
        </p:nvSpPr>
        <p:spPr>
          <a:xfrm>
            <a:off x="527950" y="2026725"/>
            <a:ext cx="786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Acceso a los elementos y direcciones con 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aritmética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de punteros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60" name="Google Shape;260;g2c299f8e1f7_0_1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775" y="3945800"/>
            <a:ext cx="9650196" cy="111408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c299f8e1f7_0_184"/>
          <p:cNvSpPr/>
          <p:nvPr/>
        </p:nvSpPr>
        <p:spPr>
          <a:xfrm>
            <a:off x="1042700" y="4122550"/>
            <a:ext cx="562500" cy="662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g2c299f8e1f7_0_184"/>
          <p:cNvCxnSpPr>
            <a:stCxn id="263" idx="1"/>
            <a:endCxn id="261" idx="2"/>
          </p:cNvCxnSpPr>
          <p:nvPr/>
        </p:nvCxnSpPr>
        <p:spPr>
          <a:xfrm rot="10800000">
            <a:off x="1323950" y="4784650"/>
            <a:ext cx="327300" cy="59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g2c299f8e1f7_0_184"/>
          <p:cNvSpPr txBox="1"/>
          <p:nvPr/>
        </p:nvSpPr>
        <p:spPr>
          <a:xfrm>
            <a:off x="4026050" y="5144688"/>
            <a:ext cx="1360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5" name="Google Shape;265;g2c299f8e1f7_0_184"/>
          <p:cNvSpPr/>
          <p:nvPr/>
        </p:nvSpPr>
        <p:spPr>
          <a:xfrm>
            <a:off x="3254300" y="4066300"/>
            <a:ext cx="562500" cy="662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g2c299f8e1f7_0_184"/>
          <p:cNvCxnSpPr/>
          <p:nvPr/>
        </p:nvCxnSpPr>
        <p:spPr>
          <a:xfrm rot="10800000">
            <a:off x="3553600" y="4828238"/>
            <a:ext cx="327300" cy="59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g2c299f8e1f7_0_184"/>
          <p:cNvCxnSpPr/>
          <p:nvPr/>
        </p:nvCxnSpPr>
        <p:spPr>
          <a:xfrm rot="10800000">
            <a:off x="5932350" y="4717338"/>
            <a:ext cx="327300" cy="598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g2c299f8e1f7_0_184"/>
          <p:cNvSpPr/>
          <p:nvPr/>
        </p:nvSpPr>
        <p:spPr>
          <a:xfrm>
            <a:off x="5523625" y="4251409"/>
            <a:ext cx="562500" cy="477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2c299f8e1f7_0_184"/>
          <p:cNvSpPr txBox="1"/>
          <p:nvPr/>
        </p:nvSpPr>
        <p:spPr>
          <a:xfrm>
            <a:off x="1803625" y="5235263"/>
            <a:ext cx="953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0" name="Google Shape;270;g2c299f8e1f7_0_184"/>
          <p:cNvSpPr txBox="1"/>
          <p:nvPr/>
        </p:nvSpPr>
        <p:spPr>
          <a:xfrm>
            <a:off x="4088150" y="5235263"/>
            <a:ext cx="123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vector+1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1" name="Google Shape;271;g2c299f8e1f7_0_184"/>
          <p:cNvSpPr txBox="1"/>
          <p:nvPr/>
        </p:nvSpPr>
        <p:spPr>
          <a:xfrm>
            <a:off x="6350975" y="5235263"/>
            <a:ext cx="1236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vector+2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2" name="Google Shape;272;g2c299f8e1f7_0_184"/>
          <p:cNvSpPr/>
          <p:nvPr/>
        </p:nvSpPr>
        <p:spPr>
          <a:xfrm>
            <a:off x="1928050" y="4667684"/>
            <a:ext cx="476400" cy="4770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2c299f8e1f7_0_184"/>
          <p:cNvSpPr/>
          <p:nvPr/>
        </p:nvSpPr>
        <p:spPr>
          <a:xfrm>
            <a:off x="4157825" y="4667684"/>
            <a:ext cx="476400" cy="4770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2c299f8e1f7_0_184"/>
          <p:cNvSpPr/>
          <p:nvPr/>
        </p:nvSpPr>
        <p:spPr>
          <a:xfrm>
            <a:off x="6387600" y="4667684"/>
            <a:ext cx="476400" cy="4770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g2c299f8e1f7_0_184"/>
          <p:cNvCxnSpPr>
            <a:endCxn id="272" idx="0"/>
          </p:cNvCxnSpPr>
          <p:nvPr/>
        </p:nvCxnSpPr>
        <p:spPr>
          <a:xfrm flipH="1">
            <a:off x="2166250" y="3697784"/>
            <a:ext cx="565500" cy="96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g2c299f8e1f7_0_184"/>
          <p:cNvCxnSpPr/>
          <p:nvPr/>
        </p:nvCxnSpPr>
        <p:spPr>
          <a:xfrm flipH="1">
            <a:off x="4423700" y="3637059"/>
            <a:ext cx="565500" cy="96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g2c299f8e1f7_0_184"/>
          <p:cNvCxnSpPr/>
          <p:nvPr/>
        </p:nvCxnSpPr>
        <p:spPr>
          <a:xfrm flipH="1">
            <a:off x="6538900" y="3682359"/>
            <a:ext cx="565500" cy="96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g2c299f8e1f7_0_184"/>
          <p:cNvSpPr txBox="1"/>
          <p:nvPr/>
        </p:nvSpPr>
        <p:spPr>
          <a:xfrm>
            <a:off x="2757025" y="3129688"/>
            <a:ext cx="1269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*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9" name="Google Shape;279;g2c299f8e1f7_0_184"/>
          <p:cNvSpPr txBox="1"/>
          <p:nvPr/>
        </p:nvSpPr>
        <p:spPr>
          <a:xfrm>
            <a:off x="4439400" y="2547300"/>
            <a:ext cx="3313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3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2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vector[]={52,79,38};</a:t>
            </a:r>
            <a:endParaRPr sz="2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80" name="Google Shape;280;g2c299f8e1f7_0_184"/>
          <p:cNvSpPr txBox="1"/>
          <p:nvPr/>
        </p:nvSpPr>
        <p:spPr>
          <a:xfrm>
            <a:off x="4484750" y="3129688"/>
            <a:ext cx="1689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*(vector+1)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81" name="Google Shape;281;g2c299f8e1f7_0_184"/>
          <p:cNvSpPr txBox="1"/>
          <p:nvPr/>
        </p:nvSpPr>
        <p:spPr>
          <a:xfrm>
            <a:off x="7104400" y="3152350"/>
            <a:ext cx="1689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*(vector+2)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c299f8e1f7_0_219"/>
          <p:cNvSpPr txBox="1"/>
          <p:nvPr/>
        </p:nvSpPr>
        <p:spPr>
          <a:xfrm>
            <a:off x="319439" y="990221"/>
            <a:ext cx="847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 con funciones</a:t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t/>
            </a:r>
            <a:endParaRPr sz="42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7" name="Google Shape;287;g2c299f8e1f7_0_219"/>
          <p:cNvPicPr preferRelativeResize="0"/>
          <p:nvPr/>
        </p:nvPicPr>
        <p:blipFill rotWithShape="1">
          <a:blip r:embed="rId3">
            <a:alphaModFix/>
          </a:blip>
          <a:srcRect b="30668" l="23551" r="22740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2c299f8e1f7_0_21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9" name="Google Shape;289;g2c299f8e1f7_0_219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c299f8e1f7_0_21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91" name="Google Shape;291;g2c299f8e1f7_0_219"/>
          <p:cNvSpPr txBox="1"/>
          <p:nvPr/>
        </p:nvSpPr>
        <p:spPr>
          <a:xfrm>
            <a:off x="527950" y="2026725"/>
            <a:ext cx="8905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Para pasar vectores por 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parámetros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podemos hacerlo de dos maneras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92" name="Google Shape;292;g2c299f8e1f7_0_219"/>
          <p:cNvSpPr txBox="1"/>
          <p:nvPr/>
        </p:nvSpPr>
        <p:spPr>
          <a:xfrm>
            <a:off x="616875" y="2950200"/>
            <a:ext cx="476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void 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ingresar_valores( </a:t>
            </a: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d[ ], </a:t>
            </a: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n )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93" name="Google Shape;293;g2c299f8e1f7_0_219"/>
          <p:cNvSpPr txBox="1"/>
          <p:nvPr/>
        </p:nvSpPr>
        <p:spPr>
          <a:xfrm>
            <a:off x="5682575" y="2950200"/>
            <a:ext cx="4005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void 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ingresar_valores( </a:t>
            </a: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*d, </a:t>
            </a: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n )</a:t>
            </a:r>
            <a:endParaRPr/>
          </a:p>
        </p:txBody>
      </p:sp>
      <p:sp>
        <p:nvSpPr>
          <p:cNvPr id="294" name="Google Shape;294;g2c299f8e1f7_0_219"/>
          <p:cNvSpPr txBox="1"/>
          <p:nvPr/>
        </p:nvSpPr>
        <p:spPr>
          <a:xfrm>
            <a:off x="1006925" y="3673925"/>
            <a:ext cx="347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Las </a:t>
            </a:r>
            <a:r>
              <a:rPr lang="es-AR">
                <a:latin typeface="Saira"/>
                <a:ea typeface="Saira"/>
                <a:cs typeface="Saira"/>
                <a:sym typeface="Saira"/>
              </a:rPr>
              <a:t>función</a:t>
            </a:r>
            <a:r>
              <a:rPr lang="es-AR">
                <a:latin typeface="Saira"/>
                <a:ea typeface="Saira"/>
                <a:cs typeface="Saira"/>
                <a:sym typeface="Saira"/>
              </a:rPr>
              <a:t> recibe una copia de la dirección del vector y la dimensión. 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95" name="Google Shape;295;g2c299f8e1f7_0_219"/>
          <p:cNvSpPr txBox="1"/>
          <p:nvPr/>
        </p:nvSpPr>
        <p:spPr>
          <a:xfrm>
            <a:off x="5854925" y="3673925"/>
            <a:ext cx="347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Podemos utilizar notación de punteros para operar.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96" name="Google Shape;296;g2c299f8e1f7_0_219"/>
          <p:cNvSpPr txBox="1"/>
          <p:nvPr/>
        </p:nvSpPr>
        <p:spPr>
          <a:xfrm>
            <a:off x="616875" y="25548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ingresar_valores(vector);</a:t>
            </a:r>
            <a:endParaRPr/>
          </a:p>
        </p:txBody>
      </p:sp>
      <p:sp>
        <p:nvSpPr>
          <p:cNvPr id="297" name="Google Shape;297;g2c299f8e1f7_0_219"/>
          <p:cNvSpPr txBox="1"/>
          <p:nvPr/>
        </p:nvSpPr>
        <p:spPr>
          <a:xfrm>
            <a:off x="5718875" y="2554850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ingresar_valores(vector);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c1d2f75a92_0_314"/>
          <p:cNvSpPr txBox="1"/>
          <p:nvPr/>
        </p:nvSpPr>
        <p:spPr>
          <a:xfrm>
            <a:off x="319439" y="9414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Vectores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03" name="Google Shape;303;g2c1d2f75a92_0_314"/>
          <p:cNvPicPr preferRelativeResize="0"/>
          <p:nvPr/>
        </p:nvPicPr>
        <p:blipFill rotWithShape="1">
          <a:blip r:embed="rId3">
            <a:alphaModFix/>
          </a:blip>
          <a:srcRect b="30668" l="23551" r="22739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2c1d2f75a92_0_3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05" name="Google Shape;305;g2c1d2f75a92_0_31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2c1d2f75a92_0_3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7" name="Google Shape;307;g2c1d2f75a92_0_314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2c1d2f75a92_0_314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9" name="Google Shape;309;g2c1d2f75a92_0_314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2c1d2f75a92_0_314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2c1d2f75a92_0_314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12" name="Google Shape;312;g2c1d2f75a92_0_314"/>
          <p:cNvSpPr txBox="1"/>
          <p:nvPr/>
        </p:nvSpPr>
        <p:spPr>
          <a:xfrm>
            <a:off x="472875" y="1680400"/>
            <a:ext cx="4362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s-AR" sz="2900" u="none" cap="none" strike="noStrike">
                <a:solidFill>
                  <a:srgbClr val="4A86E8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Ejercicio integrador</a:t>
            </a:r>
            <a:endParaRPr b="1" i="0" sz="2900" u="none" cap="none" strike="noStrike">
              <a:solidFill>
                <a:srgbClr val="4A86E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13" name="Google Shape;313;g2c1d2f75a92_0_314"/>
          <p:cNvSpPr txBox="1"/>
          <p:nvPr/>
        </p:nvSpPr>
        <p:spPr>
          <a:xfrm>
            <a:off x="424150" y="2311600"/>
            <a:ext cx="977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D0D0D"/>
              </a:solidFill>
              <a:highlight>
                <a:srgbClr val="FFFFFF"/>
              </a:highlight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14" name="Google Shape;314;g2c1d2f75a92_0_314"/>
          <p:cNvSpPr txBox="1"/>
          <p:nvPr/>
        </p:nvSpPr>
        <p:spPr>
          <a:xfrm>
            <a:off x="424150" y="2504700"/>
            <a:ext cx="107763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AR" sz="13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Se requiere desarrollar un programa en C que permita al usuario interactuar con un vector de números enteros de tamaño 10. El programa debe presentar un menú con las siguientes opciones:</a:t>
            </a:r>
            <a:endParaRPr sz="13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Ingresar elementos al vector: El usuario podrá ingresar números enteros al vector uno por uno. Si se intenta ingresar más de 10 elementos, se mostrará un mensaje de error y no se aceptará más ingreso.</a:t>
            </a:r>
            <a:endParaRPr sz="13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Imprimir elementos del vector: El programa imprimirá los elementos almacenados en el vector.</a:t>
            </a:r>
            <a:endParaRPr sz="13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Calcular suma de elementos del vector: El programa calculará la suma de todos los elementos almacenados en el vector y mostrará el resultado.</a:t>
            </a:r>
            <a:endParaRPr sz="13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Encontrar el máximo del vector: El programa buscará y mostrará el valor máximo almacenado en el vector.</a:t>
            </a:r>
            <a:endParaRPr sz="13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Encontrar el mínimo del vector: El programa buscará y mostrará el valor mínimo almacenado en el vector.</a:t>
            </a:r>
            <a:endParaRPr sz="13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Calcular promedio de elementos del vector: El programa calculará el promedio de todos los elementos almacenados en el vector y mostrará el resultado.</a:t>
            </a:r>
            <a:endParaRPr sz="13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300"/>
              <a:buFont typeface="Saira"/>
              <a:buChar char="●"/>
            </a:pPr>
            <a:r>
              <a:rPr lang="es-AR" sz="13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Salir del programa.</a:t>
            </a:r>
            <a:endParaRPr sz="13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1f3006538ad_0_20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1f3006538ad_0_205"/>
          <p:cNvSpPr txBox="1"/>
          <p:nvPr>
            <p:ph idx="11" type="ftr"/>
          </p:nvPr>
        </p:nvSpPr>
        <p:spPr>
          <a:xfrm>
            <a:off x="2846238" y="2374225"/>
            <a:ext cx="64995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Próxima unidad: Vectores con cadenas de </a:t>
            </a:r>
            <a:r>
              <a:rPr lang="es-AR" sz="2000">
                <a:latin typeface="Saira"/>
                <a:ea typeface="Saira"/>
                <a:cs typeface="Saira"/>
                <a:sym typeface="Saira"/>
              </a:rPr>
              <a:t>caracteres</a:t>
            </a:r>
            <a:endParaRPr sz="2000"/>
          </a:p>
        </p:txBody>
      </p:sp>
      <p:pic>
        <p:nvPicPr>
          <p:cNvPr id="321" name="Google Shape;321;g1f3006538ad_0_20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5219014" y="3378025"/>
            <a:ext cx="1753976" cy="21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1f3006538ad_0_205"/>
          <p:cNvSpPr txBox="1"/>
          <p:nvPr>
            <p:ph idx="10" type="dt"/>
          </p:nvPr>
        </p:nvSpPr>
        <p:spPr>
          <a:xfrm>
            <a:off x="4439400" y="63133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2023-03-07T21:33:27Z</dcterms:created>
  <dc:creator>Carlos Sebastián Pedraza</dc:creator>
</cp:coreProperties>
</file>