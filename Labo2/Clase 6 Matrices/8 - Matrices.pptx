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6858000" cx="12192000"/>
  <p:notesSz cx="6858000" cy="9144000"/>
  <p:embeddedFontLst>
    <p:embeddedFont>
      <p:font typeface="Saira"/>
      <p:regular r:id="rId30"/>
      <p:bold r:id="rId31"/>
      <p:italic r:id="rId32"/>
      <p:boldItalic r:id="rId33"/>
    </p:embeddedFont>
    <p:embeddedFont>
      <p:font typeface="Saira Light"/>
      <p:regular r:id="rId34"/>
      <p:bold r:id="rId35"/>
      <p:italic r:id="rId36"/>
      <p:boldItalic r:id="rId37"/>
    </p:embeddedFont>
    <p:embeddedFont>
      <p:font typeface="Saira SemiBold"/>
      <p:regular r:id="rId38"/>
      <p:bold r:id="rId39"/>
      <p:italic r:id="rId40"/>
      <p:boldItalic r:id="rId41"/>
    </p:embeddedFont>
    <p:embeddedFont>
      <p:font typeface="Saira Medium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i7t8MsrVgbQX9WKiwjAkZGOLKy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airaSemiBold-italic.fntdata"/><Relationship Id="rId20" Type="http://schemas.openxmlformats.org/officeDocument/2006/relationships/slide" Target="slides/slide16.xml"/><Relationship Id="rId42" Type="http://schemas.openxmlformats.org/officeDocument/2006/relationships/font" Target="fonts/SairaMedium-regular.fntdata"/><Relationship Id="rId41" Type="http://schemas.openxmlformats.org/officeDocument/2006/relationships/font" Target="fonts/SairaSemiBold-boldItalic.fntdata"/><Relationship Id="rId22" Type="http://schemas.openxmlformats.org/officeDocument/2006/relationships/slide" Target="slides/slide18.xml"/><Relationship Id="rId44" Type="http://schemas.openxmlformats.org/officeDocument/2006/relationships/font" Target="fonts/SairaMedium-italic.fntdata"/><Relationship Id="rId21" Type="http://schemas.openxmlformats.org/officeDocument/2006/relationships/slide" Target="slides/slide17.xml"/><Relationship Id="rId43" Type="http://schemas.openxmlformats.org/officeDocument/2006/relationships/font" Target="fonts/SairaMedium-bold.fntdata"/><Relationship Id="rId24" Type="http://schemas.openxmlformats.org/officeDocument/2006/relationships/slide" Target="slides/slide20.xml"/><Relationship Id="rId46" Type="http://customschemas.google.com/relationships/presentationmetadata" Target="metadata"/><Relationship Id="rId23" Type="http://schemas.openxmlformats.org/officeDocument/2006/relationships/slide" Target="slides/slide19.xml"/><Relationship Id="rId45" Type="http://schemas.openxmlformats.org/officeDocument/2006/relationships/font" Target="fonts/SairaMedium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Saira-bold.fntdata"/><Relationship Id="rId30" Type="http://schemas.openxmlformats.org/officeDocument/2006/relationships/font" Target="fonts/Saira-regular.fntdata"/><Relationship Id="rId11" Type="http://schemas.openxmlformats.org/officeDocument/2006/relationships/slide" Target="slides/slide7.xml"/><Relationship Id="rId33" Type="http://schemas.openxmlformats.org/officeDocument/2006/relationships/font" Target="fonts/Saira-boldItalic.fntdata"/><Relationship Id="rId10" Type="http://schemas.openxmlformats.org/officeDocument/2006/relationships/slide" Target="slides/slide6.xml"/><Relationship Id="rId32" Type="http://schemas.openxmlformats.org/officeDocument/2006/relationships/font" Target="fonts/Saira-italic.fntdata"/><Relationship Id="rId13" Type="http://schemas.openxmlformats.org/officeDocument/2006/relationships/slide" Target="slides/slide9.xml"/><Relationship Id="rId35" Type="http://schemas.openxmlformats.org/officeDocument/2006/relationships/font" Target="fonts/SairaLight-bold.fntdata"/><Relationship Id="rId12" Type="http://schemas.openxmlformats.org/officeDocument/2006/relationships/slide" Target="slides/slide8.xml"/><Relationship Id="rId34" Type="http://schemas.openxmlformats.org/officeDocument/2006/relationships/font" Target="fonts/SairaLight-regular.fntdata"/><Relationship Id="rId15" Type="http://schemas.openxmlformats.org/officeDocument/2006/relationships/slide" Target="slides/slide11.xml"/><Relationship Id="rId37" Type="http://schemas.openxmlformats.org/officeDocument/2006/relationships/font" Target="fonts/SairaLight-boldItalic.fntdata"/><Relationship Id="rId14" Type="http://schemas.openxmlformats.org/officeDocument/2006/relationships/slide" Target="slides/slide10.xml"/><Relationship Id="rId36" Type="http://schemas.openxmlformats.org/officeDocument/2006/relationships/font" Target="fonts/SairaLight-italic.fntdata"/><Relationship Id="rId17" Type="http://schemas.openxmlformats.org/officeDocument/2006/relationships/slide" Target="slides/slide13.xml"/><Relationship Id="rId39" Type="http://schemas.openxmlformats.org/officeDocument/2006/relationships/font" Target="fonts/SairaSemiBold-bold.fntdata"/><Relationship Id="rId16" Type="http://schemas.openxmlformats.org/officeDocument/2006/relationships/slide" Target="slides/slide12.xml"/><Relationship Id="rId38" Type="http://schemas.openxmlformats.org/officeDocument/2006/relationships/font" Target="fonts/SairaSemiBold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2ce82f4e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1f2ce82f4ef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54769c84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1f54769c84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f54769c84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0" name="Google Shape;110;g1f54769c84a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f3174458e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1f3174458ef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c94c44a4c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2c94c44a4c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c299f8e1f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2c299f8e1f7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c94c44a4c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2c94c44a4ca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c299f8e1f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2c299f8e1f7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94c44a4c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g2c94c44a4ca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c94c44a4c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2c94c44a4ca_0_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c299f8e1f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2c299f8e1f7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c299f8e1f7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2c299f8e1f7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c299f8e1f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g2c299f8e1f7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c94c44a4c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g2c94c44a4ca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c299f8e1f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g2c299f8e1f7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c94c44a4c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g2c94c44a4ca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c94c44a4c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2c94c44a4ca_0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c94c44a4ca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g2c94c44a4ca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c94c44a4c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g2c94c44a4ca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c94c44a4ca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g2c94c44a4ca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c94c44a4ca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g2c94c44a4ca_0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c94c44a4ca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4" name="Google Shape;354;g2c94c44a4ca_0_2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c1d2f75a92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9" name="Google Shape;369;g2c1d2f75a92_0_3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f3006538ad_0_2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g1f3006538ad_0_2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1.jp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1.jp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1.jp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Relationship Id="rId4" Type="http://schemas.openxmlformats.org/officeDocument/2006/relationships/image" Target="../media/image1.jpg"/><Relationship Id="rId5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52814" y="1014596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Laboratorio de computación II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6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4272150" y="2200100"/>
            <a:ext cx="3647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Unidad 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8</a:t>
            </a: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- 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09850" y="3169900"/>
            <a:ext cx="69723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2ce82f4ef_0_5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b="0" i="0" lang="es-AR" sz="36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¿Por qué </a:t>
            </a: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se usan matrices</a:t>
            </a:r>
            <a:r>
              <a:rPr b="0" i="0" lang="es-AR" sz="36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?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5" name="Google Shape;95;g1f2ce82f4ef_0_5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1f2ce82f4ef_0_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97" name="Google Shape;97;g1f2ce82f4ef_0_5"/>
          <p:cNvPicPr preferRelativeResize="0"/>
          <p:nvPr/>
        </p:nvPicPr>
        <p:blipFill rotWithShape="1">
          <a:blip r:embed="rId4">
            <a:alphaModFix/>
          </a:blip>
          <a:srcRect b="0" l="27394" r="27820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1f2ce82f4ef_0_5"/>
          <p:cNvSpPr txBox="1"/>
          <p:nvPr/>
        </p:nvSpPr>
        <p:spPr>
          <a:xfrm>
            <a:off x="1126800" y="2759588"/>
            <a:ext cx="9938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En el lenguaje de programación C, las matrices son especialmente útiles para representar datos estructurados de manera eficiente y para realizar operaciones matriciales</a:t>
            </a:r>
            <a:endParaRPr sz="28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f54769c84a_0_8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 como vector de vectores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4" name="Google Shape;104;g1f54769c84a_0_8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1f54769c84a_0_8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06" name="Google Shape;106;g1f54769c84a_0_8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1f54769c84a_0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4900" y="2326137"/>
            <a:ext cx="8242200" cy="31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f54769c84a_0_17"/>
          <p:cNvSpPr txBox="1"/>
          <p:nvPr/>
        </p:nvSpPr>
        <p:spPr>
          <a:xfrm>
            <a:off x="319439" y="990221"/>
            <a:ext cx="847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36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 como vector de vectores</a:t>
            </a:r>
            <a:endParaRPr b="0" i="0" sz="36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13" name="Google Shape;113;g1f54769c84a_0_17"/>
          <p:cNvPicPr preferRelativeResize="0"/>
          <p:nvPr/>
        </p:nvPicPr>
        <p:blipFill rotWithShape="1">
          <a:blip r:embed="rId3">
            <a:alphaModFix/>
          </a:blip>
          <a:srcRect b="30671" l="23552" r="22736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1f54769c84a_0_17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15" name="Google Shape;115;g1f54769c84a_0_17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1f54769c84a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3038" y="2261421"/>
            <a:ext cx="9305925" cy="37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1f54769c84a_0_17"/>
          <p:cNvSpPr txBox="1"/>
          <p:nvPr/>
        </p:nvSpPr>
        <p:spPr>
          <a:xfrm>
            <a:off x="4156200" y="1708900"/>
            <a:ext cx="38796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AR" sz="35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[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3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]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[10]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;</a:t>
            </a:r>
            <a:endParaRPr b="0" i="0" sz="35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f3174458ef_0_26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3" name="Google Shape;123;g1f3174458ef_0_26"/>
          <p:cNvPicPr preferRelativeResize="0"/>
          <p:nvPr/>
        </p:nvPicPr>
        <p:blipFill rotWithShape="1">
          <a:blip r:embed="rId3">
            <a:alphaModFix/>
          </a:blip>
          <a:srcRect b="30671" l="23551" r="22738" t="29910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1f3174458ef_0_26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25" name="Google Shape;125;g1f3174458ef_0_26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1f3174458ef_0_26"/>
          <p:cNvSpPr txBox="1"/>
          <p:nvPr/>
        </p:nvSpPr>
        <p:spPr>
          <a:xfrm>
            <a:off x="4020075" y="3089588"/>
            <a:ext cx="7016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AR" sz="35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[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10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]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[25]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;</a:t>
            </a:r>
            <a:endParaRPr b="0" i="0" sz="35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27" name="Google Shape;127;g1f3174458ef_0_26"/>
          <p:cNvSpPr/>
          <p:nvPr/>
        </p:nvSpPr>
        <p:spPr>
          <a:xfrm rot="5400000">
            <a:off x="6283700" y="3603207"/>
            <a:ext cx="266700" cy="525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f3174458ef_0_26"/>
          <p:cNvSpPr txBox="1"/>
          <p:nvPr/>
        </p:nvSpPr>
        <p:spPr>
          <a:xfrm>
            <a:off x="5712675" y="4038300"/>
            <a:ext cx="233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Tamaño fi</a:t>
            </a:r>
            <a:r>
              <a:rPr lang="es-AR" sz="28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la</a:t>
            </a:r>
            <a:endParaRPr b="0" i="0" sz="2800" u="none" cap="none" strike="noStrike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sp>
        <p:nvSpPr>
          <p:cNvPr id="129" name="Google Shape;129;g1f3174458ef_0_26"/>
          <p:cNvSpPr/>
          <p:nvPr/>
        </p:nvSpPr>
        <p:spPr>
          <a:xfrm rot="-5400000">
            <a:off x="5185875" y="2593514"/>
            <a:ext cx="300600" cy="100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1f3174458ef_0_26"/>
          <p:cNvSpPr txBox="1"/>
          <p:nvPr/>
        </p:nvSpPr>
        <p:spPr>
          <a:xfrm>
            <a:off x="4609700" y="2327863"/>
            <a:ext cx="162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Nombre</a:t>
            </a:r>
            <a:endParaRPr b="0" i="0" sz="2800" u="none" cap="none" strike="noStrike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sp>
        <p:nvSpPr>
          <p:cNvPr id="131" name="Google Shape;131;g1f3174458ef_0_26"/>
          <p:cNvSpPr/>
          <p:nvPr/>
        </p:nvSpPr>
        <p:spPr>
          <a:xfrm rot="5400000">
            <a:off x="4278950" y="3603207"/>
            <a:ext cx="266700" cy="525300"/>
          </a:xfrm>
          <a:prstGeom prst="rightBrace">
            <a:avLst>
              <a:gd fmla="val 49241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1f3174458ef_0_26"/>
          <p:cNvSpPr txBox="1"/>
          <p:nvPr/>
        </p:nvSpPr>
        <p:spPr>
          <a:xfrm>
            <a:off x="3067850" y="4038288"/>
            <a:ext cx="268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Tipo de datos</a:t>
            </a:r>
            <a:endParaRPr b="0" i="0" sz="2800" u="none" cap="none" strike="noStrike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sp>
        <p:nvSpPr>
          <p:cNvPr id="133" name="Google Shape;133;g1f3174458ef_0_26"/>
          <p:cNvSpPr txBox="1"/>
          <p:nvPr/>
        </p:nvSpPr>
        <p:spPr>
          <a:xfrm>
            <a:off x="6232700" y="2327513"/>
            <a:ext cx="385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Tamaño Columna</a:t>
            </a:r>
            <a:endParaRPr sz="28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sp>
        <p:nvSpPr>
          <p:cNvPr id="134" name="Google Shape;134;g1f3174458ef_0_26"/>
          <p:cNvSpPr/>
          <p:nvPr/>
        </p:nvSpPr>
        <p:spPr>
          <a:xfrm rot="-5400000">
            <a:off x="7058725" y="2760325"/>
            <a:ext cx="300600" cy="666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c94c44a4ca_0_8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0" name="Google Shape;140;g2c94c44a4ca_0_8"/>
          <p:cNvPicPr preferRelativeResize="0"/>
          <p:nvPr/>
        </p:nvPicPr>
        <p:blipFill rotWithShape="1">
          <a:blip r:embed="rId3">
            <a:alphaModFix/>
          </a:blip>
          <a:srcRect b="30668" l="23552" r="22736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2c94c44a4ca_0_8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42" name="Google Shape;142;g2c94c44a4ca_0_8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g2c94c44a4ca_0_8"/>
          <p:cNvSpPr txBox="1"/>
          <p:nvPr/>
        </p:nvSpPr>
        <p:spPr>
          <a:xfrm>
            <a:off x="1070625" y="3213363"/>
            <a:ext cx="7016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AR" sz="35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[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2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]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[3]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;</a:t>
            </a:r>
            <a:endParaRPr b="0" i="0" sz="35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44" name="Google Shape;144;g2c94c44a4ca_0_8"/>
          <p:cNvSpPr/>
          <p:nvPr/>
        </p:nvSpPr>
        <p:spPr>
          <a:xfrm rot="5400000">
            <a:off x="3310300" y="3761850"/>
            <a:ext cx="255600" cy="466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2c94c44a4ca_0_8"/>
          <p:cNvSpPr txBox="1"/>
          <p:nvPr/>
        </p:nvSpPr>
        <p:spPr>
          <a:xfrm>
            <a:off x="2763225" y="4162075"/>
            <a:ext cx="233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AR" sz="28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Semana</a:t>
            </a:r>
            <a:endParaRPr b="0" i="0" sz="2800" u="none" cap="none" strike="noStrike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sp>
        <p:nvSpPr>
          <p:cNvPr id="146" name="Google Shape;146;g2c94c44a4ca_0_8"/>
          <p:cNvSpPr/>
          <p:nvPr/>
        </p:nvSpPr>
        <p:spPr>
          <a:xfrm rot="-5400000">
            <a:off x="2236425" y="2717289"/>
            <a:ext cx="300600" cy="100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2c94c44a4ca_0_8"/>
          <p:cNvSpPr txBox="1"/>
          <p:nvPr/>
        </p:nvSpPr>
        <p:spPr>
          <a:xfrm>
            <a:off x="1660250" y="2451638"/>
            <a:ext cx="162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Nombre</a:t>
            </a:r>
            <a:endParaRPr b="0" i="0" sz="2800" u="none" cap="none" strike="noStrike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sp>
        <p:nvSpPr>
          <p:cNvPr id="148" name="Google Shape;148;g2c94c44a4ca_0_8"/>
          <p:cNvSpPr/>
          <p:nvPr/>
        </p:nvSpPr>
        <p:spPr>
          <a:xfrm rot="5400000">
            <a:off x="1329500" y="3726982"/>
            <a:ext cx="266700" cy="525300"/>
          </a:xfrm>
          <a:prstGeom prst="rightBrace">
            <a:avLst>
              <a:gd fmla="val 49241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2c94c44a4ca_0_8"/>
          <p:cNvSpPr txBox="1"/>
          <p:nvPr/>
        </p:nvSpPr>
        <p:spPr>
          <a:xfrm>
            <a:off x="118400" y="4162063"/>
            <a:ext cx="268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Tipo de datos</a:t>
            </a:r>
            <a:endParaRPr b="0" i="0" sz="2800" u="none" cap="none" strike="noStrike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sp>
        <p:nvSpPr>
          <p:cNvPr id="150" name="Google Shape;150;g2c94c44a4ca_0_8"/>
          <p:cNvSpPr txBox="1"/>
          <p:nvPr/>
        </p:nvSpPr>
        <p:spPr>
          <a:xfrm>
            <a:off x="3283250" y="2451650"/>
            <a:ext cx="175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800">
                <a:solidFill>
                  <a:schemeClr val="dk1"/>
                </a:solidFill>
                <a:latin typeface="Saira Light"/>
                <a:ea typeface="Saira Light"/>
                <a:cs typeface="Saira Light"/>
                <a:sym typeface="Saira Light"/>
              </a:rPr>
              <a:t>Producto</a:t>
            </a:r>
            <a:endParaRPr sz="2800">
              <a:solidFill>
                <a:schemeClr val="dk1"/>
              </a:solidFill>
              <a:latin typeface="Saira Light"/>
              <a:ea typeface="Saira Light"/>
              <a:cs typeface="Saira Light"/>
              <a:sym typeface="Saira Light"/>
            </a:endParaRPr>
          </a:p>
        </p:txBody>
      </p:sp>
      <p:sp>
        <p:nvSpPr>
          <p:cNvPr id="151" name="Google Shape;151;g2c94c44a4ca_0_8"/>
          <p:cNvSpPr/>
          <p:nvPr/>
        </p:nvSpPr>
        <p:spPr>
          <a:xfrm rot="-5400000">
            <a:off x="3888650" y="2927300"/>
            <a:ext cx="263700" cy="5805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2c94c44a4ca_0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4512" y="2165638"/>
            <a:ext cx="5517173" cy="27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c299f8e1f7_0_14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58" name="Google Shape;158;g2c299f8e1f7_0_14"/>
          <p:cNvPicPr preferRelativeResize="0"/>
          <p:nvPr/>
        </p:nvPicPr>
        <p:blipFill rotWithShape="1">
          <a:blip r:embed="rId3">
            <a:alphaModFix/>
          </a:blip>
          <a:srcRect b="30668" l="23551" r="22739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2c299f8e1f7_0_1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60" name="Google Shape;160;g2c299f8e1f7_0_14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2c299f8e1f7_0_1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2" name="Google Shape;162;g2c299f8e1f7_0_14"/>
          <p:cNvSpPr txBox="1"/>
          <p:nvPr/>
        </p:nvSpPr>
        <p:spPr>
          <a:xfrm>
            <a:off x="319450" y="2046400"/>
            <a:ext cx="1071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AR" sz="1900" u="none" cap="none" strike="noStrik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Puede realizarse en el momento de la declaración.</a:t>
            </a:r>
            <a:endParaRPr b="0" i="0" sz="19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3" name="Google Shape;163;g2c299f8e1f7_0_14"/>
          <p:cNvSpPr txBox="1"/>
          <p:nvPr/>
        </p:nvSpPr>
        <p:spPr>
          <a:xfrm>
            <a:off x="3041525" y="2762225"/>
            <a:ext cx="7312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AR" sz="35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[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2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][3]={52,79,34,49,7,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4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};</a:t>
            </a:r>
            <a:endParaRPr b="0" i="0" sz="35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4" name="Google Shape;164;g2c299f8e1f7_0_14"/>
          <p:cNvSpPr txBox="1"/>
          <p:nvPr/>
        </p:nvSpPr>
        <p:spPr>
          <a:xfrm>
            <a:off x="319575" y="3795175"/>
            <a:ext cx="10716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latin typeface="Saira"/>
                <a:ea typeface="Saira"/>
                <a:cs typeface="Saira"/>
                <a:sym typeface="Saira"/>
              </a:rPr>
              <a:t>También</a:t>
            </a:r>
            <a:r>
              <a:rPr lang="es-AR" sz="1900">
                <a:latin typeface="Saira"/>
                <a:ea typeface="Saira"/>
                <a:cs typeface="Saira"/>
                <a:sym typeface="Saira"/>
              </a:rPr>
              <a:t> puede declararse de la siguiente manera</a:t>
            </a:r>
            <a:endParaRPr b="0" i="0" sz="19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65" name="Google Shape;165;g2c299f8e1f7_0_14"/>
          <p:cNvSpPr txBox="1"/>
          <p:nvPr/>
        </p:nvSpPr>
        <p:spPr>
          <a:xfrm>
            <a:off x="2043000" y="4280825"/>
            <a:ext cx="8106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matriz[2][3]={{52,79,34},{49,7,4}};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sz="35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c94c44a4ca_0_25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71" name="Google Shape;171;g2c94c44a4ca_0_25"/>
          <p:cNvPicPr preferRelativeResize="0"/>
          <p:nvPr/>
        </p:nvPicPr>
        <p:blipFill rotWithShape="1">
          <a:blip r:embed="rId3">
            <a:alphaModFix/>
          </a:blip>
          <a:srcRect b="30665" l="23551" r="22740" t="29912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2c94c44a4ca_0_2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73" name="Google Shape;173;g2c94c44a4ca_0_25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2c94c44a4ca_0_2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75" name="Google Shape;175;g2c94c44a4ca_0_25"/>
          <p:cNvSpPr txBox="1"/>
          <p:nvPr/>
        </p:nvSpPr>
        <p:spPr>
          <a:xfrm>
            <a:off x="319450" y="2046400"/>
            <a:ext cx="1071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1900">
                <a:latin typeface="Saira"/>
                <a:ea typeface="Saira"/>
                <a:cs typeface="Saira"/>
                <a:sym typeface="Saira"/>
              </a:rPr>
              <a:t>Si se </a:t>
            </a:r>
            <a:r>
              <a:rPr lang="es-AR" sz="1900">
                <a:latin typeface="Saira"/>
                <a:ea typeface="Saira"/>
                <a:cs typeface="Saira"/>
                <a:sym typeface="Saira"/>
              </a:rPr>
              <a:t>omitieron</a:t>
            </a:r>
            <a:r>
              <a:rPr lang="es-AR" sz="1900">
                <a:latin typeface="Saira"/>
                <a:ea typeface="Saira"/>
                <a:cs typeface="Saira"/>
                <a:sym typeface="Saira"/>
              </a:rPr>
              <a:t> datos se rellena con ‘0’</a:t>
            </a:r>
            <a:endParaRPr b="0" i="0" sz="19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76" name="Google Shape;176;g2c94c44a4ca_0_25"/>
          <p:cNvSpPr txBox="1"/>
          <p:nvPr/>
        </p:nvSpPr>
        <p:spPr>
          <a:xfrm>
            <a:off x="3000275" y="3386050"/>
            <a:ext cx="73125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AR" sz="35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[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2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][3]={52,79,34};</a:t>
            </a:r>
            <a:endParaRPr b="0" i="0" sz="35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c299f8e1f7_0_35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82" name="Google Shape;182;g2c299f8e1f7_0_35"/>
          <p:cNvPicPr preferRelativeResize="0"/>
          <p:nvPr/>
        </p:nvPicPr>
        <p:blipFill rotWithShape="1">
          <a:blip r:embed="rId3">
            <a:alphaModFix/>
          </a:blip>
          <a:srcRect b="30668" l="23551" r="22739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2c299f8e1f7_0_3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84" name="Google Shape;184;g2c299f8e1f7_0_35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2c299f8e1f7_0_3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6" name="Google Shape;186;g2c299f8e1f7_0_35"/>
          <p:cNvSpPr txBox="1"/>
          <p:nvPr/>
        </p:nvSpPr>
        <p:spPr>
          <a:xfrm>
            <a:off x="319450" y="2046400"/>
            <a:ext cx="10716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AR" sz="19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NO </a:t>
            </a:r>
            <a:r>
              <a:rPr b="0" i="0" lang="es-AR" sz="1900" u="none" cap="none" strike="noStrik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se puede inicializar </a:t>
            </a:r>
            <a:r>
              <a:rPr lang="es-AR" sz="1900">
                <a:latin typeface="Saira"/>
                <a:ea typeface="Saira"/>
                <a:cs typeface="Saira"/>
                <a:sym typeface="Saira"/>
              </a:rPr>
              <a:t>matrices</a:t>
            </a:r>
            <a:r>
              <a:rPr b="0" i="0" lang="es-AR" sz="1900" u="none" cap="none" strike="noStrike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 con más elementos de los declarados en la dimensión</a:t>
            </a:r>
            <a:endParaRPr b="0" i="0" sz="19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7" name="Google Shape;187;g2c299f8e1f7_0_35"/>
          <p:cNvSpPr txBox="1"/>
          <p:nvPr/>
        </p:nvSpPr>
        <p:spPr>
          <a:xfrm>
            <a:off x="1653025" y="2815900"/>
            <a:ext cx="8700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matriz[2][3]={52,79,34,42,12,23,412};</a:t>
            </a:r>
            <a:endParaRPr sz="35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8" name="Google Shape;188;g2c299f8e1f7_0_35"/>
          <p:cNvSpPr txBox="1"/>
          <p:nvPr/>
        </p:nvSpPr>
        <p:spPr>
          <a:xfrm>
            <a:off x="319450" y="3875325"/>
            <a:ext cx="10624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NO 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se puede inicializar una matriz luego de la declaración</a:t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89" name="Google Shape;189;g2c299f8e1f7_0_35"/>
          <p:cNvSpPr txBox="1"/>
          <p:nvPr/>
        </p:nvSpPr>
        <p:spPr>
          <a:xfrm>
            <a:off x="2973075" y="4355300"/>
            <a:ext cx="5895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matriz[2][3];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={52,79,34,42,12,23};</a:t>
            </a:r>
            <a:endParaRPr sz="35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c94c44a4ca_0_41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95" name="Google Shape;195;g2c94c44a4ca_0_41"/>
          <p:cNvPicPr preferRelativeResize="0"/>
          <p:nvPr/>
        </p:nvPicPr>
        <p:blipFill rotWithShape="1">
          <a:blip r:embed="rId3">
            <a:alphaModFix/>
          </a:blip>
          <a:srcRect b="30665" l="23551" r="22740" t="29912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g2c94c44a4ca_0_4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197" name="Google Shape;197;g2c94c44a4ca_0_41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2c94c44a4ca_0_4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199" name="Google Shape;199;g2c94c44a4ca_0_41"/>
          <p:cNvSpPr txBox="1"/>
          <p:nvPr/>
        </p:nvSpPr>
        <p:spPr>
          <a:xfrm>
            <a:off x="4169400" y="2408950"/>
            <a:ext cx="38532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matriz[2][3];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matriz[0][0]=1;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matriz[0][1]=63;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matriz[0][2]=29;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matriz[1][0]=78;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matriz[1][1]=59;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00" name="Google Shape;200;g2c94c44a4ca_0_41"/>
          <p:cNvSpPr txBox="1"/>
          <p:nvPr/>
        </p:nvSpPr>
        <p:spPr>
          <a:xfrm>
            <a:off x="319450" y="1729125"/>
            <a:ext cx="10716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2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Se pueden </a:t>
            </a:r>
            <a:r>
              <a:rPr lang="es-AR" sz="2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inicializar</a:t>
            </a:r>
            <a:r>
              <a:rPr lang="es-AR" sz="2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valores de la siguiente manera:</a:t>
            </a:r>
            <a:endParaRPr b="0" i="0" sz="23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c94c44a4ca_0_62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06" name="Google Shape;206;g2c94c44a4ca_0_62"/>
          <p:cNvPicPr preferRelativeResize="0"/>
          <p:nvPr/>
        </p:nvPicPr>
        <p:blipFill rotWithShape="1">
          <a:blip r:embed="rId3">
            <a:alphaModFix/>
          </a:blip>
          <a:srcRect b="30665" l="23551" r="22740" t="29912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2c94c44a4ca_0_6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08" name="Google Shape;208;g2c94c44a4ca_0_62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2c94c44a4ca_0_6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10" name="Google Shape;210;g2c94c44a4ca_0_62"/>
          <p:cNvSpPr txBox="1"/>
          <p:nvPr/>
        </p:nvSpPr>
        <p:spPr>
          <a:xfrm>
            <a:off x="2127475" y="2718350"/>
            <a:ext cx="7568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matriz[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][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3]=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{52,79,34,42,12,23};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11" name="Google Shape;211;g2c94c44a4ca_0_62"/>
          <p:cNvSpPr txBox="1"/>
          <p:nvPr/>
        </p:nvSpPr>
        <p:spPr>
          <a:xfrm>
            <a:off x="401950" y="1966325"/>
            <a:ext cx="10716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23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Se puede omitir la primera dimensión si se inicializa en la declaración</a:t>
            </a:r>
            <a:endParaRPr sz="23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c299f8e1f7_0_79"/>
          <p:cNvSpPr/>
          <p:nvPr/>
        </p:nvSpPr>
        <p:spPr>
          <a:xfrm>
            <a:off x="2430550" y="3581025"/>
            <a:ext cx="4109400" cy="581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2c299f8e1f7_0_79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18" name="Google Shape;218;g2c299f8e1f7_0_79"/>
          <p:cNvPicPr preferRelativeResize="0"/>
          <p:nvPr/>
        </p:nvPicPr>
        <p:blipFill rotWithShape="1">
          <a:blip r:embed="rId3">
            <a:alphaModFix/>
          </a:blip>
          <a:srcRect b="30668" l="23551" r="22739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2c299f8e1f7_0_79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20" name="Google Shape;220;g2c299f8e1f7_0_79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2c299f8e1f7_0_79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2" name="Google Shape;222;g2c299f8e1f7_0_79"/>
          <p:cNvSpPr txBox="1"/>
          <p:nvPr/>
        </p:nvSpPr>
        <p:spPr>
          <a:xfrm>
            <a:off x="537175" y="1729125"/>
            <a:ext cx="10716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AR" sz="1900" u="none" cap="none" strike="noStrike">
                <a:solidFill>
                  <a:srgbClr val="FF0000"/>
                </a:solidFill>
                <a:latin typeface="Saira SemiBold"/>
                <a:ea typeface="Saira SemiBold"/>
                <a:cs typeface="Saira SemiBold"/>
                <a:sym typeface="Saira SemiBold"/>
              </a:rPr>
              <a:t>NO</a:t>
            </a:r>
            <a:r>
              <a:rPr b="0" i="0" lang="es-AR" sz="19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se pueden accedera todos los elementos de una 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 </a:t>
            </a:r>
            <a:r>
              <a:rPr b="0" i="0" lang="es-AR" sz="19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 la vez</a:t>
            </a:r>
            <a:endParaRPr b="0" i="0" sz="19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3" name="Google Shape;223;g2c299f8e1f7_0_79"/>
          <p:cNvSpPr txBox="1"/>
          <p:nvPr/>
        </p:nvSpPr>
        <p:spPr>
          <a:xfrm>
            <a:off x="2387425" y="2361475"/>
            <a:ext cx="7016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AR" sz="35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[2][2]={52,79,38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,4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};</a:t>
            </a:r>
            <a:endParaRPr b="0" i="0" sz="35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AR" sz="35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otra_matriz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[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2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][2];</a:t>
            </a:r>
            <a:endParaRPr b="0" i="0" sz="35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otra_matriz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=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;</a:t>
            </a:r>
            <a:endParaRPr b="0" i="0" sz="35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4" name="Google Shape;224;g2c299f8e1f7_0_79"/>
          <p:cNvSpPr txBox="1"/>
          <p:nvPr/>
        </p:nvSpPr>
        <p:spPr>
          <a:xfrm>
            <a:off x="6738250" y="3633225"/>
            <a:ext cx="30000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-AR" sz="19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MAL</a:t>
            </a:r>
            <a:endParaRPr b="1" i="0" sz="14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5" name="Google Shape;225;g2c299f8e1f7_0_79"/>
          <p:cNvSpPr txBox="1"/>
          <p:nvPr/>
        </p:nvSpPr>
        <p:spPr>
          <a:xfrm>
            <a:off x="580725" y="4470100"/>
            <a:ext cx="10716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AR" sz="1900" u="none" cap="none" strike="noStrike">
                <a:solidFill>
                  <a:srgbClr val="00B050"/>
                </a:solidFill>
                <a:latin typeface="Saira SemiBold"/>
                <a:ea typeface="Saira SemiBold"/>
                <a:cs typeface="Saira SemiBold"/>
                <a:sym typeface="Saira SemiBold"/>
              </a:rPr>
              <a:t>SI</a:t>
            </a:r>
            <a:r>
              <a:rPr b="0" i="0" lang="es-AR" sz="1900" u="none" cap="none" strike="noStrike">
                <a:solidFill>
                  <a:srgbClr val="FF0000"/>
                </a:solidFill>
                <a:latin typeface="Saira SemiBold"/>
                <a:ea typeface="Saira SemiBold"/>
                <a:cs typeface="Saira SemiBold"/>
                <a:sym typeface="Saira SemiBold"/>
              </a:rPr>
              <a:t> </a:t>
            </a:r>
            <a:r>
              <a:rPr b="0" i="0" lang="es-AR" sz="19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se pueden acceder a los elementos de un vector de uno en uno</a:t>
            </a:r>
            <a:endParaRPr b="0" i="0" sz="19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26" name="Google Shape;226;g2c299f8e1f7_0_79"/>
          <p:cNvSpPr txBox="1"/>
          <p:nvPr/>
        </p:nvSpPr>
        <p:spPr>
          <a:xfrm>
            <a:off x="3028025" y="5047600"/>
            <a:ext cx="6260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otra_matriz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[1][1]=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[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0][0]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c299f8e1f7_0_102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32" name="Google Shape;232;g2c299f8e1f7_0_102"/>
          <p:cNvPicPr preferRelativeResize="0"/>
          <p:nvPr/>
        </p:nvPicPr>
        <p:blipFill rotWithShape="1">
          <a:blip r:embed="rId3">
            <a:alphaModFix/>
          </a:blip>
          <a:srcRect b="30668" l="23551" r="22739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2c299f8e1f7_0_10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34" name="Google Shape;234;g2c299f8e1f7_0_102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2c299f8e1f7_0_10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36" name="Google Shape;236;g2c299f8e1f7_0_102"/>
          <p:cNvSpPr txBox="1"/>
          <p:nvPr/>
        </p:nvSpPr>
        <p:spPr>
          <a:xfrm>
            <a:off x="455500" y="1990450"/>
            <a:ext cx="720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AR" sz="19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Acceso a elementos de 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la matriz</a:t>
            </a:r>
            <a:endParaRPr b="0" i="0" sz="19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37" name="Google Shape;237;g2c299f8e1f7_0_102"/>
          <p:cNvSpPr txBox="1"/>
          <p:nvPr/>
        </p:nvSpPr>
        <p:spPr>
          <a:xfrm>
            <a:off x="3865175" y="2615925"/>
            <a:ext cx="64374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[</a:t>
            </a:r>
            <a:r>
              <a:rPr lang="es-AR" sz="3500">
                <a:solidFill>
                  <a:srgbClr val="00B050"/>
                </a:solidFill>
                <a:latin typeface="Saira"/>
                <a:ea typeface="Saira"/>
                <a:cs typeface="Saira"/>
                <a:sym typeface="Saira"/>
              </a:rPr>
              <a:t>pos_fila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][</a:t>
            </a:r>
            <a:r>
              <a:rPr b="0" i="0" lang="es-AR" sz="3500" u="none" cap="none" strike="noStrike">
                <a:solidFill>
                  <a:srgbClr val="00B050"/>
                </a:solidFill>
                <a:latin typeface="Saira"/>
                <a:ea typeface="Saira"/>
                <a:cs typeface="Saira"/>
                <a:sym typeface="Saira"/>
              </a:rPr>
              <a:t>pos_columna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]</a:t>
            </a:r>
            <a:endParaRPr b="0" i="0" sz="35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38" name="Google Shape;238;g2c299f8e1f7_0_102"/>
          <p:cNvSpPr/>
          <p:nvPr/>
        </p:nvSpPr>
        <p:spPr>
          <a:xfrm rot="5400000">
            <a:off x="5961225" y="2662450"/>
            <a:ext cx="387900" cy="1611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2c299f8e1f7_0_102"/>
          <p:cNvSpPr txBox="1"/>
          <p:nvPr/>
        </p:nvSpPr>
        <p:spPr>
          <a:xfrm>
            <a:off x="2989800" y="3780375"/>
            <a:ext cx="6000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Cualquier valor entero o una expresion que de como resultado un valor entero 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40" name="Google Shape;240;g2c299f8e1f7_0_102"/>
          <p:cNvSpPr/>
          <p:nvPr/>
        </p:nvSpPr>
        <p:spPr>
          <a:xfrm rot="5400000">
            <a:off x="8352675" y="2106300"/>
            <a:ext cx="387900" cy="2645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c299f8e1f7_0_121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46" name="Google Shape;246;g2c299f8e1f7_0_121"/>
          <p:cNvPicPr preferRelativeResize="0"/>
          <p:nvPr/>
        </p:nvPicPr>
        <p:blipFill rotWithShape="1">
          <a:blip r:embed="rId3">
            <a:alphaModFix/>
          </a:blip>
          <a:srcRect b="30668" l="23551" r="22739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2c299f8e1f7_0_12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48" name="Google Shape;248;g2c299f8e1f7_0_121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2c299f8e1f7_0_121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50" name="Google Shape;250;g2c299f8e1f7_0_121"/>
          <p:cNvSpPr txBox="1"/>
          <p:nvPr/>
        </p:nvSpPr>
        <p:spPr>
          <a:xfrm>
            <a:off x="445450" y="2027913"/>
            <a:ext cx="720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2400">
                <a:solidFill>
                  <a:srgbClr val="00B050"/>
                </a:solidFill>
                <a:latin typeface="Saira Medium"/>
                <a:ea typeface="Saira Medium"/>
                <a:cs typeface="Saira Medium"/>
                <a:sym typeface="Saira Medium"/>
              </a:rPr>
              <a:t>Ingreso de datos</a:t>
            </a:r>
            <a:endParaRPr i="0" sz="2400" u="none" cap="none" strike="noStrike">
              <a:solidFill>
                <a:srgbClr val="00B050"/>
              </a:solidFill>
              <a:latin typeface="Saira Medium"/>
              <a:ea typeface="Saira Medium"/>
              <a:cs typeface="Saira Medium"/>
              <a:sym typeface="Saira Medium"/>
            </a:endParaRPr>
          </a:p>
        </p:txBody>
      </p:sp>
      <p:sp>
        <p:nvSpPr>
          <p:cNvPr id="251" name="Google Shape;251;g2c299f8e1f7_0_121"/>
          <p:cNvSpPr txBox="1"/>
          <p:nvPr/>
        </p:nvSpPr>
        <p:spPr>
          <a:xfrm>
            <a:off x="3399750" y="2880800"/>
            <a:ext cx="539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latin typeface="Saira"/>
                <a:ea typeface="Saira"/>
                <a:cs typeface="Saira"/>
                <a:sym typeface="Saira"/>
              </a:rPr>
              <a:t>scanf("</a:t>
            </a:r>
            <a:r>
              <a:rPr lang="es-AR" sz="30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%d</a:t>
            </a:r>
            <a:r>
              <a:rPr lang="es-AR" sz="3000">
                <a:latin typeface="Saira"/>
                <a:ea typeface="Saira"/>
                <a:cs typeface="Saira"/>
                <a:sym typeface="Saira"/>
              </a:rPr>
              <a:t>", </a:t>
            </a:r>
            <a:r>
              <a:rPr lang="es-AR" sz="3000">
                <a:solidFill>
                  <a:srgbClr val="0000FF"/>
                </a:solidFill>
              </a:rPr>
              <a:t>&amp;</a:t>
            </a:r>
            <a:r>
              <a:rPr lang="es-AR" sz="3000"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lang="es-AR" sz="3000">
                <a:latin typeface="Saira"/>
                <a:ea typeface="Saira"/>
                <a:cs typeface="Saira"/>
                <a:sym typeface="Saira"/>
              </a:rPr>
              <a:t>[ 0 ] [ 0 ]);</a:t>
            </a:r>
            <a:endParaRPr sz="30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52" name="Google Shape;252;g2c299f8e1f7_0_121"/>
          <p:cNvSpPr txBox="1"/>
          <p:nvPr/>
        </p:nvSpPr>
        <p:spPr>
          <a:xfrm>
            <a:off x="660025" y="3904375"/>
            <a:ext cx="8260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for (int i = 0; i &lt; filas; i++) {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for(int j = 0; j &lt; columnas; j++){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 printf("Ingrese para la semana:%d, el producto: %d\n: ", i, j);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 scanf("%d", </a:t>
            </a:r>
            <a:r>
              <a:rPr lang="es-AR" sz="2000"/>
              <a:t>&amp;</a:t>
            </a:r>
            <a:r>
              <a:rPr lang="es-AR" sz="2000">
                <a:latin typeface="Saira"/>
                <a:ea typeface="Saira"/>
                <a:cs typeface="Saira"/>
                <a:sym typeface="Saira"/>
              </a:rPr>
              <a:t>matriz[ i ][ j ]); 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}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}</a:t>
            </a:r>
            <a:endParaRPr sz="20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c94c44a4ca_0_94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58" name="Google Shape;258;g2c94c44a4ca_0_94"/>
          <p:cNvPicPr preferRelativeResize="0"/>
          <p:nvPr/>
        </p:nvPicPr>
        <p:blipFill rotWithShape="1">
          <a:blip r:embed="rId3">
            <a:alphaModFix/>
          </a:blip>
          <a:srcRect b="30665" l="23551" r="22740" t="29912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g2c94c44a4ca_0_9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60" name="Google Shape;260;g2c94c44a4ca_0_94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2c94c44a4ca_0_9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62" name="Google Shape;262;g2c94c44a4ca_0_94"/>
          <p:cNvSpPr txBox="1"/>
          <p:nvPr/>
        </p:nvSpPr>
        <p:spPr>
          <a:xfrm>
            <a:off x="445450" y="2027913"/>
            <a:ext cx="7200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AR" sz="2400">
                <a:solidFill>
                  <a:srgbClr val="00B050"/>
                </a:solidFill>
                <a:latin typeface="Saira Medium"/>
                <a:ea typeface="Saira Medium"/>
                <a:cs typeface="Saira Medium"/>
                <a:sym typeface="Saira Medium"/>
              </a:rPr>
              <a:t>Salida de datos</a:t>
            </a:r>
            <a:endParaRPr i="0" sz="2400" u="none" cap="none" strike="noStrike">
              <a:solidFill>
                <a:srgbClr val="00B050"/>
              </a:solidFill>
              <a:latin typeface="Saira Medium"/>
              <a:ea typeface="Saira Medium"/>
              <a:cs typeface="Saira Medium"/>
              <a:sym typeface="Saira Medium"/>
            </a:endParaRPr>
          </a:p>
        </p:txBody>
      </p:sp>
      <p:sp>
        <p:nvSpPr>
          <p:cNvPr id="263" name="Google Shape;263;g2c94c44a4ca_0_94"/>
          <p:cNvSpPr txBox="1"/>
          <p:nvPr/>
        </p:nvSpPr>
        <p:spPr>
          <a:xfrm>
            <a:off x="3399750" y="2880800"/>
            <a:ext cx="539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latin typeface="Saira"/>
                <a:ea typeface="Saira"/>
                <a:cs typeface="Saira"/>
                <a:sym typeface="Saira"/>
              </a:rPr>
              <a:t>printf</a:t>
            </a:r>
            <a:r>
              <a:rPr lang="es-AR" sz="3000">
                <a:latin typeface="Saira"/>
                <a:ea typeface="Saira"/>
                <a:cs typeface="Saira"/>
                <a:sym typeface="Saira"/>
              </a:rPr>
              <a:t>("</a:t>
            </a:r>
            <a:r>
              <a:rPr lang="es-AR" sz="30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%d</a:t>
            </a:r>
            <a:r>
              <a:rPr lang="es-AR" sz="3000">
                <a:latin typeface="Saira"/>
                <a:ea typeface="Saira"/>
                <a:cs typeface="Saira"/>
                <a:sym typeface="Saira"/>
              </a:rPr>
              <a:t>", matriz[ 0 ] [ 0 ]);</a:t>
            </a:r>
            <a:endParaRPr sz="30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64" name="Google Shape;264;g2c94c44a4ca_0_94"/>
          <p:cNvSpPr txBox="1"/>
          <p:nvPr/>
        </p:nvSpPr>
        <p:spPr>
          <a:xfrm>
            <a:off x="660025" y="3904375"/>
            <a:ext cx="74148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for (i = 0; i &lt; filas; i++) { 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for(j = 0; j &lt; columnas; j++) { 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printf(“En la semana %d, del producto %d \n: ", i, j ); 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printf("Se vendio %d</a:t>
            </a:r>
            <a:r>
              <a:rPr lang="es-AR" sz="2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\n</a:t>
            </a:r>
            <a:r>
              <a:rPr lang="es-AR" sz="2000">
                <a:latin typeface="Saira"/>
                <a:ea typeface="Saira"/>
                <a:cs typeface="Saira"/>
                <a:sym typeface="Saira"/>
              </a:rPr>
              <a:t>", </a:t>
            </a:r>
            <a:r>
              <a:rPr lang="es-AR" sz="2000"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lang="es-AR" sz="2000">
                <a:latin typeface="Saira"/>
                <a:ea typeface="Saira"/>
                <a:cs typeface="Saira"/>
                <a:sym typeface="Saira"/>
              </a:rPr>
              <a:t>[ i ][ j ]); </a:t>
            </a:r>
            <a:endParaRPr sz="2000">
              <a:latin typeface="Saira"/>
              <a:ea typeface="Saira"/>
              <a:cs typeface="Saira"/>
              <a:sym typeface="Sair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} }</a:t>
            </a:r>
            <a:endParaRPr sz="20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c299f8e1f7_0_154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 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 punteros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70" name="Google Shape;270;g2c299f8e1f7_0_154"/>
          <p:cNvPicPr preferRelativeResize="0"/>
          <p:nvPr/>
        </p:nvPicPr>
        <p:blipFill rotWithShape="1">
          <a:blip r:embed="rId3">
            <a:alphaModFix/>
          </a:blip>
          <a:srcRect b="30668" l="23551" r="22739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g2c299f8e1f7_0_15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72" name="Google Shape;272;g2c299f8e1f7_0_154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g2c299f8e1f7_0_15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4" name="Google Shape;274;g2c299f8e1f7_0_154"/>
          <p:cNvSpPr txBox="1"/>
          <p:nvPr/>
        </p:nvSpPr>
        <p:spPr>
          <a:xfrm>
            <a:off x="473375" y="1863425"/>
            <a:ext cx="10194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AR" sz="19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El nombre de un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 matriz </a:t>
            </a:r>
            <a:r>
              <a:rPr b="0" i="0" lang="es-AR" sz="19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es la dirección comienzo de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la</a:t>
            </a:r>
            <a:r>
              <a:rPr b="0" i="0" lang="es-AR" sz="19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mism</a:t>
            </a:r>
            <a:r>
              <a:rPr lang="es-AR" sz="19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a</a:t>
            </a:r>
            <a:r>
              <a:rPr b="0" i="0" lang="es-AR" sz="19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y es constante, es decir, no podemos hacer que comience en otra parte.</a:t>
            </a:r>
            <a:endParaRPr b="0" i="0" sz="19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5" name="Google Shape;275;g2c299f8e1f7_0_154"/>
          <p:cNvSpPr txBox="1"/>
          <p:nvPr/>
        </p:nvSpPr>
        <p:spPr>
          <a:xfrm>
            <a:off x="2774150" y="2632925"/>
            <a:ext cx="6682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s-AR" sz="3500" u="none" cap="none" strike="noStrike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b="0" i="0" lang="es-AR" sz="35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[2][2]={52,79,38,31};</a:t>
            </a:r>
            <a:endParaRPr b="0" i="0" sz="35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6" name="Google Shape;276;g2c299f8e1f7_0_154"/>
          <p:cNvSpPr txBox="1"/>
          <p:nvPr/>
        </p:nvSpPr>
        <p:spPr>
          <a:xfrm>
            <a:off x="1495075" y="3425850"/>
            <a:ext cx="789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AR" sz="24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Si “</a:t>
            </a:r>
            <a:r>
              <a:rPr b="0" i="0" lang="es-AR" sz="24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b="0" i="0" lang="es-AR" sz="24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” contiene la dirección de memoria del vector </a:t>
            </a:r>
            <a:endParaRPr b="0" i="0" sz="2400" u="none" cap="none" strike="noStrike">
              <a:solidFill>
                <a:srgbClr val="00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77" name="Google Shape;277;g2c299f8e1f7_0_154"/>
          <p:cNvSpPr txBox="1"/>
          <p:nvPr/>
        </p:nvSpPr>
        <p:spPr>
          <a:xfrm>
            <a:off x="2622525" y="4498175"/>
            <a:ext cx="5576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Entonces 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es un puntero que apunta al inicio de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la</a:t>
            </a: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AR" sz="28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b="0" i="0" lang="es-AR" sz="28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!</a:t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78" name="Google Shape;278;g2c299f8e1f7_0_1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74075" y="4049575"/>
            <a:ext cx="1685750" cy="20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c94c44a4ca_0_106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 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 punteros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84" name="Google Shape;284;g2c94c44a4ca_0_106"/>
          <p:cNvPicPr preferRelativeResize="0"/>
          <p:nvPr/>
        </p:nvPicPr>
        <p:blipFill rotWithShape="1">
          <a:blip r:embed="rId3">
            <a:alphaModFix/>
          </a:blip>
          <a:srcRect b="30665" l="23551" r="22740" t="29912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g2c94c44a4ca_0_106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86" name="Google Shape;286;g2c94c44a4ca_0_106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2c94c44a4ca_0_106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88" name="Google Shape;288;g2c94c44a4ca_0_106"/>
          <p:cNvSpPr txBox="1"/>
          <p:nvPr/>
        </p:nvSpPr>
        <p:spPr>
          <a:xfrm>
            <a:off x="1960575" y="3353138"/>
            <a:ext cx="798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lang="es-AR" sz="3000">
                <a:latin typeface="Saira"/>
                <a:ea typeface="Saira"/>
                <a:cs typeface="Saira"/>
                <a:sym typeface="Saira"/>
              </a:rPr>
              <a:t> = </a:t>
            </a:r>
            <a:r>
              <a:rPr lang="es-AR" sz="3000"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lang="es-AR" sz="3000">
                <a:latin typeface="Saira"/>
                <a:ea typeface="Saira"/>
                <a:cs typeface="Saira"/>
                <a:sym typeface="Saira"/>
              </a:rPr>
              <a:t> [ 0 ] = </a:t>
            </a:r>
            <a:r>
              <a:rPr lang="es-AR" sz="3000"/>
              <a:t>&amp;</a:t>
            </a:r>
            <a:r>
              <a:rPr lang="es-AR" sz="3000"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AR" sz="3000">
                <a:latin typeface="Saira"/>
                <a:ea typeface="Saira"/>
                <a:cs typeface="Saira"/>
                <a:sym typeface="Saira"/>
              </a:rPr>
              <a:t>matriz</a:t>
            </a:r>
            <a:r>
              <a:rPr lang="es-AR" sz="3000">
                <a:latin typeface="Saira"/>
                <a:ea typeface="Saira"/>
                <a:cs typeface="Saira"/>
                <a:sym typeface="Saira"/>
              </a:rPr>
              <a:t>[ 0 ][ 0 ]</a:t>
            </a:r>
            <a:endParaRPr sz="30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89" name="Google Shape;289;g2c94c44a4ca_0_106"/>
          <p:cNvSpPr txBox="1"/>
          <p:nvPr/>
        </p:nvSpPr>
        <p:spPr>
          <a:xfrm>
            <a:off x="371275" y="1928500"/>
            <a:ext cx="99744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latin typeface="Saira"/>
                <a:ea typeface="Saira"/>
                <a:cs typeface="Saira"/>
                <a:sym typeface="Saira"/>
              </a:rPr>
              <a:t>En C una matriz se maneja como un vector de vectores.</a:t>
            </a:r>
            <a:endParaRPr sz="19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latin typeface="Saira"/>
                <a:ea typeface="Saira"/>
                <a:cs typeface="Saira"/>
                <a:sym typeface="Saira"/>
              </a:rPr>
              <a:t>Eso hace que sea válido usar el nombre de la matriz con un solo subíndice para</a:t>
            </a:r>
            <a:endParaRPr sz="19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latin typeface="Saira"/>
                <a:ea typeface="Saira"/>
                <a:cs typeface="Saira"/>
                <a:sym typeface="Saira"/>
              </a:rPr>
              <a:t>indicar la </a:t>
            </a:r>
            <a:r>
              <a:rPr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dirección </a:t>
            </a:r>
            <a:r>
              <a:rPr lang="es-AR" sz="1900">
                <a:latin typeface="Saira"/>
                <a:ea typeface="Saira"/>
                <a:cs typeface="Saira"/>
                <a:sym typeface="Saira"/>
              </a:rPr>
              <a:t>de comienzo de cada fila</a:t>
            </a:r>
            <a:endParaRPr sz="19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290" name="Google Shape;290;g2c94c44a4ca_0_106"/>
          <p:cNvSpPr txBox="1"/>
          <p:nvPr/>
        </p:nvSpPr>
        <p:spPr>
          <a:xfrm>
            <a:off x="1835650" y="4256850"/>
            <a:ext cx="87063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matriz+1=</a:t>
            </a: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 [ 1 ] = </a:t>
            </a:r>
            <a:r>
              <a:rPr lang="es-AR" sz="3000">
                <a:solidFill>
                  <a:schemeClr val="dk1"/>
                </a:solidFill>
              </a:rPr>
              <a:t>&amp;</a:t>
            </a: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matriz[ 1 ][ 0 ] </a:t>
            </a:r>
            <a:endParaRPr sz="30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c94c44a4ca_0_148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 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 punteros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96" name="Google Shape;296;g2c94c44a4ca_0_148"/>
          <p:cNvPicPr preferRelativeResize="0"/>
          <p:nvPr/>
        </p:nvPicPr>
        <p:blipFill rotWithShape="1">
          <a:blip r:embed="rId3">
            <a:alphaModFix/>
          </a:blip>
          <a:srcRect b="30665" l="23551" r="22740" t="29912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2c94c44a4ca_0_148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298" name="Google Shape;298;g2c94c44a4ca_0_148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g2c94c44a4ca_0_148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0" name="Google Shape;300;g2c94c44a4ca_0_148"/>
          <p:cNvSpPr txBox="1"/>
          <p:nvPr/>
        </p:nvSpPr>
        <p:spPr>
          <a:xfrm>
            <a:off x="1960575" y="3353138"/>
            <a:ext cx="7982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/>
              <a:t>&amp;</a:t>
            </a:r>
            <a:r>
              <a:rPr lang="es-AR" sz="3000">
                <a:latin typeface="Saira"/>
                <a:ea typeface="Saira"/>
                <a:cs typeface="Saira"/>
                <a:sym typeface="Saira"/>
              </a:rPr>
              <a:t> matriz[ 0 ][ 0 ]=</a:t>
            </a:r>
            <a:r>
              <a:rPr lang="es-AR" sz="31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 * (matriz + 0) + 0</a:t>
            </a:r>
            <a:endParaRPr sz="3000"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solidFill>
                  <a:schemeClr val="dk1"/>
                </a:solidFill>
              </a:rPr>
              <a:t>&amp;</a:t>
            </a: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matriz[ 0 ][ 1 ]</a:t>
            </a:r>
            <a:r>
              <a:rPr lang="es-AR" sz="3000">
                <a:latin typeface="Saira"/>
                <a:ea typeface="Saira"/>
                <a:cs typeface="Saira"/>
                <a:sym typeface="Saira"/>
              </a:rPr>
              <a:t>= </a:t>
            </a:r>
            <a:r>
              <a:rPr lang="es-AR" sz="31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*(matriz + 0) + 1</a:t>
            </a:r>
            <a:r>
              <a:rPr lang="es-AR" sz="3000">
                <a:latin typeface="Saira"/>
                <a:ea typeface="Saira"/>
                <a:cs typeface="Saira"/>
                <a:sym typeface="Saira"/>
              </a:rPr>
              <a:t> </a:t>
            </a:r>
            <a:endParaRPr sz="30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1" name="Google Shape;301;g2c94c44a4ca_0_148"/>
          <p:cNvSpPr txBox="1"/>
          <p:nvPr/>
        </p:nvSpPr>
        <p:spPr>
          <a:xfrm>
            <a:off x="371275" y="1928500"/>
            <a:ext cx="9974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latin typeface="Saira"/>
                <a:ea typeface="Saira"/>
                <a:cs typeface="Saira"/>
                <a:sym typeface="Saira"/>
              </a:rPr>
              <a:t>Otra forma de acceder a la </a:t>
            </a:r>
            <a:r>
              <a:rPr lang="es-AR" sz="19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dirección </a:t>
            </a:r>
            <a:r>
              <a:rPr lang="es-AR" sz="1900">
                <a:latin typeface="Saira"/>
                <a:ea typeface="Saira"/>
                <a:cs typeface="Saira"/>
                <a:sym typeface="Saira"/>
              </a:rPr>
              <a:t>de un elemento</a:t>
            </a:r>
            <a:endParaRPr sz="1900"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2" name="Google Shape;302;g2c94c44a4ca_0_148"/>
          <p:cNvSpPr txBox="1"/>
          <p:nvPr/>
        </p:nvSpPr>
        <p:spPr>
          <a:xfrm>
            <a:off x="1960575" y="4710625"/>
            <a:ext cx="87063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solidFill>
                  <a:schemeClr val="dk1"/>
                </a:solidFill>
              </a:rPr>
              <a:t>&amp;</a:t>
            </a: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matriz[ 1 ][ 0 ] =</a:t>
            </a:r>
            <a:r>
              <a:rPr lang="es-AR" sz="31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* (matriz + 1) + 0</a:t>
            </a:r>
            <a:endParaRPr sz="30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solidFill>
                  <a:schemeClr val="dk1"/>
                </a:solidFill>
              </a:rPr>
              <a:t>&amp; </a:t>
            </a: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matriz[ 1][ 1 ] = </a:t>
            </a:r>
            <a:r>
              <a:rPr lang="es-AR" sz="31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* (matriz + 1) + 1</a:t>
            </a:r>
            <a:endParaRPr sz="30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3" name="Google Shape;303;g2c94c44a4ca_0_148"/>
          <p:cNvSpPr txBox="1"/>
          <p:nvPr/>
        </p:nvSpPr>
        <p:spPr>
          <a:xfrm>
            <a:off x="3939475" y="2712250"/>
            <a:ext cx="30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1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 * (matriz + i) + j</a:t>
            </a:r>
            <a:endParaRPr sz="3100">
              <a:solidFill>
                <a:srgbClr val="0000FF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04" name="Google Shape;304;g2c94c44a4ca_0_148"/>
          <p:cNvSpPr txBox="1"/>
          <p:nvPr/>
        </p:nvSpPr>
        <p:spPr>
          <a:xfrm>
            <a:off x="7840550" y="2094738"/>
            <a:ext cx="3000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3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 -&gt; fila</a:t>
            </a:r>
            <a:endParaRPr sz="23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3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j -&gt;columna</a:t>
            </a:r>
            <a:endParaRPr sz="2300">
              <a:solidFill>
                <a:srgbClr val="FF0000"/>
              </a:solidFill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c94c44a4ca_0_132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 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 punteros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10" name="Google Shape;310;g2c94c44a4ca_0_132"/>
          <p:cNvPicPr preferRelativeResize="0"/>
          <p:nvPr/>
        </p:nvPicPr>
        <p:blipFill rotWithShape="1">
          <a:blip r:embed="rId3">
            <a:alphaModFix/>
          </a:blip>
          <a:srcRect b="30665" l="23551" r="22740" t="29912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2c94c44a4ca_0_13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12" name="Google Shape;312;g2c94c44a4ca_0_132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2c94c44a4ca_0_13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14" name="Google Shape;314;g2c94c44a4ca_0_132"/>
          <p:cNvSpPr txBox="1"/>
          <p:nvPr/>
        </p:nvSpPr>
        <p:spPr>
          <a:xfrm>
            <a:off x="2269950" y="2836025"/>
            <a:ext cx="76521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700">
                <a:latin typeface="Saira"/>
                <a:ea typeface="Saira"/>
                <a:cs typeface="Saira"/>
                <a:sym typeface="Saira"/>
              </a:rPr>
              <a:t>Si  “*(matriz + i) + j” nos posiciona en la dirección del elemento, cómo accedemos al elemento? </a:t>
            </a:r>
            <a:endParaRPr sz="2700"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c94c44a4ca_0_162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 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 punteros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20" name="Google Shape;320;g2c94c44a4ca_0_162"/>
          <p:cNvPicPr preferRelativeResize="0"/>
          <p:nvPr/>
        </p:nvPicPr>
        <p:blipFill rotWithShape="1">
          <a:blip r:embed="rId3">
            <a:alphaModFix/>
          </a:blip>
          <a:srcRect b="30665" l="23551" r="22740" t="29912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2c94c44a4ca_0_16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22" name="Google Shape;322;g2c94c44a4ca_0_162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2c94c44a4ca_0_162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24" name="Google Shape;324;g2c94c44a4ca_0_162"/>
          <p:cNvSpPr txBox="1"/>
          <p:nvPr/>
        </p:nvSpPr>
        <p:spPr>
          <a:xfrm>
            <a:off x="382750" y="2085425"/>
            <a:ext cx="9476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700">
                <a:latin typeface="Saira"/>
                <a:ea typeface="Saira"/>
                <a:cs typeface="Saira"/>
                <a:sym typeface="Saira"/>
              </a:rPr>
              <a:t>Utilizando desreferencia a la notación anterior podemos acceder al </a:t>
            </a:r>
            <a:r>
              <a:rPr lang="es-AR" sz="2700">
                <a:solidFill>
                  <a:srgbClr val="00B050"/>
                </a:solidFill>
                <a:latin typeface="Saira"/>
                <a:ea typeface="Saira"/>
                <a:cs typeface="Saira"/>
                <a:sym typeface="Saira"/>
              </a:rPr>
              <a:t>valor </a:t>
            </a:r>
            <a:r>
              <a:rPr lang="es-AR" sz="2700"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s-AR" sz="2700">
                <a:solidFill>
                  <a:srgbClr val="0000FF"/>
                </a:solidFill>
                <a:latin typeface="Saira"/>
                <a:ea typeface="Saira"/>
                <a:cs typeface="Saira"/>
                <a:sym typeface="Saira"/>
              </a:rPr>
              <a:t>* ( * ( matriz+ i ) + j )</a:t>
            </a:r>
            <a:endParaRPr sz="2700">
              <a:solidFill>
                <a:srgbClr val="0000FF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25" name="Google Shape;325;g2c94c44a4ca_0_162"/>
          <p:cNvSpPr txBox="1"/>
          <p:nvPr/>
        </p:nvSpPr>
        <p:spPr>
          <a:xfrm>
            <a:off x="2516325" y="3710425"/>
            <a:ext cx="755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matriz[ 0 ][ 1 ]=</a:t>
            </a:r>
            <a:r>
              <a:rPr lang="es-AR" sz="27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* ( * ( matriz+ 0 ) + 1 )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c94c44a4ca_0_183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 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 punteros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31" name="Google Shape;331;g2c94c44a4ca_0_183"/>
          <p:cNvPicPr preferRelativeResize="0"/>
          <p:nvPr/>
        </p:nvPicPr>
        <p:blipFill rotWithShape="1">
          <a:blip r:embed="rId3">
            <a:alphaModFix/>
          </a:blip>
          <a:srcRect b="30665" l="23551" r="22740" t="29912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2c94c44a4ca_0_183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33" name="Google Shape;333;g2c94c44a4ca_0_183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g2c94c44a4ca_0_183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35" name="Google Shape;335;g2c94c44a4ca_0_183"/>
          <p:cNvSpPr txBox="1"/>
          <p:nvPr/>
        </p:nvSpPr>
        <p:spPr>
          <a:xfrm>
            <a:off x="485850" y="2085450"/>
            <a:ext cx="10620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700">
                <a:latin typeface="Saira"/>
                <a:ea typeface="Saira"/>
                <a:cs typeface="Saira"/>
                <a:sym typeface="Saira"/>
              </a:rPr>
              <a:t>También</a:t>
            </a:r>
            <a:r>
              <a:rPr lang="es-AR" sz="2700">
                <a:latin typeface="Saira"/>
                <a:ea typeface="Saira"/>
                <a:cs typeface="Saira"/>
                <a:sym typeface="Saira"/>
              </a:rPr>
              <a:t> podemos utilizar la siguiente notación </a:t>
            </a:r>
            <a:r>
              <a:rPr lang="es-AR" sz="27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*( matriz[ i ] + j )</a:t>
            </a:r>
            <a:endParaRPr sz="2700">
              <a:solidFill>
                <a:srgbClr val="0000FF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36" name="Google Shape;336;g2c94c44a4ca_0_183"/>
          <p:cNvSpPr txBox="1"/>
          <p:nvPr/>
        </p:nvSpPr>
        <p:spPr>
          <a:xfrm>
            <a:off x="2831400" y="3336200"/>
            <a:ext cx="5929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0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matriz[ 0 ][ 1 ]=</a:t>
            </a:r>
            <a:r>
              <a:rPr lang="es-AR" sz="27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*( matriz[ 0 ] + 1 )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c94c44a4ca_0_195"/>
          <p:cNvSpPr/>
          <p:nvPr/>
        </p:nvSpPr>
        <p:spPr>
          <a:xfrm>
            <a:off x="660025" y="2928825"/>
            <a:ext cx="6177300" cy="12930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2c94c44a4ca_0_195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 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 </a:t>
            </a: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43" name="Google Shape;343;g2c94c44a4ca_0_195"/>
          <p:cNvPicPr preferRelativeResize="0"/>
          <p:nvPr/>
        </p:nvPicPr>
        <p:blipFill rotWithShape="1">
          <a:blip r:embed="rId3">
            <a:alphaModFix/>
          </a:blip>
          <a:srcRect b="30665" l="23551" r="22740" t="29912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g2c94c44a4ca_0_19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45" name="Google Shape;345;g2c94c44a4ca_0_195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2c94c44a4ca_0_195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47" name="Google Shape;347;g2c94c44a4ca_0_195"/>
          <p:cNvSpPr txBox="1"/>
          <p:nvPr/>
        </p:nvSpPr>
        <p:spPr>
          <a:xfrm>
            <a:off x="485850" y="2085450"/>
            <a:ext cx="10620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700">
                <a:latin typeface="Saira"/>
                <a:ea typeface="Saira"/>
                <a:cs typeface="Saira"/>
                <a:sym typeface="Saira"/>
              </a:rPr>
              <a:t>Pasar matriz a una función</a:t>
            </a:r>
            <a:endParaRPr sz="2700">
              <a:solidFill>
                <a:srgbClr val="0000FF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48" name="Google Shape;348;g2c94c44a4ca_0_195"/>
          <p:cNvSpPr txBox="1"/>
          <p:nvPr/>
        </p:nvSpPr>
        <p:spPr>
          <a:xfrm>
            <a:off x="7208625" y="3294950"/>
            <a:ext cx="34659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latin typeface="Saira Medium"/>
                <a:ea typeface="Saira Medium"/>
                <a:cs typeface="Saira Medium"/>
                <a:sym typeface="Saira Medium"/>
              </a:rPr>
              <a:t>Cuando se pasa una matriz a una función se debe especificar el número de columnas </a:t>
            </a:r>
            <a:endParaRPr sz="1600">
              <a:latin typeface="Saira Medium"/>
              <a:ea typeface="Saira Medium"/>
              <a:cs typeface="Saira Medium"/>
              <a:sym typeface="Sai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latin typeface="Saira Medium"/>
                <a:ea typeface="Saira Medium"/>
                <a:cs typeface="Saira Medium"/>
                <a:sym typeface="Saira Medium"/>
              </a:rPr>
              <a:t>-el número de filas es irrelevante.</a:t>
            </a:r>
            <a:endParaRPr sz="1600">
              <a:latin typeface="Saira Medium"/>
              <a:ea typeface="Saira Medium"/>
              <a:cs typeface="Saira Medium"/>
              <a:sym typeface="Sair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latin typeface="Saira Medium"/>
                <a:ea typeface="Saira Medium"/>
                <a:cs typeface="Saira Medium"/>
                <a:sym typeface="Saira Medium"/>
              </a:rPr>
              <a:t>C requiere conocer cuántas son las columnas para que pueda saltar de fila en fila en la memoria </a:t>
            </a:r>
            <a:endParaRPr sz="1600">
              <a:latin typeface="Saira Medium"/>
              <a:ea typeface="Saira Medium"/>
              <a:cs typeface="Saira Medium"/>
              <a:sym typeface="Saira Medium"/>
            </a:endParaRPr>
          </a:p>
        </p:txBody>
      </p:sp>
      <p:sp>
        <p:nvSpPr>
          <p:cNvPr id="349" name="Google Shape;349;g2c94c44a4ca_0_195"/>
          <p:cNvSpPr txBox="1"/>
          <p:nvPr/>
        </p:nvSpPr>
        <p:spPr>
          <a:xfrm>
            <a:off x="649700" y="2959750"/>
            <a:ext cx="6249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matriz[2][2]={52,79,38,4};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cargaMatriz(matriz);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50" name="Google Shape;350;g2c94c44a4ca_0_195"/>
          <p:cNvSpPr txBox="1"/>
          <p:nvPr/>
        </p:nvSpPr>
        <p:spPr>
          <a:xfrm>
            <a:off x="649700" y="4379588"/>
            <a:ext cx="70047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void 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cargaMatriz(</a:t>
            </a: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m[ ] [ 2]){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…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}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51" name="Google Shape;351;g2c94c44a4ca_0_195"/>
          <p:cNvSpPr/>
          <p:nvPr/>
        </p:nvSpPr>
        <p:spPr>
          <a:xfrm>
            <a:off x="660025" y="4379600"/>
            <a:ext cx="6249600" cy="1778400"/>
          </a:xfrm>
          <a:prstGeom prst="rect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c94c44a4ca_0_230"/>
          <p:cNvSpPr/>
          <p:nvPr/>
        </p:nvSpPr>
        <p:spPr>
          <a:xfrm>
            <a:off x="660025" y="4379600"/>
            <a:ext cx="6249600" cy="1778400"/>
          </a:xfrm>
          <a:prstGeom prst="rect">
            <a:avLst/>
          </a:prstGeom>
          <a:noFill/>
          <a:ln cap="flat" cmpd="sng" w="381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2c94c44a4ca_0_230"/>
          <p:cNvSpPr/>
          <p:nvPr/>
        </p:nvSpPr>
        <p:spPr>
          <a:xfrm>
            <a:off x="660025" y="2928825"/>
            <a:ext cx="6177300" cy="1293000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g2c94c44a4ca_0_230"/>
          <p:cNvSpPr txBox="1"/>
          <p:nvPr/>
        </p:nvSpPr>
        <p:spPr>
          <a:xfrm>
            <a:off x="319439" y="990221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 </a:t>
            </a:r>
            <a:r>
              <a:rPr b="0" i="0" lang="es-AR" sz="4200" u="none" cap="none" strike="noStrik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con </a:t>
            </a: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funciones</a:t>
            </a:r>
            <a:endParaRPr b="0" i="0" sz="42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59" name="Google Shape;359;g2c94c44a4ca_0_230"/>
          <p:cNvPicPr preferRelativeResize="0"/>
          <p:nvPr/>
        </p:nvPicPr>
        <p:blipFill rotWithShape="1">
          <a:blip r:embed="rId3">
            <a:alphaModFix/>
          </a:blip>
          <a:srcRect b="30665" l="23551" r="22740" t="29912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2c94c44a4ca_0_230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61" name="Google Shape;361;g2c94c44a4ca_0_230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2c94c44a4ca_0_230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63" name="Google Shape;363;g2c94c44a4ca_0_230"/>
          <p:cNvSpPr txBox="1"/>
          <p:nvPr/>
        </p:nvSpPr>
        <p:spPr>
          <a:xfrm>
            <a:off x="485850" y="2085450"/>
            <a:ext cx="10620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700">
                <a:latin typeface="Saira"/>
                <a:ea typeface="Saira"/>
                <a:cs typeface="Saira"/>
                <a:sym typeface="Saira"/>
              </a:rPr>
              <a:t>También</a:t>
            </a:r>
            <a:r>
              <a:rPr lang="es-AR" sz="2700">
                <a:latin typeface="Saira"/>
                <a:ea typeface="Saira"/>
                <a:cs typeface="Saira"/>
                <a:sym typeface="Saira"/>
              </a:rPr>
              <a:t> podemos pasar como puntero</a:t>
            </a:r>
            <a:endParaRPr sz="2700">
              <a:solidFill>
                <a:srgbClr val="0000FF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64" name="Google Shape;364;g2c94c44a4ca_0_230"/>
          <p:cNvSpPr txBox="1"/>
          <p:nvPr/>
        </p:nvSpPr>
        <p:spPr>
          <a:xfrm>
            <a:off x="649700" y="2959750"/>
            <a:ext cx="6249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matriz[2][2]={52,79,38,4};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cargaMatriz(matriz);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65" name="Google Shape;365;g2c94c44a4ca_0_230"/>
          <p:cNvSpPr txBox="1"/>
          <p:nvPr/>
        </p:nvSpPr>
        <p:spPr>
          <a:xfrm>
            <a:off x="649700" y="4379588"/>
            <a:ext cx="70047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void 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cargaMatriz(</a:t>
            </a:r>
            <a:r>
              <a:rPr lang="es-AR" sz="3500">
                <a:solidFill>
                  <a:srgbClr val="FF0000"/>
                </a:solidFill>
                <a:latin typeface="Saira"/>
                <a:ea typeface="Saira"/>
                <a:cs typeface="Saira"/>
                <a:sym typeface="Saira"/>
              </a:rPr>
              <a:t>int</a:t>
            </a: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 (*m)[ 2]){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…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5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}</a:t>
            </a:r>
            <a:endParaRPr sz="3500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66" name="Google Shape;366;g2c94c44a4ca_0_230"/>
          <p:cNvSpPr txBox="1"/>
          <p:nvPr/>
        </p:nvSpPr>
        <p:spPr>
          <a:xfrm>
            <a:off x="7528350" y="357855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chemeClr val="dk1"/>
                </a:solidFill>
                <a:latin typeface="Saira Medium"/>
                <a:ea typeface="Saira Medium"/>
                <a:cs typeface="Saira Medium"/>
                <a:sym typeface="Saira Medium"/>
              </a:rPr>
              <a:t>Importante el (*m) porque  si no se usan paréntesis, se interpretaría como un vector de punteros a enteros. Esto no es lo que queremos. Queremos un puntero a un vector de enteros.</a:t>
            </a:r>
            <a:endParaRPr sz="1600">
              <a:solidFill>
                <a:schemeClr val="dk1"/>
              </a:solidFill>
              <a:latin typeface="Saira Medium"/>
              <a:ea typeface="Saira Medium"/>
              <a:cs typeface="Saira Medium"/>
              <a:sym typeface="Saira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c1d2f75a92_0_314"/>
          <p:cNvSpPr txBox="1"/>
          <p:nvPr/>
        </p:nvSpPr>
        <p:spPr>
          <a:xfrm>
            <a:off x="319439" y="941496"/>
            <a:ext cx="8472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aira"/>
              <a:buNone/>
            </a:pPr>
            <a:r>
              <a:rPr lang="es-AR" sz="4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rPr>
              <a:t>Matrices</a:t>
            </a:r>
            <a:endParaRPr b="0" i="0" sz="54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72" name="Google Shape;372;g2c1d2f75a92_0_314"/>
          <p:cNvPicPr preferRelativeResize="0"/>
          <p:nvPr/>
        </p:nvPicPr>
        <p:blipFill rotWithShape="1">
          <a:blip r:embed="rId3">
            <a:alphaModFix/>
          </a:blip>
          <a:srcRect b="30668" l="23551" r="22738" t="29911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2c1d2f75a92_0_31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pic>
        <p:nvPicPr>
          <p:cNvPr id="374" name="Google Shape;374;g2c1d2f75a92_0_314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11036475" y="5617400"/>
            <a:ext cx="877574" cy="10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g2c1d2f75a92_0_314"/>
          <p:cNvSpPr txBox="1"/>
          <p:nvPr/>
        </p:nvSpPr>
        <p:spPr>
          <a:xfrm>
            <a:off x="4439400" y="63382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s-AR" sz="1200" u="none" cap="none" strike="noStrike">
                <a:solidFill>
                  <a:srgbClr val="888888"/>
                </a:solidFill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 b="0" i="0" sz="1200" u="none" cap="none" strike="noStrike">
              <a:solidFill>
                <a:srgbClr val="88888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76" name="Google Shape;376;g2c1d2f75a92_0_314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2c1d2f75a92_0_314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78" name="Google Shape;378;g2c1d2f75a92_0_314"/>
          <p:cNvSpPr txBox="1"/>
          <p:nvPr/>
        </p:nvSpPr>
        <p:spPr>
          <a:xfrm>
            <a:off x="7724225" y="4899550"/>
            <a:ext cx="449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2c1d2f75a92_0_314"/>
          <p:cNvSpPr txBox="1"/>
          <p:nvPr/>
        </p:nvSpPr>
        <p:spPr>
          <a:xfrm>
            <a:off x="8974900" y="4046850"/>
            <a:ext cx="40500" cy="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2c1d2f75a92_0_314"/>
          <p:cNvSpPr txBox="1"/>
          <p:nvPr/>
        </p:nvSpPr>
        <p:spPr>
          <a:xfrm>
            <a:off x="9559625" y="3900675"/>
            <a:ext cx="40500" cy="24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81" name="Google Shape;381;g2c1d2f75a92_0_314"/>
          <p:cNvSpPr txBox="1"/>
          <p:nvPr/>
        </p:nvSpPr>
        <p:spPr>
          <a:xfrm>
            <a:off x="424150" y="1776950"/>
            <a:ext cx="4362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s-AR" sz="2900" u="none" cap="none" strike="noStrike">
                <a:solidFill>
                  <a:srgbClr val="4A86E8"/>
                </a:solidFill>
                <a:highlight>
                  <a:srgbClr val="FFFFFF"/>
                </a:highlight>
                <a:latin typeface="Saira"/>
                <a:ea typeface="Saira"/>
                <a:cs typeface="Saira"/>
                <a:sym typeface="Saira"/>
              </a:rPr>
              <a:t>Ejercicio integrador</a:t>
            </a:r>
            <a:endParaRPr b="1" i="0" sz="2900" u="none" cap="none" strike="noStrike">
              <a:solidFill>
                <a:srgbClr val="4A86E8"/>
              </a:solidFill>
              <a:latin typeface="Saira"/>
              <a:ea typeface="Saira"/>
              <a:cs typeface="Saira"/>
              <a:sym typeface="Saira"/>
            </a:endParaRPr>
          </a:p>
        </p:txBody>
      </p:sp>
      <p:sp>
        <p:nvSpPr>
          <p:cNvPr id="382" name="Google Shape;382;g2c1d2f75a92_0_314"/>
          <p:cNvSpPr txBox="1"/>
          <p:nvPr/>
        </p:nvSpPr>
        <p:spPr>
          <a:xfrm>
            <a:off x="424150" y="2504700"/>
            <a:ext cx="10776300" cy="2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Escribe un programa en C que permita realizar el registro de las notas de los alumnos de una clase. El programa debe permitir al usuario ingresar el número de alumnos y el número de notas por alumno. Luego, el programa debe solicitar al usuario que ingrese las notas de cada alumno.</a:t>
            </a:r>
            <a:endParaRPr sz="19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Una vez ingresadas todas las notas, el programa debe calcular el promedio de cada alumno y mostrarlo. Finalmente, debe calcular el promedio general de todas las notas ingresadas.</a:t>
            </a:r>
            <a:endParaRPr sz="19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900">
                <a:solidFill>
                  <a:srgbClr val="0D0D0D"/>
                </a:solidFill>
                <a:highlight>
                  <a:schemeClr val="lt1"/>
                </a:highlight>
                <a:latin typeface="Saira"/>
                <a:ea typeface="Saira"/>
                <a:cs typeface="Saira"/>
                <a:sym typeface="Saira"/>
              </a:rPr>
              <a:t>Hacerlo utilizando funciones.</a:t>
            </a:r>
            <a:endParaRPr sz="1900">
              <a:solidFill>
                <a:srgbClr val="0D0D0D"/>
              </a:solidFill>
              <a:highlight>
                <a:schemeClr val="lt1"/>
              </a:highlight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g1f3006538ad_0_205"/>
          <p:cNvPicPr preferRelativeResize="0"/>
          <p:nvPr/>
        </p:nvPicPr>
        <p:blipFill rotWithShape="1">
          <a:blip r:embed="rId3">
            <a:alphaModFix/>
          </a:blip>
          <a:srcRect b="30673" l="23551" r="22738" t="29909"/>
          <a:stretch/>
        </p:blipFill>
        <p:spPr>
          <a:xfrm>
            <a:off x="8791460" y="390327"/>
            <a:ext cx="2959467" cy="108593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g1f3006538ad_0_205"/>
          <p:cNvSpPr txBox="1"/>
          <p:nvPr>
            <p:ph idx="11" type="ftr"/>
          </p:nvPr>
        </p:nvSpPr>
        <p:spPr>
          <a:xfrm>
            <a:off x="2846238" y="2374225"/>
            <a:ext cx="6499500" cy="10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AR" sz="2000">
                <a:latin typeface="Saira"/>
                <a:ea typeface="Saira"/>
                <a:cs typeface="Saira"/>
                <a:sym typeface="Saira"/>
              </a:rPr>
              <a:t>Próxima unidad: Memoria </a:t>
            </a:r>
            <a:r>
              <a:rPr lang="es-AR" sz="2000">
                <a:latin typeface="Saira"/>
                <a:ea typeface="Saira"/>
                <a:cs typeface="Saira"/>
                <a:sym typeface="Saira"/>
              </a:rPr>
              <a:t>Dinámica</a:t>
            </a:r>
            <a:endParaRPr sz="2000"/>
          </a:p>
        </p:txBody>
      </p:sp>
      <p:pic>
        <p:nvPicPr>
          <p:cNvPr id="389" name="Google Shape;389;g1f3006538ad_0_205"/>
          <p:cNvPicPr preferRelativeResize="0"/>
          <p:nvPr/>
        </p:nvPicPr>
        <p:blipFill rotWithShape="1">
          <a:blip r:embed="rId4">
            <a:alphaModFix/>
          </a:blip>
          <a:srcRect b="0" l="27396" r="27817" t="0"/>
          <a:stretch/>
        </p:blipFill>
        <p:spPr>
          <a:xfrm>
            <a:off x="5219014" y="3378025"/>
            <a:ext cx="1753976" cy="21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1f3006538ad_0_205"/>
          <p:cNvSpPr txBox="1"/>
          <p:nvPr>
            <p:ph idx="10" type="dt"/>
          </p:nvPr>
        </p:nvSpPr>
        <p:spPr>
          <a:xfrm>
            <a:off x="4439400" y="6313325"/>
            <a:ext cx="331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AR">
                <a:latin typeface="Saira"/>
                <a:ea typeface="Saira"/>
                <a:cs typeface="Saira"/>
                <a:sym typeface="Saira"/>
              </a:rPr>
              <a:t>Laboratorio de computación II  2024</a:t>
            </a:r>
            <a:endParaRPr>
              <a:latin typeface="Saira"/>
              <a:ea typeface="Saira"/>
              <a:cs typeface="Saira"/>
              <a:sym typeface="Sair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2023-03-07T21:33:27Z</dcterms:created>
  <dc:creator>Carlos Sebastián Pedraza</dc:creator>
</cp:coreProperties>
</file>