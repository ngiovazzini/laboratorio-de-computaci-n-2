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Roboto"/>
      <p:regular r:id="rId26"/>
      <p:bold r:id="rId27"/>
      <p:italic r:id="rId28"/>
      <p:boldItalic r:id="rId29"/>
    </p:embeddedFont>
    <p:embeddedFont>
      <p:font typeface="Saira"/>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4" roundtripDataSignature="AMtx7mi7FlSB/FaNgcvd4hp3pf/cGxqXm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Roboto-regular.fntdata"/><Relationship Id="rId25" Type="http://schemas.openxmlformats.org/officeDocument/2006/relationships/slide" Target="slides/slide21.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Robo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Saira-bold.fntdata"/><Relationship Id="rId30" Type="http://schemas.openxmlformats.org/officeDocument/2006/relationships/font" Target="fonts/Saira-regular.fntdata"/><Relationship Id="rId11" Type="http://schemas.openxmlformats.org/officeDocument/2006/relationships/slide" Target="slides/slide7.xml"/><Relationship Id="rId33" Type="http://schemas.openxmlformats.org/officeDocument/2006/relationships/font" Target="fonts/Saira-boldItalic.fntdata"/><Relationship Id="rId10" Type="http://schemas.openxmlformats.org/officeDocument/2006/relationships/slide" Target="slides/slide6.xml"/><Relationship Id="rId32" Type="http://schemas.openxmlformats.org/officeDocument/2006/relationships/font" Target="fonts/Saira-italic.fntdata"/><Relationship Id="rId13" Type="http://schemas.openxmlformats.org/officeDocument/2006/relationships/slide" Target="slides/slide9.xml"/><Relationship Id="rId12" Type="http://schemas.openxmlformats.org/officeDocument/2006/relationships/slide" Target="slides/slide8.xml"/><Relationship Id="rId34" Type="http://customschemas.google.com/relationships/presentationmetadata" Target="meta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1f2ce82f4ef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2" name="Google Shape;92;g1f2ce82f4e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ff670518a6_0_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 name="Google Shape;103;g1ff670518a6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1ff670518a6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3" name="Google Shape;113;g1ff670518a6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ff670518a6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1ff670518a6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ff670518a6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1ff670518a6_0_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1ff670518a6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g1ff670518a6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ff670518a6_0_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1ff670518a6_0_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1ff670518a6_0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1ff670518a6_0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1ff670518a6_0_1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7" name="Google Shape;187;g1ff670518a6_0_1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1ff670518a6_0_1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9" name="Google Shape;199;g1ff670518a6_0_1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ff670518a6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1" name="Google Shape;211;g1ff670518a6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ff670518a6_0_1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2" name="Google Shape;222;g1ff670518a6_0_1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ff670518a6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4" name="Google Shape;234;g1ff670518a6_0_1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ff670518a6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6" name="Google Shape;246;g1ff670518a6_0_19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ff670518a6_0_2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0" name="Google Shape;260;g1ff670518a6_0_2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1ff670518a6_0_2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g1ff670518a6_0_2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1ff670518a6_0_2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6" name="Google Shape;286;g1ff670518a6_0_2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1ff670518a6_0_2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9" name="Google Shape;299;g1ff670518a6_0_2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ff670518a6_0_2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3" name="Google Shape;313;g1ff670518a6_0_2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1f3006538ad_0_20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3" name="Google Shape;323;g1f3006538ad_0_20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1" name="Shape 11"/>
        <p:cNvGrpSpPr/>
        <p:nvPr/>
      </p:nvGrpSpPr>
      <p:grpSpPr>
        <a:xfrm>
          <a:off x="0" y="0"/>
          <a:ext cx="0" cy="0"/>
          <a:chOff x="0" y="0"/>
          <a:chExt cx="0" cy="0"/>
        </a:xfrm>
      </p:grpSpPr>
      <p:sp>
        <p:nvSpPr>
          <p:cNvPr id="12" name="Google Shape;12;p5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7" name="Shape 17"/>
        <p:cNvGrpSpPr/>
        <p:nvPr/>
      </p:nvGrpSpPr>
      <p:grpSpPr>
        <a:xfrm>
          <a:off x="0" y="0"/>
          <a:ext cx="0" cy="0"/>
          <a:chOff x="0" y="0"/>
          <a:chExt cx="0" cy="0"/>
        </a:xfrm>
      </p:grpSpPr>
      <p:sp>
        <p:nvSpPr>
          <p:cNvPr id="18" name="Google Shape;18;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3" name="Shape 23"/>
        <p:cNvGrpSpPr/>
        <p:nvPr/>
      </p:nvGrpSpPr>
      <p:grpSpPr>
        <a:xfrm>
          <a:off x="0" y="0"/>
          <a:ext cx="0" cy="0"/>
          <a:chOff x="0" y="0"/>
          <a:chExt cx="0" cy="0"/>
        </a:xfrm>
      </p:grpSpPr>
      <p:sp>
        <p:nvSpPr>
          <p:cNvPr id="24" name="Google Shape;24;p5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9" name="Shape 29"/>
        <p:cNvGrpSpPr/>
        <p:nvPr/>
      </p:nvGrpSpPr>
      <p:grpSpPr>
        <a:xfrm>
          <a:off x="0" y="0"/>
          <a:ext cx="0" cy="0"/>
          <a:chOff x="0" y="0"/>
          <a:chExt cx="0" cy="0"/>
        </a:xfrm>
      </p:grpSpPr>
      <p:sp>
        <p:nvSpPr>
          <p:cNvPr id="30" name="Google Shape;30;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6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6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36" name="Shape 36"/>
        <p:cNvGrpSpPr/>
        <p:nvPr/>
      </p:nvGrpSpPr>
      <p:grpSpPr>
        <a:xfrm>
          <a:off x="0" y="0"/>
          <a:ext cx="0" cy="0"/>
          <a:chOff x="0" y="0"/>
          <a:chExt cx="0" cy="0"/>
        </a:xfrm>
      </p:grpSpPr>
      <p:sp>
        <p:nvSpPr>
          <p:cNvPr id="37" name="Google Shape;37;p6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5" name="Shape 45"/>
        <p:cNvGrpSpPr/>
        <p:nvPr/>
      </p:nvGrpSpPr>
      <p:grpSpPr>
        <a:xfrm>
          <a:off x="0" y="0"/>
          <a:ext cx="0" cy="0"/>
          <a:chOff x="0" y="0"/>
          <a:chExt cx="0" cy="0"/>
        </a:xfrm>
      </p:grpSpPr>
      <p:sp>
        <p:nvSpPr>
          <p:cNvPr id="46" name="Google Shape;46;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0" name="Shape 50"/>
        <p:cNvGrpSpPr/>
        <p:nvPr/>
      </p:nvGrpSpPr>
      <p:grpSpPr>
        <a:xfrm>
          <a:off x="0" y="0"/>
          <a:ext cx="0" cy="0"/>
          <a:chOff x="0" y="0"/>
          <a:chExt cx="0" cy="0"/>
        </a:xfrm>
      </p:grpSpPr>
      <p:sp>
        <p:nvSpPr>
          <p:cNvPr id="51" name="Google Shape;51;p6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4" name="Shape 54"/>
        <p:cNvGrpSpPr/>
        <p:nvPr/>
      </p:nvGrpSpPr>
      <p:grpSpPr>
        <a:xfrm>
          <a:off x="0" y="0"/>
          <a:ext cx="0" cy="0"/>
          <a:chOff x="0" y="0"/>
          <a:chExt cx="0" cy="0"/>
        </a:xfrm>
      </p:grpSpPr>
      <p:sp>
        <p:nvSpPr>
          <p:cNvPr id="55" name="Google Shape;55;p6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6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6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1" name="Shape 61"/>
        <p:cNvGrpSpPr/>
        <p:nvPr/>
      </p:nvGrpSpPr>
      <p:grpSpPr>
        <a:xfrm>
          <a:off x="0" y="0"/>
          <a:ext cx="0" cy="0"/>
          <a:chOff x="0" y="0"/>
          <a:chExt cx="0" cy="0"/>
        </a:xfrm>
      </p:grpSpPr>
      <p:sp>
        <p:nvSpPr>
          <p:cNvPr id="62" name="Google Shape;62;p6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5"/>
          <p:cNvSpPr/>
          <p:nvPr>
            <p:ph idx="2" type="pic"/>
          </p:nvPr>
        </p:nvSpPr>
        <p:spPr>
          <a:xfrm>
            <a:off x="5183188" y="987425"/>
            <a:ext cx="6172200" cy="4873625"/>
          </a:xfrm>
          <a:prstGeom prst="rect">
            <a:avLst/>
          </a:prstGeom>
          <a:noFill/>
          <a:ln>
            <a:noFill/>
          </a:ln>
        </p:spPr>
      </p:sp>
      <p:sp>
        <p:nvSpPr>
          <p:cNvPr id="64" name="Google Shape;64;p6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6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68" name="Shape 68"/>
        <p:cNvGrpSpPr/>
        <p:nvPr/>
      </p:nvGrpSpPr>
      <p:grpSpPr>
        <a:xfrm>
          <a:off x="0" y="0"/>
          <a:ext cx="0" cy="0"/>
          <a:chOff x="0" y="0"/>
          <a:chExt cx="0" cy="0"/>
        </a:xfrm>
      </p:grpSpPr>
      <p:sp>
        <p:nvSpPr>
          <p:cNvPr id="69" name="Google Shape;69;p6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6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4" name="Shape 74"/>
        <p:cNvGrpSpPr/>
        <p:nvPr/>
      </p:nvGrpSpPr>
      <p:grpSpPr>
        <a:xfrm>
          <a:off x="0" y="0"/>
          <a:ext cx="0" cy="0"/>
          <a:chOff x="0" y="0"/>
          <a:chExt cx="0" cy="0"/>
        </a:xfrm>
      </p:grpSpPr>
      <p:sp>
        <p:nvSpPr>
          <p:cNvPr id="75" name="Google Shape;75;p6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6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A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4.png"/><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252814" y="10145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b="0" i="0" lang="es-AR" sz="4200" u="none" cap="none" strike="noStrike">
                <a:solidFill>
                  <a:schemeClr val="dk1"/>
                </a:solidFill>
                <a:latin typeface="Saira"/>
                <a:ea typeface="Saira"/>
                <a:cs typeface="Saira"/>
                <a:sym typeface="Saira"/>
              </a:rPr>
              <a:t>Laboratorio de programación II</a:t>
            </a:r>
            <a:endParaRPr b="0" i="0" sz="5400" u="none" cap="none" strike="noStrike">
              <a:solidFill>
                <a:schemeClr val="dk1"/>
              </a:solidFill>
              <a:latin typeface="Saira"/>
              <a:ea typeface="Saira"/>
              <a:cs typeface="Saira"/>
              <a:sym typeface="Saira"/>
            </a:endParaRPr>
          </a:p>
        </p:txBody>
      </p:sp>
      <p:pic>
        <p:nvPicPr>
          <p:cNvPr id="85" name="Google Shape;85;p1"/>
          <p:cNvPicPr preferRelativeResize="0"/>
          <p:nvPr/>
        </p:nvPicPr>
        <p:blipFill rotWithShape="1">
          <a:blip r:embed="rId3">
            <a:alphaModFix/>
          </a:blip>
          <a:srcRect b="30673" l="23551" r="22738" t="29909"/>
          <a:stretch/>
        </p:blipFill>
        <p:spPr>
          <a:xfrm>
            <a:off x="8791460" y="390327"/>
            <a:ext cx="2959466" cy="1085934"/>
          </a:xfrm>
          <a:prstGeom prst="rect">
            <a:avLst/>
          </a:prstGeom>
          <a:noFill/>
          <a:ln>
            <a:noFill/>
          </a:ln>
        </p:spPr>
      </p:pic>
      <p:sp>
        <p:nvSpPr>
          <p:cNvPr id="86" name="Google Shape;86;p1"/>
          <p:cNvSpPr txBox="1"/>
          <p:nvPr/>
        </p:nvSpPr>
        <p:spPr>
          <a:xfrm>
            <a:off x="1762125" y="2019899"/>
            <a:ext cx="8667600" cy="954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s-AR" sz="2800" u="none" cap="none" strike="noStrike">
                <a:solidFill>
                  <a:schemeClr val="dk1"/>
                </a:solidFill>
                <a:latin typeface="Saira"/>
                <a:ea typeface="Saira"/>
                <a:cs typeface="Saira"/>
                <a:sym typeface="Saira"/>
              </a:rPr>
              <a:t>Unidad </a:t>
            </a:r>
            <a:r>
              <a:rPr lang="es-AR" sz="2800">
                <a:solidFill>
                  <a:schemeClr val="dk1"/>
                </a:solidFill>
                <a:latin typeface="Saira"/>
                <a:ea typeface="Saira"/>
                <a:cs typeface="Saira"/>
                <a:sym typeface="Saira"/>
              </a:rPr>
              <a:t>13</a:t>
            </a:r>
            <a:r>
              <a:rPr b="0" i="0" lang="es-AR" sz="2800" u="none" cap="none" strike="noStrike">
                <a:solidFill>
                  <a:schemeClr val="dk1"/>
                </a:solidFill>
                <a:latin typeface="Saira"/>
                <a:ea typeface="Saira"/>
                <a:cs typeface="Saira"/>
                <a:sym typeface="Saira"/>
              </a:rPr>
              <a:t> - </a:t>
            </a:r>
            <a:r>
              <a:rPr lang="es-AR" sz="2800">
                <a:solidFill>
                  <a:schemeClr val="dk1"/>
                </a:solidFill>
                <a:latin typeface="Saira"/>
                <a:ea typeface="Saira"/>
                <a:cs typeface="Saira"/>
                <a:sym typeface="Saira"/>
              </a:rPr>
              <a:t>Elementos y Variables</a:t>
            </a:r>
            <a:endParaRPr b="0" i="0" sz="2800" u="none" cap="none" strike="noStrike">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Saira"/>
              <a:ea typeface="Saira"/>
              <a:cs typeface="Saira"/>
              <a:sym typeface="Saira"/>
            </a:endParaRPr>
          </a:p>
        </p:txBody>
      </p:sp>
      <p:sp>
        <p:nvSpPr>
          <p:cNvPr id="87" name="Google Shape;87;p1"/>
          <p:cNvSpPr txBox="1"/>
          <p:nvPr/>
        </p:nvSpPr>
        <p:spPr>
          <a:xfrm>
            <a:off x="4439325" y="6338225"/>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Calibri"/>
              <a:ea typeface="Calibri"/>
              <a:cs typeface="Calibri"/>
              <a:sym typeface="Calibri"/>
            </a:endParaRPr>
          </a:p>
        </p:txBody>
      </p:sp>
      <p:pic>
        <p:nvPicPr>
          <p:cNvPr id="88" name="Google Shape;88;p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pic>
        <p:nvPicPr>
          <p:cNvPr id="89" name="Google Shape;89;p1"/>
          <p:cNvPicPr preferRelativeResize="0"/>
          <p:nvPr/>
        </p:nvPicPr>
        <p:blipFill>
          <a:blip r:embed="rId5">
            <a:alphaModFix/>
          </a:blip>
          <a:stretch>
            <a:fillRect/>
          </a:stretch>
        </p:blipFill>
        <p:spPr>
          <a:xfrm>
            <a:off x="4428100" y="2786249"/>
            <a:ext cx="3335662" cy="305922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g1f2ce82f4ef_0_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95" name="Google Shape;95;g1f2ce82f4ef_0_5"/>
          <p:cNvPicPr preferRelativeResize="0"/>
          <p:nvPr/>
        </p:nvPicPr>
        <p:blipFill rotWithShape="1">
          <a:blip r:embed="rId3">
            <a:alphaModFix/>
          </a:blip>
          <a:srcRect b="30673" l="23551" r="22738" t="29909"/>
          <a:stretch/>
        </p:blipFill>
        <p:spPr>
          <a:xfrm>
            <a:off x="8791460" y="390327"/>
            <a:ext cx="2959467" cy="1085934"/>
          </a:xfrm>
          <a:prstGeom prst="rect">
            <a:avLst/>
          </a:prstGeom>
          <a:noFill/>
          <a:ln>
            <a:noFill/>
          </a:ln>
        </p:spPr>
      </p:pic>
      <p:sp>
        <p:nvSpPr>
          <p:cNvPr id="96" name="Google Shape;96;g1f2ce82f4ef_0_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97" name="Google Shape;97;g1f2ce82f4ef_0_5"/>
          <p:cNvSpPr txBox="1"/>
          <p:nvPr/>
        </p:nvSpPr>
        <p:spPr>
          <a:xfrm>
            <a:off x="490000" y="2411875"/>
            <a:ext cx="10242900" cy="1293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lang="es-AR" sz="1800">
                <a:solidFill>
                  <a:srgbClr val="0D0D0D"/>
                </a:solidFill>
                <a:highlight>
                  <a:srgbClr val="FFFFFF"/>
                </a:highlight>
                <a:latin typeface="Saira"/>
                <a:ea typeface="Saira"/>
                <a:cs typeface="Saira"/>
                <a:sym typeface="Saira"/>
              </a:rPr>
              <a:t>Python es un lenguaje de programación de alto nivel que se destaca por su sintaxis clara y legible, lo que lo hace muy popular tanto para principiantes como para programadores experimentados. Los programas en Python suelen organizarse en archivos con extensión ".py" y se ejecutan utilizando un intérprete de Python.</a:t>
            </a:r>
            <a:endParaRPr b="0" i="0" sz="2000" u="none" cap="none" strike="noStrike">
              <a:solidFill>
                <a:srgbClr val="000000"/>
              </a:solidFill>
              <a:latin typeface="Saira"/>
              <a:ea typeface="Saira"/>
              <a:cs typeface="Saira"/>
              <a:sym typeface="Saira"/>
            </a:endParaRPr>
          </a:p>
        </p:txBody>
      </p:sp>
      <p:sp>
        <p:nvSpPr>
          <p:cNvPr id="98" name="Google Shape;98;g1f2ce82f4ef_0_5"/>
          <p:cNvSpPr txBox="1"/>
          <p:nvPr/>
        </p:nvSpPr>
        <p:spPr>
          <a:xfrm>
            <a:off x="319450" y="1747250"/>
            <a:ext cx="30000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0" i="0" lang="es-AR" sz="3000" u="none" cap="none" strike="noStrike">
                <a:solidFill>
                  <a:schemeClr val="dk1"/>
                </a:solidFill>
                <a:latin typeface="Saira"/>
                <a:ea typeface="Saira"/>
                <a:cs typeface="Saira"/>
                <a:sym typeface="Saira"/>
              </a:rPr>
              <a:t>¿ Qué </a:t>
            </a:r>
            <a:r>
              <a:rPr lang="es-AR" sz="3000">
                <a:solidFill>
                  <a:schemeClr val="dk1"/>
                </a:solidFill>
                <a:latin typeface="Saira"/>
                <a:ea typeface="Saira"/>
                <a:cs typeface="Saira"/>
                <a:sym typeface="Saira"/>
              </a:rPr>
              <a:t>es</a:t>
            </a:r>
            <a:r>
              <a:rPr b="0" i="0" lang="es-AR" sz="3000" u="none" cap="none" strike="noStrike">
                <a:solidFill>
                  <a:schemeClr val="dk1"/>
                </a:solidFill>
                <a:latin typeface="Saira"/>
                <a:ea typeface="Saira"/>
                <a:cs typeface="Saira"/>
                <a:sym typeface="Saira"/>
              </a:rPr>
              <a:t> ?</a:t>
            </a:r>
            <a:endParaRPr b="0" i="0" sz="3000" u="none" cap="none" strike="noStrike">
              <a:solidFill>
                <a:schemeClr val="dk1"/>
              </a:solidFill>
              <a:latin typeface="Saira"/>
              <a:ea typeface="Saira"/>
              <a:cs typeface="Saira"/>
              <a:sym typeface="Saira"/>
            </a:endParaRPr>
          </a:p>
        </p:txBody>
      </p:sp>
      <p:pic>
        <p:nvPicPr>
          <p:cNvPr id="99" name="Google Shape;99;g1f2ce82f4ef_0_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pic>
        <p:nvPicPr>
          <p:cNvPr id="100" name="Google Shape;100;g1f2ce82f4ef_0_5"/>
          <p:cNvPicPr preferRelativeResize="0"/>
          <p:nvPr/>
        </p:nvPicPr>
        <p:blipFill rotWithShape="1">
          <a:blip r:embed="rId4">
            <a:alphaModFix/>
          </a:blip>
          <a:srcRect b="0" l="0" r="0" t="0"/>
          <a:stretch/>
        </p:blipFill>
        <p:spPr>
          <a:xfrm>
            <a:off x="4584775" y="3981412"/>
            <a:ext cx="2053350" cy="2080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1ff670518a6_0_6"/>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06" name="Google Shape;106;g1ff670518a6_0_6"/>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07" name="Google Shape;107;g1ff670518a6_0_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08" name="Google Shape;108;g1ff670518a6_0_6"/>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Elementos que lo componen</a:t>
            </a:r>
            <a:endParaRPr b="0" i="0" sz="3000" u="none" cap="none" strike="noStrike">
              <a:solidFill>
                <a:schemeClr val="dk1"/>
              </a:solidFill>
              <a:latin typeface="Saira"/>
              <a:ea typeface="Saira"/>
              <a:cs typeface="Saira"/>
              <a:sym typeface="Saira"/>
            </a:endParaRPr>
          </a:p>
        </p:txBody>
      </p:sp>
      <p:pic>
        <p:nvPicPr>
          <p:cNvPr id="109" name="Google Shape;109;g1ff670518a6_0_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10" name="Google Shape;110;g1ff670518a6_0_6"/>
          <p:cNvSpPr txBox="1"/>
          <p:nvPr/>
        </p:nvSpPr>
        <p:spPr>
          <a:xfrm>
            <a:off x="399900" y="2602000"/>
            <a:ext cx="7149000" cy="2216400"/>
          </a:xfrm>
          <a:prstGeom prst="rect">
            <a:avLst/>
          </a:prstGeom>
          <a:noFill/>
          <a:ln>
            <a:noFill/>
          </a:ln>
        </p:spPr>
        <p:txBody>
          <a:bodyPr anchorCtr="0" anchor="t" bIns="91425" lIns="91425" spcFirstLastPara="1" rIns="91425" wrap="square" tIns="91425">
            <a:spAutoFit/>
          </a:bodyPr>
          <a:lstStyle/>
          <a:p>
            <a:pPr indent="-368300" lvl="0" marL="457200" rtl="0" algn="l">
              <a:spcBef>
                <a:spcPts val="0"/>
              </a:spcBef>
              <a:spcAft>
                <a:spcPts val="0"/>
              </a:spcAft>
              <a:buSzPts val="2200"/>
              <a:buFont typeface="Saira"/>
              <a:buChar char="●"/>
            </a:pPr>
            <a:r>
              <a:rPr lang="es-AR" sz="2200">
                <a:latin typeface="Saira"/>
                <a:ea typeface="Saira"/>
                <a:cs typeface="Saira"/>
                <a:sym typeface="Saira"/>
              </a:rPr>
              <a:t>Palabras reservadas (keywords) </a:t>
            </a:r>
            <a:endParaRPr sz="2200">
              <a:latin typeface="Saira"/>
              <a:ea typeface="Saira"/>
              <a:cs typeface="Saira"/>
              <a:sym typeface="Saira"/>
            </a:endParaRPr>
          </a:p>
          <a:p>
            <a:pPr indent="-368300" lvl="0" marL="457200" rtl="0" algn="l">
              <a:spcBef>
                <a:spcPts val="0"/>
              </a:spcBef>
              <a:spcAft>
                <a:spcPts val="0"/>
              </a:spcAft>
              <a:buSzPts val="2200"/>
              <a:buFont typeface="Saira"/>
              <a:buChar char="●"/>
            </a:pPr>
            <a:r>
              <a:rPr lang="es-AR" sz="2200">
                <a:latin typeface="Saira"/>
                <a:ea typeface="Saira"/>
                <a:cs typeface="Saira"/>
                <a:sym typeface="Saira"/>
              </a:rPr>
              <a:t>Funciones integradas (built-in functions) </a:t>
            </a:r>
            <a:endParaRPr sz="2200">
              <a:latin typeface="Saira"/>
              <a:ea typeface="Saira"/>
              <a:cs typeface="Saira"/>
              <a:sym typeface="Saira"/>
            </a:endParaRPr>
          </a:p>
          <a:p>
            <a:pPr indent="-368300" lvl="0" marL="457200" rtl="0" algn="l">
              <a:spcBef>
                <a:spcPts val="0"/>
              </a:spcBef>
              <a:spcAft>
                <a:spcPts val="0"/>
              </a:spcAft>
              <a:buSzPts val="2200"/>
              <a:buFont typeface="Saira"/>
              <a:buChar char="●"/>
            </a:pPr>
            <a:r>
              <a:rPr lang="es-AR" sz="2200">
                <a:latin typeface="Saira"/>
                <a:ea typeface="Saira"/>
                <a:cs typeface="Saira"/>
                <a:sym typeface="Saira"/>
              </a:rPr>
              <a:t>Literales </a:t>
            </a:r>
            <a:endParaRPr sz="2200">
              <a:latin typeface="Saira"/>
              <a:ea typeface="Saira"/>
              <a:cs typeface="Saira"/>
              <a:sym typeface="Saira"/>
            </a:endParaRPr>
          </a:p>
          <a:p>
            <a:pPr indent="-368300" lvl="0" marL="457200" rtl="0" algn="l">
              <a:spcBef>
                <a:spcPts val="0"/>
              </a:spcBef>
              <a:spcAft>
                <a:spcPts val="0"/>
              </a:spcAft>
              <a:buSzPts val="2200"/>
              <a:buFont typeface="Saira"/>
              <a:buChar char="●"/>
            </a:pPr>
            <a:r>
              <a:rPr lang="es-AR" sz="2200">
                <a:latin typeface="Saira"/>
                <a:ea typeface="Saira"/>
                <a:cs typeface="Saira"/>
                <a:sym typeface="Saira"/>
              </a:rPr>
              <a:t>Operadores </a:t>
            </a:r>
            <a:endParaRPr sz="2200">
              <a:latin typeface="Saira"/>
              <a:ea typeface="Saira"/>
              <a:cs typeface="Saira"/>
              <a:sym typeface="Saira"/>
            </a:endParaRPr>
          </a:p>
          <a:p>
            <a:pPr indent="-368300" lvl="0" marL="457200" rtl="0" algn="l">
              <a:spcBef>
                <a:spcPts val="0"/>
              </a:spcBef>
              <a:spcAft>
                <a:spcPts val="0"/>
              </a:spcAft>
              <a:buSzPts val="2200"/>
              <a:buFont typeface="Saira"/>
              <a:buChar char="●"/>
            </a:pPr>
            <a:r>
              <a:rPr lang="es-AR" sz="2200">
                <a:latin typeface="Saira"/>
                <a:ea typeface="Saira"/>
                <a:cs typeface="Saira"/>
                <a:sym typeface="Saira"/>
              </a:rPr>
              <a:t>Delimitadores </a:t>
            </a:r>
            <a:endParaRPr sz="2200">
              <a:latin typeface="Saira"/>
              <a:ea typeface="Saira"/>
              <a:cs typeface="Saira"/>
              <a:sym typeface="Saira"/>
            </a:endParaRPr>
          </a:p>
          <a:p>
            <a:pPr indent="0" lvl="0" marL="457200" rtl="0" algn="l">
              <a:spcBef>
                <a:spcPts val="0"/>
              </a:spcBef>
              <a:spcAft>
                <a:spcPts val="0"/>
              </a:spcAft>
              <a:buNone/>
            </a:pPr>
            <a:r>
              <a:t/>
            </a:r>
            <a:endParaRPr sz="2200">
              <a:latin typeface="Saira"/>
              <a:ea typeface="Saira"/>
              <a:cs typeface="Saira"/>
              <a:sym typeface="Sai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g1ff670518a6_0_24"/>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16" name="Google Shape;116;g1ff670518a6_0_24"/>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17" name="Google Shape;117;g1ff670518a6_0_24"/>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18" name="Google Shape;118;g1ff670518a6_0_24"/>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Estructura de un </a:t>
            </a:r>
            <a:r>
              <a:rPr lang="es-AR" sz="3000">
                <a:solidFill>
                  <a:schemeClr val="dk1"/>
                </a:solidFill>
                <a:latin typeface="Saira"/>
                <a:ea typeface="Saira"/>
                <a:cs typeface="Saira"/>
                <a:sym typeface="Saira"/>
              </a:rPr>
              <a:t>código</a:t>
            </a:r>
            <a:r>
              <a:rPr lang="es-AR" sz="3000">
                <a:solidFill>
                  <a:schemeClr val="dk1"/>
                </a:solidFill>
                <a:latin typeface="Saira"/>
                <a:ea typeface="Saira"/>
                <a:cs typeface="Saira"/>
                <a:sym typeface="Saira"/>
              </a:rPr>
              <a:t> </a:t>
            </a:r>
            <a:endParaRPr b="0" i="0" sz="3000" u="none" cap="none" strike="noStrike">
              <a:solidFill>
                <a:schemeClr val="dk1"/>
              </a:solidFill>
              <a:latin typeface="Saira"/>
              <a:ea typeface="Saira"/>
              <a:cs typeface="Saira"/>
              <a:sym typeface="Saira"/>
            </a:endParaRPr>
          </a:p>
        </p:txBody>
      </p:sp>
      <p:pic>
        <p:nvPicPr>
          <p:cNvPr id="119" name="Google Shape;119;g1ff670518a6_0_24"/>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20" name="Google Shape;120;g1ff670518a6_0_24"/>
          <p:cNvSpPr txBox="1"/>
          <p:nvPr/>
        </p:nvSpPr>
        <p:spPr>
          <a:xfrm>
            <a:off x="399900" y="2602000"/>
            <a:ext cx="3663300" cy="15393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200">
                <a:latin typeface="Saira"/>
                <a:ea typeface="Saira"/>
                <a:cs typeface="Saira"/>
                <a:sym typeface="Saira"/>
              </a:rPr>
              <a:t>base= 5</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altura= 3</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superficie=base*altura</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print(</a:t>
            </a:r>
            <a:r>
              <a:rPr lang="es-AR" sz="2200">
                <a:solidFill>
                  <a:schemeClr val="dk1"/>
                </a:solidFill>
                <a:latin typeface="Saira"/>
                <a:ea typeface="Saira"/>
                <a:cs typeface="Saira"/>
                <a:sym typeface="Saira"/>
              </a:rPr>
              <a:t>superficie</a:t>
            </a:r>
            <a:r>
              <a:rPr lang="es-AR" sz="2200">
                <a:latin typeface="Saira"/>
                <a:ea typeface="Saira"/>
                <a:cs typeface="Saira"/>
                <a:sym typeface="Saira"/>
              </a:rPr>
              <a:t>)</a:t>
            </a:r>
            <a:endParaRPr sz="2200">
              <a:latin typeface="Saira"/>
              <a:ea typeface="Saira"/>
              <a:cs typeface="Saira"/>
              <a:sym typeface="Saira"/>
            </a:endParaRPr>
          </a:p>
        </p:txBody>
      </p:sp>
      <p:sp>
        <p:nvSpPr>
          <p:cNvPr id="121" name="Google Shape;121;g1ff670518a6_0_24"/>
          <p:cNvSpPr txBox="1"/>
          <p:nvPr/>
        </p:nvSpPr>
        <p:spPr>
          <a:xfrm>
            <a:off x="4596000" y="2671000"/>
            <a:ext cx="43659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Se recomienda que cada línea contenga una única instrucción</a:t>
            </a:r>
            <a:endParaRPr>
              <a:latin typeface="Saira"/>
              <a:ea typeface="Saira"/>
              <a:cs typeface="Saira"/>
              <a:sym typeface="Saira"/>
            </a:endParaRPr>
          </a:p>
        </p:txBody>
      </p:sp>
      <p:sp>
        <p:nvSpPr>
          <p:cNvPr id="122" name="Google Shape;122;g1ff670518a6_0_24"/>
          <p:cNvSpPr txBox="1"/>
          <p:nvPr/>
        </p:nvSpPr>
        <p:spPr>
          <a:xfrm>
            <a:off x="4682025" y="4504600"/>
            <a:ext cx="48471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Si una instrucción es muy larga, se puede dividir en varias líneas usando el </a:t>
            </a:r>
            <a:r>
              <a:rPr lang="es-AR">
                <a:latin typeface="Saira"/>
                <a:ea typeface="Saira"/>
                <a:cs typeface="Saira"/>
                <a:sym typeface="Saira"/>
              </a:rPr>
              <a:t>carácter</a:t>
            </a:r>
            <a:r>
              <a:rPr lang="es-AR">
                <a:latin typeface="Saira"/>
                <a:ea typeface="Saira"/>
                <a:cs typeface="Saira"/>
                <a:sym typeface="Saira"/>
              </a:rPr>
              <a:t> contrabarra (\)</a:t>
            </a:r>
            <a:endParaRPr>
              <a:latin typeface="Saira"/>
              <a:ea typeface="Saira"/>
              <a:cs typeface="Saira"/>
              <a:sym typeface="Saira"/>
            </a:endParaRPr>
          </a:p>
        </p:txBody>
      </p:sp>
      <p:sp>
        <p:nvSpPr>
          <p:cNvPr id="123" name="Google Shape;123;g1ff670518a6_0_24"/>
          <p:cNvSpPr txBox="1"/>
          <p:nvPr/>
        </p:nvSpPr>
        <p:spPr>
          <a:xfrm>
            <a:off x="449175" y="4349550"/>
            <a:ext cx="3614100" cy="1877700"/>
          </a:xfrm>
          <a:prstGeom prst="rect">
            <a:avLst/>
          </a:prstGeom>
          <a:solidFill>
            <a:srgbClr val="CFE2F3"/>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200">
                <a:latin typeface="Saira"/>
                <a:ea typeface="Saira"/>
                <a:cs typeface="Saira"/>
                <a:sym typeface="Saira"/>
              </a:rPr>
              <a:t>base= 5</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altura= 3</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superficie=base* \ </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altura</a:t>
            </a:r>
            <a:endParaRPr sz="2200">
              <a:latin typeface="Saira"/>
              <a:ea typeface="Saira"/>
              <a:cs typeface="Saira"/>
              <a:sym typeface="Saira"/>
            </a:endParaRPr>
          </a:p>
          <a:p>
            <a:pPr indent="0" lvl="0" marL="0" rtl="0" algn="l">
              <a:spcBef>
                <a:spcPts val="0"/>
              </a:spcBef>
              <a:spcAft>
                <a:spcPts val="0"/>
              </a:spcAft>
              <a:buNone/>
            </a:pPr>
            <a:r>
              <a:rPr lang="es-AR" sz="2200">
                <a:latin typeface="Saira"/>
                <a:ea typeface="Saira"/>
                <a:cs typeface="Saira"/>
                <a:sym typeface="Saira"/>
              </a:rPr>
              <a:t>print(</a:t>
            </a:r>
            <a:r>
              <a:rPr lang="es-AR" sz="2200">
                <a:solidFill>
                  <a:schemeClr val="dk1"/>
                </a:solidFill>
                <a:latin typeface="Saira"/>
                <a:ea typeface="Saira"/>
                <a:cs typeface="Saira"/>
                <a:sym typeface="Saira"/>
              </a:rPr>
              <a:t>superficie</a:t>
            </a:r>
            <a:r>
              <a:rPr lang="es-AR" sz="2200">
                <a:latin typeface="Saira"/>
                <a:ea typeface="Saira"/>
                <a:cs typeface="Saira"/>
                <a:sym typeface="Saira"/>
              </a:rPr>
              <a:t>)</a:t>
            </a:r>
            <a:endParaRPr sz="2200">
              <a:latin typeface="Saira"/>
              <a:ea typeface="Saira"/>
              <a:cs typeface="Saira"/>
              <a:sym typeface="Sai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1ff670518a6_0_40"/>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29" name="Google Shape;129;g1ff670518a6_0_40"/>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30" name="Google Shape;130;g1ff670518a6_0_40"/>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31" name="Google Shape;131;g1ff670518a6_0_40"/>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Palabras reservadas</a:t>
            </a:r>
            <a:endParaRPr b="0" i="0" sz="3000" u="none" cap="none" strike="noStrike">
              <a:solidFill>
                <a:schemeClr val="dk1"/>
              </a:solidFill>
              <a:latin typeface="Saira"/>
              <a:ea typeface="Saira"/>
              <a:cs typeface="Saira"/>
              <a:sym typeface="Saira"/>
            </a:endParaRPr>
          </a:p>
        </p:txBody>
      </p:sp>
      <p:pic>
        <p:nvPicPr>
          <p:cNvPr id="132" name="Google Shape;132;g1ff670518a6_0_40"/>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33" name="Google Shape;133;g1ff670518a6_0_40"/>
          <p:cNvSpPr txBox="1"/>
          <p:nvPr/>
        </p:nvSpPr>
        <p:spPr>
          <a:xfrm>
            <a:off x="371025" y="2411875"/>
            <a:ext cx="8472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Las palabras reservadas de Python son las que forman el núcleo del lenguaje Python</a:t>
            </a:r>
            <a:endParaRPr sz="1600">
              <a:latin typeface="Saira"/>
              <a:ea typeface="Saira"/>
              <a:cs typeface="Saira"/>
              <a:sym typeface="Saira"/>
            </a:endParaRPr>
          </a:p>
        </p:txBody>
      </p:sp>
      <p:sp>
        <p:nvSpPr>
          <p:cNvPr id="134" name="Google Shape;134;g1ff670518a6_0_40"/>
          <p:cNvSpPr txBox="1"/>
          <p:nvPr/>
        </p:nvSpPr>
        <p:spPr>
          <a:xfrm>
            <a:off x="864000" y="3137575"/>
            <a:ext cx="9170400" cy="15393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2200">
                <a:latin typeface="Saira"/>
                <a:ea typeface="Saira"/>
                <a:cs typeface="Saira"/>
                <a:sym typeface="Saira"/>
              </a:rPr>
              <a:t>False - await - else - import - pass - None - break - except - in - raise - True - class - finally - is - return - and - continue - for - lambda - try - as - def - from - nonlocal - while - assert - del - global - not - with - async - elif - if - or - yield</a:t>
            </a:r>
            <a:endParaRPr sz="2200">
              <a:latin typeface="Saira"/>
              <a:ea typeface="Saira"/>
              <a:cs typeface="Saira"/>
              <a:sym typeface="Saira"/>
            </a:endParaRPr>
          </a:p>
        </p:txBody>
      </p:sp>
      <p:sp>
        <p:nvSpPr>
          <p:cNvPr id="135" name="Google Shape;135;g1ff670518a6_0_40"/>
          <p:cNvSpPr txBox="1"/>
          <p:nvPr/>
        </p:nvSpPr>
        <p:spPr>
          <a:xfrm>
            <a:off x="509925" y="4971475"/>
            <a:ext cx="8333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Estas palabras no pueden utilizarse para nombrar otros elementos, pero pueden aparecer en cadenas de texto.</a:t>
            </a:r>
            <a:endParaRPr sz="1600">
              <a:latin typeface="Saira"/>
              <a:ea typeface="Saira"/>
              <a:cs typeface="Saira"/>
              <a:sym typeface="Sair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g1ff670518a6_0_62"/>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41" name="Google Shape;141;g1ff670518a6_0_62"/>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42" name="Google Shape;142;g1ff670518a6_0_62"/>
          <p:cNvSpPr txBox="1"/>
          <p:nvPr/>
        </p:nvSpPr>
        <p:spPr>
          <a:xfrm>
            <a:off x="3954850" y="64413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43" name="Google Shape;143;g1ff670518a6_0_62"/>
          <p:cNvSpPr txBox="1"/>
          <p:nvPr/>
        </p:nvSpPr>
        <p:spPr>
          <a:xfrm>
            <a:off x="319450" y="1641625"/>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Literales</a:t>
            </a:r>
            <a:endParaRPr b="0" i="0" sz="3000" u="none" cap="none" strike="noStrike">
              <a:solidFill>
                <a:schemeClr val="dk1"/>
              </a:solidFill>
              <a:latin typeface="Saira"/>
              <a:ea typeface="Saira"/>
              <a:cs typeface="Saira"/>
              <a:sym typeface="Saira"/>
            </a:endParaRPr>
          </a:p>
        </p:txBody>
      </p:sp>
      <p:pic>
        <p:nvPicPr>
          <p:cNvPr id="144" name="Google Shape;144;g1ff670518a6_0_62"/>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45" name="Google Shape;145;g1ff670518a6_0_62"/>
          <p:cNvSpPr txBox="1"/>
          <p:nvPr/>
        </p:nvSpPr>
        <p:spPr>
          <a:xfrm>
            <a:off x="388900" y="2185000"/>
            <a:ext cx="83331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Los literales son valores constantes que pueden ser utilizados directamente en el código Python sin necesidad de ser calculados o evaluados.</a:t>
            </a:r>
            <a:endParaRPr sz="1600">
              <a:latin typeface="Saira"/>
              <a:ea typeface="Saira"/>
              <a:cs typeface="Saira"/>
              <a:sym typeface="Saira"/>
            </a:endParaRPr>
          </a:p>
        </p:txBody>
      </p:sp>
      <p:sp>
        <p:nvSpPr>
          <p:cNvPr id="146" name="Google Shape;146;g1ff670518a6_0_62"/>
          <p:cNvSpPr txBox="1"/>
          <p:nvPr/>
        </p:nvSpPr>
        <p:spPr>
          <a:xfrm>
            <a:off x="853675" y="2862100"/>
            <a:ext cx="9283800" cy="3632700"/>
          </a:xfrm>
          <a:prstGeom prst="rect">
            <a:avLst/>
          </a:prstGeom>
          <a:solidFill>
            <a:srgbClr val="B6D7A8"/>
          </a:solidFill>
          <a:ln>
            <a:noFill/>
          </a:ln>
        </p:spPr>
        <p:txBody>
          <a:bodyPr anchorCtr="0" anchor="t" bIns="91425" lIns="91425" spcFirstLastPara="1" rIns="91425" wrap="square" tIns="91425">
            <a:spAutoFit/>
          </a:bodyPr>
          <a:lstStyle/>
          <a:p>
            <a:pPr indent="-304800" lvl="0" marL="457200" rtl="0" algn="l">
              <a:lnSpc>
                <a:spcPct val="115000"/>
              </a:lnSpc>
              <a:spcBef>
                <a:spcPts val="0"/>
              </a:spcBef>
              <a:spcAft>
                <a:spcPts val="0"/>
              </a:spcAft>
              <a:buClr>
                <a:srgbClr val="0D0D0D"/>
              </a:buClr>
              <a:buSzPts val="1200"/>
              <a:buFont typeface="Saira"/>
              <a:buAutoNum type="arabicPeriod"/>
            </a:pPr>
            <a:r>
              <a:rPr lang="es-AR" sz="1200">
                <a:solidFill>
                  <a:srgbClr val="0D0D0D"/>
                </a:solidFill>
                <a:latin typeface="Saira"/>
                <a:ea typeface="Saira"/>
                <a:cs typeface="Saira"/>
                <a:sym typeface="Saira"/>
              </a:rPr>
              <a:t>Literales numéricos: Representan valores numéricos, como enteros o números de punto flotante. Por ejemplo:</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42</a:t>
            </a:r>
            <a:r>
              <a:rPr lang="es-AR" sz="1200">
                <a:solidFill>
                  <a:srgbClr val="0D0D0D"/>
                </a:solidFill>
                <a:latin typeface="Roboto"/>
                <a:ea typeface="Roboto"/>
                <a:cs typeface="Roboto"/>
                <a:sym typeface="Roboto"/>
              </a:rPr>
              <a:t> </a:t>
            </a:r>
            <a:r>
              <a:rPr lang="es-AR" sz="1200">
                <a:solidFill>
                  <a:srgbClr val="0D0D0D"/>
                </a:solidFill>
                <a:latin typeface="Saira"/>
                <a:ea typeface="Saira"/>
                <a:cs typeface="Saira"/>
                <a:sym typeface="Saira"/>
              </a:rPr>
              <a:t>(entero)</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3.14</a:t>
            </a:r>
            <a:r>
              <a:rPr lang="es-AR" sz="1200">
                <a:solidFill>
                  <a:srgbClr val="0D0D0D"/>
                </a:solidFill>
                <a:latin typeface="Saira"/>
                <a:ea typeface="Saira"/>
                <a:cs typeface="Saira"/>
                <a:sym typeface="Saira"/>
              </a:rPr>
              <a:t> (número de punto flotante)</a:t>
            </a:r>
            <a:endParaRPr sz="1200">
              <a:solidFill>
                <a:srgbClr val="0D0D0D"/>
              </a:solidFill>
              <a:latin typeface="Saira"/>
              <a:ea typeface="Saira"/>
              <a:cs typeface="Saira"/>
              <a:sym typeface="Saira"/>
            </a:endParaRPr>
          </a:p>
          <a:p>
            <a:pPr indent="-304800" lvl="0" marL="457200" rtl="0" algn="l">
              <a:lnSpc>
                <a:spcPct val="115000"/>
              </a:lnSpc>
              <a:spcBef>
                <a:spcPts val="0"/>
              </a:spcBef>
              <a:spcAft>
                <a:spcPts val="0"/>
              </a:spcAft>
              <a:buClr>
                <a:srgbClr val="0D0D0D"/>
              </a:buClr>
              <a:buSzPts val="1200"/>
              <a:buFont typeface="Saira"/>
              <a:buAutoNum type="arabicPeriod"/>
            </a:pPr>
            <a:r>
              <a:rPr lang="es-AR" sz="1200">
                <a:solidFill>
                  <a:srgbClr val="0D0D0D"/>
                </a:solidFill>
                <a:latin typeface="Saira"/>
                <a:ea typeface="Saira"/>
                <a:cs typeface="Saira"/>
                <a:sym typeface="Saira"/>
              </a:rPr>
              <a:t>Literales de cadena de texto: Representan secuencias de caracteres. Pueden estar encerrados entre comillas simples (' '), comillas dobles (" "), o comillas triples (''' ''' o """ """). Por ejemplo:</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'Hola mundo'</a:t>
            </a:r>
            <a:endParaRPr sz="1050">
              <a:solidFill>
                <a:srgbClr val="0D0D0D"/>
              </a:solidFill>
              <a:latin typeface="Courier New"/>
              <a:ea typeface="Courier New"/>
              <a:cs typeface="Courier New"/>
              <a:sym typeface="Courier New"/>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"Python es genial"</a:t>
            </a:r>
            <a:endParaRPr sz="1050">
              <a:solidFill>
                <a:srgbClr val="0D0D0D"/>
              </a:solidFill>
              <a:latin typeface="Courier New"/>
              <a:ea typeface="Courier New"/>
              <a:cs typeface="Courier New"/>
              <a:sym typeface="Courier New"/>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'''Este es un literal de cadena multilinea'''</a:t>
            </a:r>
            <a:endParaRPr sz="1050">
              <a:solidFill>
                <a:srgbClr val="0D0D0D"/>
              </a:solidFill>
              <a:latin typeface="Courier New"/>
              <a:ea typeface="Courier New"/>
              <a:cs typeface="Courier New"/>
              <a:sym typeface="Courier New"/>
            </a:endParaRPr>
          </a:p>
          <a:p>
            <a:pPr indent="-304800" lvl="0" marL="457200" rtl="0" algn="l">
              <a:lnSpc>
                <a:spcPct val="115000"/>
              </a:lnSpc>
              <a:spcBef>
                <a:spcPts val="0"/>
              </a:spcBef>
              <a:spcAft>
                <a:spcPts val="0"/>
              </a:spcAft>
              <a:buClr>
                <a:srgbClr val="0D0D0D"/>
              </a:buClr>
              <a:buSzPts val="1200"/>
              <a:buFont typeface="Roboto"/>
              <a:buAutoNum type="arabicPeriod"/>
            </a:pPr>
            <a:r>
              <a:rPr lang="es-AR" sz="1200">
                <a:solidFill>
                  <a:srgbClr val="0D0D0D"/>
                </a:solidFill>
                <a:latin typeface="Saira"/>
                <a:ea typeface="Saira"/>
                <a:cs typeface="Saira"/>
                <a:sym typeface="Saira"/>
              </a:rPr>
              <a:t>Literales booleanos: Representan los valores verdadero (</a:t>
            </a:r>
            <a:r>
              <a:rPr lang="es-AR" sz="1050">
                <a:solidFill>
                  <a:srgbClr val="0D0D0D"/>
                </a:solidFill>
                <a:latin typeface="Saira"/>
                <a:ea typeface="Saira"/>
                <a:cs typeface="Saira"/>
                <a:sym typeface="Saira"/>
              </a:rPr>
              <a:t>True</a:t>
            </a:r>
            <a:r>
              <a:rPr lang="es-AR" sz="1200">
                <a:solidFill>
                  <a:srgbClr val="0D0D0D"/>
                </a:solidFill>
                <a:latin typeface="Saira"/>
                <a:ea typeface="Saira"/>
                <a:cs typeface="Saira"/>
                <a:sym typeface="Saira"/>
              </a:rPr>
              <a:t>) y falso (</a:t>
            </a:r>
            <a:r>
              <a:rPr lang="es-AR" sz="1050">
                <a:solidFill>
                  <a:srgbClr val="0D0D0D"/>
                </a:solidFill>
                <a:latin typeface="Saira"/>
                <a:ea typeface="Saira"/>
                <a:cs typeface="Saira"/>
                <a:sym typeface="Saira"/>
              </a:rPr>
              <a:t>False</a:t>
            </a:r>
            <a:r>
              <a:rPr lang="es-AR" sz="1200">
                <a:solidFill>
                  <a:srgbClr val="0D0D0D"/>
                </a:solidFill>
                <a:latin typeface="Saira"/>
                <a:ea typeface="Saira"/>
                <a:cs typeface="Saira"/>
                <a:sym typeface="Saira"/>
              </a:rPr>
              <a:t>). Por ejemplo:</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True</a:t>
            </a:r>
            <a:endParaRPr sz="1050">
              <a:solidFill>
                <a:srgbClr val="0D0D0D"/>
              </a:solidFill>
              <a:latin typeface="Courier New"/>
              <a:ea typeface="Courier New"/>
              <a:cs typeface="Courier New"/>
              <a:sym typeface="Courier New"/>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False</a:t>
            </a:r>
            <a:endParaRPr sz="1050">
              <a:solidFill>
                <a:srgbClr val="0D0D0D"/>
              </a:solidFill>
              <a:latin typeface="Courier New"/>
              <a:ea typeface="Courier New"/>
              <a:cs typeface="Courier New"/>
              <a:sym typeface="Courier New"/>
            </a:endParaRPr>
          </a:p>
          <a:p>
            <a:pPr indent="-304800" lvl="0" marL="457200" rtl="0" algn="l">
              <a:lnSpc>
                <a:spcPct val="115000"/>
              </a:lnSpc>
              <a:spcBef>
                <a:spcPts val="0"/>
              </a:spcBef>
              <a:spcAft>
                <a:spcPts val="0"/>
              </a:spcAft>
              <a:buClr>
                <a:srgbClr val="0D0D0D"/>
              </a:buClr>
              <a:buSzPts val="1200"/>
              <a:buFont typeface="Saira"/>
              <a:buAutoNum type="arabicPeriod"/>
            </a:pPr>
            <a:r>
              <a:rPr lang="es-AR" sz="1200">
                <a:solidFill>
                  <a:srgbClr val="0D0D0D"/>
                </a:solidFill>
                <a:latin typeface="Saira"/>
                <a:ea typeface="Saira"/>
                <a:cs typeface="Saira"/>
                <a:sym typeface="Saira"/>
              </a:rPr>
              <a:t>Literales de secuencia: Representan listas, tuplas y diccionarios. Por ejemplo:</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[1, 2, 3]</a:t>
            </a:r>
            <a:r>
              <a:rPr lang="es-AR" sz="1200">
                <a:solidFill>
                  <a:srgbClr val="0D0D0D"/>
                </a:solidFill>
                <a:latin typeface="Roboto"/>
                <a:ea typeface="Roboto"/>
                <a:cs typeface="Roboto"/>
                <a:sym typeface="Roboto"/>
              </a:rPr>
              <a:t> </a:t>
            </a:r>
            <a:r>
              <a:rPr lang="es-AR" sz="1200">
                <a:solidFill>
                  <a:srgbClr val="0D0D0D"/>
                </a:solidFill>
                <a:latin typeface="Saira"/>
                <a:ea typeface="Saira"/>
                <a:cs typeface="Saira"/>
                <a:sym typeface="Saira"/>
              </a:rPr>
              <a:t>(lista)</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(1, 2, 3)</a:t>
            </a:r>
            <a:r>
              <a:rPr lang="es-AR" sz="1200">
                <a:solidFill>
                  <a:srgbClr val="0D0D0D"/>
                </a:solidFill>
                <a:latin typeface="Roboto"/>
                <a:ea typeface="Roboto"/>
                <a:cs typeface="Roboto"/>
                <a:sym typeface="Roboto"/>
              </a:rPr>
              <a:t> </a:t>
            </a:r>
            <a:r>
              <a:rPr lang="es-AR" sz="1200">
                <a:solidFill>
                  <a:srgbClr val="0D0D0D"/>
                </a:solidFill>
                <a:latin typeface="Saira"/>
                <a:ea typeface="Saira"/>
                <a:cs typeface="Saira"/>
                <a:sym typeface="Saira"/>
              </a:rPr>
              <a:t>(tupla)</a:t>
            </a:r>
            <a:endParaRPr sz="1200">
              <a:solidFill>
                <a:srgbClr val="0D0D0D"/>
              </a:solidFill>
              <a:latin typeface="Saira"/>
              <a:ea typeface="Saira"/>
              <a:cs typeface="Saira"/>
              <a:sym typeface="Saira"/>
            </a:endParaRPr>
          </a:p>
          <a:p>
            <a:pPr indent="-304800" lvl="1" marL="914400" rtl="0" algn="l">
              <a:lnSpc>
                <a:spcPct val="115000"/>
              </a:lnSpc>
              <a:spcBef>
                <a:spcPts val="0"/>
              </a:spcBef>
              <a:spcAft>
                <a:spcPts val="0"/>
              </a:spcAft>
              <a:buClr>
                <a:srgbClr val="0D0D0D"/>
              </a:buClr>
              <a:buSzPts val="1200"/>
              <a:buFont typeface="Roboto"/>
              <a:buChar char="●"/>
            </a:pPr>
            <a:r>
              <a:rPr lang="es-AR" sz="1050">
                <a:solidFill>
                  <a:srgbClr val="0D0D0D"/>
                </a:solidFill>
                <a:latin typeface="Courier New"/>
                <a:ea typeface="Courier New"/>
                <a:cs typeface="Courier New"/>
                <a:sym typeface="Courier New"/>
              </a:rPr>
              <a:t>{ 'a': 1, 'b': 2, 'c': 3 }</a:t>
            </a:r>
            <a:r>
              <a:rPr lang="es-AR" sz="1200">
                <a:solidFill>
                  <a:srgbClr val="0D0D0D"/>
                </a:solidFill>
                <a:latin typeface="Roboto"/>
                <a:ea typeface="Roboto"/>
                <a:cs typeface="Roboto"/>
                <a:sym typeface="Roboto"/>
              </a:rPr>
              <a:t> </a:t>
            </a:r>
            <a:r>
              <a:rPr lang="es-AR" sz="1200">
                <a:solidFill>
                  <a:srgbClr val="0D0D0D"/>
                </a:solidFill>
                <a:latin typeface="Saira"/>
                <a:ea typeface="Saira"/>
                <a:cs typeface="Saira"/>
                <a:sym typeface="Saira"/>
              </a:rPr>
              <a:t>(diccionario)</a:t>
            </a:r>
            <a:endParaRPr sz="1200">
              <a:solidFill>
                <a:srgbClr val="0D0D0D"/>
              </a:solidFill>
              <a:latin typeface="Saira"/>
              <a:ea typeface="Saira"/>
              <a:cs typeface="Saira"/>
              <a:sym typeface="Saira"/>
            </a:endParaRPr>
          </a:p>
          <a:p>
            <a:pPr indent="0" lvl="0" marL="0" rtl="0" algn="l">
              <a:spcBef>
                <a:spcPts val="0"/>
              </a:spcBef>
              <a:spcAft>
                <a:spcPts val="0"/>
              </a:spcAft>
              <a:buNone/>
            </a:pPr>
            <a:r>
              <a:t/>
            </a:r>
            <a:endParaRPr sz="1700">
              <a:latin typeface="Saira"/>
              <a:ea typeface="Saira"/>
              <a:cs typeface="Saira"/>
              <a:sym typeface="Sair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1ff670518a6_0_76"/>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52" name="Google Shape;152;g1ff670518a6_0_76"/>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53" name="Google Shape;153;g1ff670518a6_0_7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54" name="Google Shape;154;g1ff670518a6_0_76"/>
          <p:cNvSpPr txBox="1"/>
          <p:nvPr/>
        </p:nvSpPr>
        <p:spPr>
          <a:xfrm>
            <a:off x="319450" y="1539000"/>
            <a:ext cx="54453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Operadores Aritméticos</a:t>
            </a:r>
            <a:endParaRPr sz="3000">
              <a:solidFill>
                <a:schemeClr val="dk1"/>
              </a:solidFill>
              <a:latin typeface="Saira"/>
              <a:ea typeface="Saira"/>
              <a:cs typeface="Saira"/>
              <a:sym typeface="Saira"/>
            </a:endParaRPr>
          </a:p>
          <a:p>
            <a:pPr indent="0" lvl="0" marL="0" marR="0" rtl="0" algn="l">
              <a:lnSpc>
                <a:spcPct val="100000"/>
              </a:lnSpc>
              <a:spcBef>
                <a:spcPts val="0"/>
              </a:spcBef>
              <a:spcAft>
                <a:spcPts val="0"/>
              </a:spcAft>
              <a:buClr>
                <a:srgbClr val="000000"/>
              </a:buClr>
              <a:buSzPts val="3000"/>
              <a:buFont typeface="Arial"/>
              <a:buNone/>
            </a:pPr>
            <a:r>
              <a:t/>
            </a:r>
            <a:endParaRPr sz="3000">
              <a:solidFill>
                <a:schemeClr val="dk1"/>
              </a:solidFill>
              <a:latin typeface="Saira"/>
              <a:ea typeface="Saira"/>
              <a:cs typeface="Saira"/>
              <a:sym typeface="Saira"/>
            </a:endParaRPr>
          </a:p>
        </p:txBody>
      </p:sp>
      <p:pic>
        <p:nvPicPr>
          <p:cNvPr id="155" name="Google Shape;155;g1ff670518a6_0_7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56" name="Google Shape;156;g1ff670518a6_0_76"/>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pic>
        <p:nvPicPr>
          <p:cNvPr id="157" name="Google Shape;157;g1ff670518a6_0_76"/>
          <p:cNvPicPr preferRelativeResize="0"/>
          <p:nvPr/>
        </p:nvPicPr>
        <p:blipFill>
          <a:blip r:embed="rId5">
            <a:alphaModFix/>
          </a:blip>
          <a:stretch>
            <a:fillRect/>
          </a:stretch>
        </p:blipFill>
        <p:spPr>
          <a:xfrm>
            <a:off x="1006500" y="2905500"/>
            <a:ext cx="5146697" cy="2746800"/>
          </a:xfrm>
          <a:prstGeom prst="rect">
            <a:avLst/>
          </a:prstGeom>
          <a:noFill/>
          <a:ln>
            <a:noFill/>
          </a:ln>
        </p:spPr>
      </p:pic>
      <p:sp>
        <p:nvSpPr>
          <p:cNvPr id="158" name="Google Shape;158;g1ff670518a6_0_76"/>
          <p:cNvSpPr txBox="1"/>
          <p:nvPr/>
        </p:nvSpPr>
        <p:spPr>
          <a:xfrm>
            <a:off x="723250" y="2247000"/>
            <a:ext cx="9776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Los</a:t>
            </a:r>
            <a:r>
              <a:rPr lang="es-AR">
                <a:latin typeface="Saira"/>
                <a:ea typeface="Saira"/>
                <a:cs typeface="Saira"/>
                <a:sym typeface="Saira"/>
              </a:rPr>
              <a:t> operadores aritméticos toman dos operandos como entrada, realizan un cálculo y devuelven el resultado</a:t>
            </a:r>
            <a:endParaRPr>
              <a:latin typeface="Saira"/>
              <a:ea typeface="Saira"/>
              <a:cs typeface="Saira"/>
              <a:sym typeface="Saira"/>
            </a:endParaRPr>
          </a:p>
        </p:txBody>
      </p:sp>
      <p:sp>
        <p:nvSpPr>
          <p:cNvPr id="159" name="Google Shape;159;g1ff670518a6_0_76"/>
          <p:cNvSpPr txBox="1"/>
          <p:nvPr/>
        </p:nvSpPr>
        <p:spPr>
          <a:xfrm>
            <a:off x="6950575" y="3238225"/>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solidFill>
                  <a:srgbClr val="FF0000"/>
                </a:solidFill>
                <a:latin typeface="Saira"/>
                <a:ea typeface="Saira"/>
                <a:cs typeface="Saira"/>
                <a:sym typeface="Saira"/>
              </a:rPr>
              <a:t>Para obtener el resultado en tipo flotante, uno de los operandos también debe ser de tipo flotante.</a:t>
            </a:r>
            <a:endParaRPr>
              <a:solidFill>
                <a:srgbClr val="FF0000"/>
              </a:solidFill>
              <a:latin typeface="Saira"/>
              <a:ea typeface="Saira"/>
              <a:cs typeface="Saira"/>
              <a:sym typeface="Sair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1ff670518a6_0_89"/>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65" name="Google Shape;165;g1ff670518a6_0_89"/>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66" name="Google Shape;166;g1ff670518a6_0_8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pic>
        <p:nvPicPr>
          <p:cNvPr id="167" name="Google Shape;167;g1ff670518a6_0_8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68" name="Google Shape;168;g1ff670518a6_0_89"/>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pic>
        <p:nvPicPr>
          <p:cNvPr id="169" name="Google Shape;169;g1ff670518a6_0_89"/>
          <p:cNvPicPr preferRelativeResize="0"/>
          <p:nvPr/>
        </p:nvPicPr>
        <p:blipFill>
          <a:blip r:embed="rId5">
            <a:alphaModFix/>
          </a:blip>
          <a:stretch>
            <a:fillRect/>
          </a:stretch>
        </p:blipFill>
        <p:spPr>
          <a:xfrm>
            <a:off x="1140600" y="3223600"/>
            <a:ext cx="8941694" cy="2428700"/>
          </a:xfrm>
          <a:prstGeom prst="rect">
            <a:avLst/>
          </a:prstGeom>
          <a:noFill/>
          <a:ln>
            <a:noFill/>
          </a:ln>
        </p:spPr>
      </p:pic>
      <p:sp>
        <p:nvSpPr>
          <p:cNvPr id="170" name="Google Shape;170;g1ff670518a6_0_89"/>
          <p:cNvSpPr txBox="1"/>
          <p:nvPr/>
        </p:nvSpPr>
        <p:spPr>
          <a:xfrm>
            <a:off x="319450" y="153900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Operadores Relacionales</a:t>
            </a:r>
            <a:endParaRPr sz="3000">
              <a:solidFill>
                <a:schemeClr val="dk1"/>
              </a:solidFill>
              <a:latin typeface="Saira"/>
              <a:ea typeface="Saira"/>
              <a:cs typeface="Saira"/>
              <a:sym typeface="Saira"/>
            </a:endParaRPr>
          </a:p>
        </p:txBody>
      </p:sp>
      <p:sp>
        <p:nvSpPr>
          <p:cNvPr id="171" name="Google Shape;171;g1ff670518a6_0_89"/>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sp>
        <p:nvSpPr>
          <p:cNvPr id="172" name="Google Shape;172;g1ff670518a6_0_89"/>
          <p:cNvSpPr txBox="1"/>
          <p:nvPr/>
        </p:nvSpPr>
        <p:spPr>
          <a:xfrm>
            <a:off x="319450" y="2280275"/>
            <a:ext cx="847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Un operador relacional se emplea para comparar y establecer la relación entre ellos. Devuelve un valor booleano (true o false) basado en la condición.</a:t>
            </a:r>
            <a:endParaRPr>
              <a:latin typeface="Saira"/>
              <a:ea typeface="Saira"/>
              <a:cs typeface="Saira"/>
              <a:sym typeface="Sai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g1ff670518a6_0_119"/>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78" name="Google Shape;178;g1ff670518a6_0_119"/>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79" name="Google Shape;179;g1ff670518a6_0_119"/>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80" name="Google Shape;180;g1ff670518a6_0_119"/>
          <p:cNvSpPr txBox="1"/>
          <p:nvPr/>
        </p:nvSpPr>
        <p:spPr>
          <a:xfrm>
            <a:off x="319450" y="153900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Operadores Bit a Bit</a:t>
            </a:r>
            <a:endParaRPr sz="3000">
              <a:solidFill>
                <a:schemeClr val="dk1"/>
              </a:solidFill>
              <a:latin typeface="Saira"/>
              <a:ea typeface="Saira"/>
              <a:cs typeface="Saira"/>
              <a:sym typeface="Saira"/>
            </a:endParaRPr>
          </a:p>
        </p:txBody>
      </p:sp>
      <p:pic>
        <p:nvPicPr>
          <p:cNvPr id="181" name="Google Shape;181;g1ff670518a6_0_119"/>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82" name="Google Shape;182;g1ff670518a6_0_119"/>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sp>
        <p:nvSpPr>
          <p:cNvPr id="183" name="Google Shape;183;g1ff670518a6_0_119"/>
          <p:cNvSpPr txBox="1"/>
          <p:nvPr/>
        </p:nvSpPr>
        <p:spPr>
          <a:xfrm>
            <a:off x="319450" y="2150800"/>
            <a:ext cx="8472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Un operador bit a bit realiza operaciones en los operandos bit a bit.</a:t>
            </a:r>
            <a:endParaRPr>
              <a:latin typeface="Saira"/>
              <a:ea typeface="Saira"/>
              <a:cs typeface="Saira"/>
              <a:sym typeface="Saira"/>
            </a:endParaRPr>
          </a:p>
        </p:txBody>
      </p:sp>
      <p:pic>
        <p:nvPicPr>
          <p:cNvPr id="184" name="Google Shape;184;g1ff670518a6_0_119"/>
          <p:cNvPicPr preferRelativeResize="0"/>
          <p:nvPr/>
        </p:nvPicPr>
        <p:blipFill>
          <a:blip r:embed="rId5">
            <a:alphaModFix/>
          </a:blip>
          <a:stretch>
            <a:fillRect/>
          </a:stretch>
        </p:blipFill>
        <p:spPr>
          <a:xfrm>
            <a:off x="698350" y="2671000"/>
            <a:ext cx="9826209" cy="227628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1ff670518a6_0_131"/>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190" name="Google Shape;190;g1ff670518a6_0_131"/>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191" name="Google Shape;191;g1ff670518a6_0_13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192" name="Google Shape;192;g1ff670518a6_0_131"/>
          <p:cNvSpPr txBox="1"/>
          <p:nvPr/>
        </p:nvSpPr>
        <p:spPr>
          <a:xfrm>
            <a:off x="319450" y="153900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Operadores de Asignación</a:t>
            </a:r>
            <a:endParaRPr sz="3000">
              <a:solidFill>
                <a:schemeClr val="dk1"/>
              </a:solidFill>
              <a:latin typeface="Saira"/>
              <a:ea typeface="Saira"/>
              <a:cs typeface="Saira"/>
              <a:sym typeface="Saira"/>
            </a:endParaRPr>
          </a:p>
        </p:txBody>
      </p:sp>
      <p:pic>
        <p:nvPicPr>
          <p:cNvPr id="193" name="Google Shape;193;g1ff670518a6_0_13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194" name="Google Shape;194;g1ff670518a6_0_131"/>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sp>
        <p:nvSpPr>
          <p:cNvPr id="195" name="Google Shape;195;g1ff670518a6_0_131"/>
          <p:cNvSpPr txBox="1"/>
          <p:nvPr/>
        </p:nvSpPr>
        <p:spPr>
          <a:xfrm>
            <a:off x="319450" y="2119850"/>
            <a:ext cx="8472000" cy="1046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Se utiliza un operador de asignación para asignar valores a una variable. Esto generalmente se combina con otros operadores (como aritmética, bit a bit) donde la operación se realiza en los operandos y el resultado se asigna al operando izquierdo.</a:t>
            </a:r>
            <a:endParaRPr>
              <a:latin typeface="Saira"/>
              <a:ea typeface="Saira"/>
              <a:cs typeface="Saira"/>
              <a:sym typeface="Saira"/>
            </a:endParaRPr>
          </a:p>
          <a:p>
            <a:pPr indent="0" lvl="0" marL="0" rtl="0" algn="l">
              <a:spcBef>
                <a:spcPts val="0"/>
              </a:spcBef>
              <a:spcAft>
                <a:spcPts val="0"/>
              </a:spcAft>
              <a:buNone/>
            </a:pPr>
            <a:r>
              <a:t/>
            </a:r>
            <a:endParaRPr>
              <a:latin typeface="Saira"/>
              <a:ea typeface="Saira"/>
              <a:cs typeface="Saira"/>
              <a:sym typeface="Saira"/>
            </a:endParaRPr>
          </a:p>
        </p:txBody>
      </p:sp>
      <p:pic>
        <p:nvPicPr>
          <p:cNvPr id="196" name="Google Shape;196;g1ff670518a6_0_131"/>
          <p:cNvPicPr preferRelativeResize="0"/>
          <p:nvPr/>
        </p:nvPicPr>
        <p:blipFill>
          <a:blip r:embed="rId5">
            <a:alphaModFix/>
          </a:blip>
          <a:stretch>
            <a:fillRect/>
          </a:stretch>
        </p:blipFill>
        <p:spPr>
          <a:xfrm>
            <a:off x="4088475" y="2982500"/>
            <a:ext cx="3045943" cy="3355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g1ff670518a6_0_144"/>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02" name="Google Shape;202;g1ff670518a6_0_144"/>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03" name="Google Shape;203;g1ff670518a6_0_144"/>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04" name="Google Shape;204;g1ff670518a6_0_144"/>
          <p:cNvSpPr txBox="1"/>
          <p:nvPr/>
        </p:nvSpPr>
        <p:spPr>
          <a:xfrm>
            <a:off x="319450" y="153900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Operadores Lógicos</a:t>
            </a:r>
            <a:endParaRPr sz="3000">
              <a:solidFill>
                <a:schemeClr val="dk1"/>
              </a:solidFill>
              <a:latin typeface="Saira"/>
              <a:ea typeface="Saira"/>
              <a:cs typeface="Saira"/>
              <a:sym typeface="Saira"/>
            </a:endParaRPr>
          </a:p>
        </p:txBody>
      </p:sp>
      <p:pic>
        <p:nvPicPr>
          <p:cNvPr id="205" name="Google Shape;205;g1ff670518a6_0_144"/>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06" name="Google Shape;206;g1ff670518a6_0_144"/>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sp>
        <p:nvSpPr>
          <p:cNvPr id="207" name="Google Shape;207;g1ff670518a6_0_144"/>
          <p:cNvSpPr txBox="1"/>
          <p:nvPr/>
        </p:nvSpPr>
        <p:spPr>
          <a:xfrm>
            <a:off x="319450" y="2119850"/>
            <a:ext cx="8472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Se utiliza un operador lógico para tomar una decisión basada en múltiples condiciones. Los operadores lógicos utilizados en Python son and, or y not.</a:t>
            </a:r>
            <a:endParaRPr>
              <a:latin typeface="Saira"/>
              <a:ea typeface="Saira"/>
              <a:cs typeface="Saira"/>
              <a:sym typeface="Saira"/>
            </a:endParaRPr>
          </a:p>
        </p:txBody>
      </p:sp>
      <p:pic>
        <p:nvPicPr>
          <p:cNvPr id="208" name="Google Shape;208;g1ff670518a6_0_144"/>
          <p:cNvPicPr preferRelativeResize="0"/>
          <p:nvPr/>
        </p:nvPicPr>
        <p:blipFill>
          <a:blip r:embed="rId5">
            <a:alphaModFix/>
          </a:blip>
          <a:stretch>
            <a:fillRect/>
          </a:stretch>
        </p:blipFill>
        <p:spPr>
          <a:xfrm>
            <a:off x="2787275" y="3398925"/>
            <a:ext cx="5648325" cy="13906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g1ff670518a6_0_156"/>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14" name="Google Shape;214;g1ff670518a6_0_156"/>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15" name="Google Shape;215;g1ff670518a6_0_15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16" name="Google Shape;216;g1ff670518a6_0_156"/>
          <p:cNvSpPr txBox="1"/>
          <p:nvPr/>
        </p:nvSpPr>
        <p:spPr>
          <a:xfrm>
            <a:off x="319450" y="153900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Operador de pertenencia</a:t>
            </a:r>
            <a:endParaRPr sz="3000">
              <a:solidFill>
                <a:schemeClr val="dk1"/>
              </a:solidFill>
              <a:latin typeface="Saira"/>
              <a:ea typeface="Saira"/>
              <a:cs typeface="Saira"/>
              <a:sym typeface="Saira"/>
            </a:endParaRPr>
          </a:p>
        </p:txBody>
      </p:sp>
      <p:pic>
        <p:nvPicPr>
          <p:cNvPr id="217" name="Google Shape;217;g1ff670518a6_0_15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18" name="Google Shape;218;g1ff670518a6_0_156"/>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sp>
        <p:nvSpPr>
          <p:cNvPr id="219" name="Google Shape;219;g1ff670518a6_0_156"/>
          <p:cNvSpPr txBox="1"/>
          <p:nvPr/>
        </p:nvSpPr>
        <p:spPr>
          <a:xfrm>
            <a:off x="489900" y="2185500"/>
            <a:ext cx="9297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800">
                <a:latin typeface="Saira"/>
                <a:ea typeface="Saira"/>
                <a:cs typeface="Saira"/>
                <a:sym typeface="Saira"/>
              </a:rPr>
              <a:t>Un operador de pertenencia se emplea para identificar pertenencia en alguna secuencia (listas, strings, tuplas).</a:t>
            </a:r>
            <a:endParaRPr sz="1800">
              <a:latin typeface="Saira"/>
              <a:ea typeface="Saira"/>
              <a:cs typeface="Saira"/>
              <a:sym typeface="Saira"/>
            </a:endParaRPr>
          </a:p>
          <a:p>
            <a:pPr indent="0" lvl="0" marL="0" rtl="0" algn="l">
              <a:spcBef>
                <a:spcPts val="0"/>
              </a:spcBef>
              <a:spcAft>
                <a:spcPts val="0"/>
              </a:spcAft>
              <a:buNone/>
            </a:pPr>
            <a:r>
              <a:rPr b="1" lang="es-AR" sz="1800">
                <a:latin typeface="Saira"/>
                <a:ea typeface="Saira"/>
                <a:cs typeface="Saira"/>
                <a:sym typeface="Saira"/>
              </a:rPr>
              <a:t>in</a:t>
            </a:r>
            <a:r>
              <a:rPr lang="es-AR" sz="1800">
                <a:latin typeface="Saira"/>
                <a:ea typeface="Saira"/>
                <a:cs typeface="Saira"/>
                <a:sym typeface="Saira"/>
              </a:rPr>
              <a:t> y </a:t>
            </a:r>
            <a:r>
              <a:rPr b="1" lang="es-AR" sz="1800">
                <a:latin typeface="Saira"/>
                <a:ea typeface="Saira"/>
                <a:cs typeface="Saira"/>
                <a:sym typeface="Saira"/>
              </a:rPr>
              <a:t>not in</a:t>
            </a:r>
            <a:r>
              <a:rPr lang="es-AR" sz="1800">
                <a:latin typeface="Saira"/>
                <a:ea typeface="Saira"/>
                <a:cs typeface="Saira"/>
                <a:sym typeface="Saira"/>
              </a:rPr>
              <a:t> son operadores de pertenencia.</a:t>
            </a:r>
            <a:endParaRPr sz="1800">
              <a:latin typeface="Saira"/>
              <a:ea typeface="Saira"/>
              <a:cs typeface="Saira"/>
              <a:sym typeface="Saira"/>
            </a:endParaRPr>
          </a:p>
          <a:p>
            <a:pPr indent="0" lvl="0" marL="0" rtl="0" algn="l">
              <a:spcBef>
                <a:spcPts val="0"/>
              </a:spcBef>
              <a:spcAft>
                <a:spcPts val="0"/>
              </a:spcAft>
              <a:buNone/>
            </a:pPr>
            <a:r>
              <a:rPr b="1" lang="es-AR" sz="1800">
                <a:latin typeface="Saira"/>
                <a:ea typeface="Saira"/>
                <a:cs typeface="Saira"/>
                <a:sym typeface="Saira"/>
              </a:rPr>
              <a:t>in</a:t>
            </a:r>
            <a:r>
              <a:rPr lang="es-AR" sz="1800">
                <a:latin typeface="Saira"/>
                <a:ea typeface="Saira"/>
                <a:cs typeface="Saira"/>
                <a:sym typeface="Saira"/>
              </a:rPr>
              <a:t> devuelve </a:t>
            </a:r>
            <a:r>
              <a:rPr b="1" lang="es-AR" sz="1800">
                <a:latin typeface="Saira"/>
                <a:ea typeface="Saira"/>
                <a:cs typeface="Saira"/>
                <a:sym typeface="Saira"/>
              </a:rPr>
              <a:t>True</a:t>
            </a:r>
            <a:r>
              <a:rPr lang="es-AR" sz="1800">
                <a:latin typeface="Saira"/>
                <a:ea typeface="Saira"/>
                <a:cs typeface="Saira"/>
                <a:sym typeface="Saira"/>
              </a:rPr>
              <a:t> si el valor especificado se encuentra en la secuencia. En caso contrario devuelve </a:t>
            </a:r>
            <a:r>
              <a:rPr b="1" lang="es-AR" sz="1800">
                <a:latin typeface="Saira"/>
                <a:ea typeface="Saira"/>
                <a:cs typeface="Saira"/>
                <a:sym typeface="Saira"/>
              </a:rPr>
              <a:t>False</a:t>
            </a:r>
            <a:r>
              <a:rPr lang="es-AR" sz="1800">
                <a:latin typeface="Saira"/>
                <a:ea typeface="Saira"/>
                <a:cs typeface="Saira"/>
                <a:sym typeface="Saira"/>
              </a:rPr>
              <a:t>.</a:t>
            </a:r>
            <a:endParaRPr sz="1800">
              <a:latin typeface="Saira"/>
              <a:ea typeface="Saira"/>
              <a:cs typeface="Saira"/>
              <a:sym typeface="Saira"/>
            </a:endParaRPr>
          </a:p>
          <a:p>
            <a:pPr indent="0" lvl="0" marL="0" rtl="0" algn="l">
              <a:spcBef>
                <a:spcPts val="0"/>
              </a:spcBef>
              <a:spcAft>
                <a:spcPts val="0"/>
              </a:spcAft>
              <a:buNone/>
            </a:pPr>
            <a:r>
              <a:rPr b="1" lang="es-AR" sz="1800">
                <a:latin typeface="Saira"/>
                <a:ea typeface="Saira"/>
                <a:cs typeface="Saira"/>
                <a:sym typeface="Saira"/>
              </a:rPr>
              <a:t>not in </a:t>
            </a:r>
            <a:r>
              <a:rPr lang="es-AR" sz="1800">
                <a:latin typeface="Saira"/>
                <a:ea typeface="Saira"/>
                <a:cs typeface="Saira"/>
                <a:sym typeface="Saira"/>
              </a:rPr>
              <a:t>devuelve </a:t>
            </a:r>
            <a:r>
              <a:rPr b="1" lang="es-AR" sz="1800">
                <a:latin typeface="Saira"/>
                <a:ea typeface="Saira"/>
                <a:cs typeface="Saira"/>
                <a:sym typeface="Saira"/>
              </a:rPr>
              <a:t>True</a:t>
            </a:r>
            <a:r>
              <a:rPr lang="es-AR" sz="1800">
                <a:latin typeface="Saira"/>
                <a:ea typeface="Saira"/>
                <a:cs typeface="Saira"/>
                <a:sym typeface="Saira"/>
              </a:rPr>
              <a:t> si el valor especificado no se encuentra en la secuencia. En caso contrario devuelve </a:t>
            </a:r>
            <a:r>
              <a:rPr b="1" lang="es-AR" sz="1800">
                <a:latin typeface="Saira"/>
                <a:ea typeface="Saira"/>
                <a:cs typeface="Saira"/>
                <a:sym typeface="Saira"/>
              </a:rPr>
              <a:t>False</a:t>
            </a:r>
            <a:r>
              <a:rPr lang="es-AR" sz="1800">
                <a:latin typeface="Saira"/>
                <a:ea typeface="Saira"/>
                <a:cs typeface="Saira"/>
                <a:sym typeface="Saira"/>
              </a:rPr>
              <a:t>.</a:t>
            </a:r>
            <a:endParaRPr sz="1800">
              <a:latin typeface="Saira"/>
              <a:ea typeface="Saira"/>
              <a:cs typeface="Saira"/>
              <a:sym typeface="Saira"/>
            </a:endParaRPr>
          </a:p>
          <a:p>
            <a:pPr indent="0" lvl="0" marL="0" rtl="0" algn="l">
              <a:spcBef>
                <a:spcPts val="0"/>
              </a:spcBef>
              <a:spcAft>
                <a:spcPts val="0"/>
              </a:spcAft>
              <a:buNone/>
            </a:pPr>
            <a:r>
              <a:t/>
            </a:r>
            <a:endParaRPr>
              <a:latin typeface="Saira"/>
              <a:ea typeface="Saira"/>
              <a:cs typeface="Saira"/>
              <a:sym typeface="Sai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g1ff670518a6_0_167"/>
          <p:cNvSpPr txBox="1"/>
          <p:nvPr/>
        </p:nvSpPr>
        <p:spPr>
          <a:xfrm>
            <a:off x="319439" y="800096"/>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25" name="Google Shape;225;g1ff670518a6_0_167"/>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26" name="Google Shape;226;g1ff670518a6_0_167"/>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27" name="Google Shape;227;g1ff670518a6_0_167"/>
          <p:cNvSpPr txBox="1"/>
          <p:nvPr/>
        </p:nvSpPr>
        <p:spPr>
          <a:xfrm>
            <a:off x="319450" y="153900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Delimitadores</a:t>
            </a:r>
            <a:endParaRPr sz="3000">
              <a:solidFill>
                <a:schemeClr val="dk1"/>
              </a:solidFill>
              <a:latin typeface="Saira"/>
              <a:ea typeface="Saira"/>
              <a:cs typeface="Saira"/>
              <a:sym typeface="Saira"/>
            </a:endParaRPr>
          </a:p>
        </p:txBody>
      </p:sp>
      <p:pic>
        <p:nvPicPr>
          <p:cNvPr id="228" name="Google Shape;228;g1ff670518a6_0_167"/>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29" name="Google Shape;229;g1ff670518a6_0_167"/>
          <p:cNvSpPr txBox="1"/>
          <p:nvPr/>
        </p:nvSpPr>
        <p:spPr>
          <a:xfrm>
            <a:off x="4596000" y="2671000"/>
            <a:ext cx="4365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latin typeface="Saira"/>
              <a:ea typeface="Saira"/>
              <a:cs typeface="Saira"/>
              <a:sym typeface="Saira"/>
            </a:endParaRPr>
          </a:p>
        </p:txBody>
      </p:sp>
      <p:pic>
        <p:nvPicPr>
          <p:cNvPr id="230" name="Google Shape;230;g1ff670518a6_0_167"/>
          <p:cNvPicPr preferRelativeResize="0"/>
          <p:nvPr/>
        </p:nvPicPr>
        <p:blipFill>
          <a:blip r:embed="rId5">
            <a:alphaModFix/>
          </a:blip>
          <a:stretch>
            <a:fillRect/>
          </a:stretch>
        </p:blipFill>
        <p:spPr>
          <a:xfrm>
            <a:off x="2839675" y="3317500"/>
            <a:ext cx="5543550" cy="1743075"/>
          </a:xfrm>
          <a:prstGeom prst="rect">
            <a:avLst/>
          </a:prstGeom>
          <a:noFill/>
          <a:ln>
            <a:noFill/>
          </a:ln>
        </p:spPr>
      </p:pic>
      <p:sp>
        <p:nvSpPr>
          <p:cNvPr id="231" name="Google Shape;231;g1ff670518a6_0_167"/>
          <p:cNvSpPr txBox="1"/>
          <p:nvPr/>
        </p:nvSpPr>
        <p:spPr>
          <a:xfrm>
            <a:off x="360950" y="2228150"/>
            <a:ext cx="9209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Saira"/>
                <a:ea typeface="Saira"/>
                <a:cs typeface="Saira"/>
                <a:sym typeface="Saira"/>
              </a:rPr>
              <a:t>Los delimitadores son los caracteres que permiten delimitar, separar o representar expresiones.</a:t>
            </a:r>
            <a:endParaRPr>
              <a:latin typeface="Saira"/>
              <a:ea typeface="Saira"/>
              <a:cs typeface="Saira"/>
              <a:sym typeface="Sair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g1ff670518a6_0_18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37" name="Google Shape;237;g1ff670518a6_0_181"/>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38" name="Google Shape;238;g1ff670518a6_0_18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39" name="Google Shape;239;g1ff670518a6_0_181"/>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Funciones integradas</a:t>
            </a:r>
            <a:endParaRPr b="0" i="0" sz="3000" u="none" cap="none" strike="noStrike">
              <a:solidFill>
                <a:schemeClr val="dk1"/>
              </a:solidFill>
              <a:latin typeface="Saira"/>
              <a:ea typeface="Saira"/>
              <a:cs typeface="Saira"/>
              <a:sym typeface="Saira"/>
            </a:endParaRPr>
          </a:p>
        </p:txBody>
      </p:sp>
      <p:pic>
        <p:nvPicPr>
          <p:cNvPr id="240" name="Google Shape;240;g1ff670518a6_0_18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41" name="Google Shape;241;g1ff670518a6_0_181"/>
          <p:cNvSpPr txBox="1"/>
          <p:nvPr/>
        </p:nvSpPr>
        <p:spPr>
          <a:xfrm>
            <a:off x="371025" y="2411875"/>
            <a:ext cx="84720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Una función es un bloque de instrucciones agrupadas, que permiten reutilizar partes de un programa.</a:t>
            </a:r>
            <a:endParaRPr sz="1600">
              <a:latin typeface="Saira"/>
              <a:ea typeface="Saira"/>
              <a:cs typeface="Saira"/>
              <a:sym typeface="Saira"/>
            </a:endParaRPr>
          </a:p>
          <a:p>
            <a:pPr indent="0" lvl="0" marL="0" rtl="0" algn="l">
              <a:spcBef>
                <a:spcPts val="0"/>
              </a:spcBef>
              <a:spcAft>
                <a:spcPts val="0"/>
              </a:spcAft>
              <a:buNone/>
            </a:pPr>
            <a:r>
              <a:t/>
            </a:r>
            <a:endParaRPr sz="1600">
              <a:latin typeface="Saira"/>
              <a:ea typeface="Saira"/>
              <a:cs typeface="Saira"/>
              <a:sym typeface="Saira"/>
            </a:endParaRPr>
          </a:p>
        </p:txBody>
      </p:sp>
      <p:sp>
        <p:nvSpPr>
          <p:cNvPr id="242" name="Google Shape;242;g1ff670518a6_0_181"/>
          <p:cNvSpPr txBox="1"/>
          <p:nvPr/>
        </p:nvSpPr>
        <p:spPr>
          <a:xfrm>
            <a:off x="1171750" y="3357825"/>
            <a:ext cx="8879400" cy="2016300"/>
          </a:xfrm>
          <a:prstGeom prst="rect">
            <a:avLst/>
          </a:prstGeom>
          <a:solidFill>
            <a:srgbClr val="B6D7A8"/>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700">
                <a:latin typeface="Saira"/>
                <a:ea typeface="Saira"/>
                <a:cs typeface="Saira"/>
                <a:sym typeface="Saira"/>
              </a:rPr>
              <a:t>abs() - dict() - help() - min() - setattr() - all() - dir() - hex() - next() - slice() - any() - divmod() - id() - object() - sorted() - ascii() - enumerate() - input() - oct() - staticmethod() - bin() - eval() - int() - open() - str() - bool() - exec() - isinstance() - ord() - sum() - bytearray() - filter() - issubclass() - pow() - super() - bytes() - float() - iter() - print() - tuple() - callable() - format() - len() - property() - type() - chr() - frozenset() - list() - range() - vars() - classmethod() - getattr() - locals() - repr() - zip() - compile() - globals() - map() - reversed() -import() - complex() - hasattr() - max() -round() - delattr() - hash() - memoryview() - set()</a:t>
            </a:r>
            <a:endParaRPr sz="1700">
              <a:latin typeface="Saira"/>
              <a:ea typeface="Saira"/>
              <a:cs typeface="Saira"/>
              <a:sym typeface="Saira"/>
            </a:endParaRPr>
          </a:p>
        </p:txBody>
      </p:sp>
      <p:sp>
        <p:nvSpPr>
          <p:cNvPr id="243" name="Google Shape;243;g1ff670518a6_0_181"/>
          <p:cNvSpPr txBox="1"/>
          <p:nvPr/>
        </p:nvSpPr>
        <p:spPr>
          <a:xfrm>
            <a:off x="1351000" y="5440513"/>
            <a:ext cx="84153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solidFill>
                  <a:srgbClr val="FF0000"/>
                </a:solidFill>
                <a:latin typeface="Saira"/>
                <a:ea typeface="Saira"/>
                <a:cs typeface="Saira"/>
                <a:sym typeface="Saira"/>
              </a:rPr>
              <a:t>Los nombres de las funciones integradas se pueden utilizar para nombrar variables, pero entonces las funciones ya no estarán disponibles en el programa. Si se eliminan las variables, las funciones vuelven a estar disponibles.</a:t>
            </a:r>
            <a:endParaRPr>
              <a:solidFill>
                <a:srgbClr val="FF0000"/>
              </a:solidFill>
              <a:latin typeface="Saira"/>
              <a:ea typeface="Saira"/>
              <a:cs typeface="Saira"/>
              <a:sym typeface="Saira"/>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g1ff670518a6_0_19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49" name="Google Shape;249;g1ff670518a6_0_195"/>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50" name="Google Shape;250;g1ff670518a6_0_19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51" name="Google Shape;251;g1ff670518a6_0_195"/>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Función</a:t>
            </a:r>
            <a:r>
              <a:rPr lang="es-AR" sz="3000">
                <a:solidFill>
                  <a:schemeClr val="dk1"/>
                </a:solidFill>
                <a:latin typeface="Saira"/>
                <a:ea typeface="Saira"/>
                <a:cs typeface="Saira"/>
                <a:sym typeface="Saira"/>
              </a:rPr>
              <a:t> print()</a:t>
            </a:r>
            <a:endParaRPr b="0" i="0" sz="3000" u="none" cap="none" strike="noStrike">
              <a:solidFill>
                <a:schemeClr val="dk1"/>
              </a:solidFill>
              <a:latin typeface="Saira"/>
              <a:ea typeface="Saira"/>
              <a:cs typeface="Saira"/>
              <a:sym typeface="Saira"/>
            </a:endParaRPr>
          </a:p>
        </p:txBody>
      </p:sp>
      <p:pic>
        <p:nvPicPr>
          <p:cNvPr id="252" name="Google Shape;252;g1ff670518a6_0_19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53" name="Google Shape;253;g1ff670518a6_0_195"/>
          <p:cNvSpPr txBox="1"/>
          <p:nvPr/>
        </p:nvSpPr>
        <p:spPr>
          <a:xfrm>
            <a:off x="371025" y="2411875"/>
            <a:ext cx="102408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La función print() admite varios argumentos seguidos.</a:t>
            </a:r>
            <a:endParaRPr sz="1600">
              <a:latin typeface="Saira"/>
              <a:ea typeface="Saira"/>
              <a:cs typeface="Saira"/>
              <a:sym typeface="Saira"/>
            </a:endParaRPr>
          </a:p>
          <a:p>
            <a:pPr indent="0" lvl="0" marL="0" rtl="0" algn="l">
              <a:spcBef>
                <a:spcPts val="0"/>
              </a:spcBef>
              <a:spcAft>
                <a:spcPts val="0"/>
              </a:spcAft>
              <a:buNone/>
            </a:pPr>
            <a:r>
              <a:rPr lang="es-AR" sz="1600">
                <a:latin typeface="Saira"/>
                <a:ea typeface="Saira"/>
                <a:cs typeface="Saira"/>
                <a:sym typeface="Saira"/>
              </a:rPr>
              <a:t>En el programa, los argumentos deben separarse por comas.</a:t>
            </a:r>
            <a:endParaRPr sz="1600">
              <a:latin typeface="Saira"/>
              <a:ea typeface="Saira"/>
              <a:cs typeface="Saira"/>
              <a:sym typeface="Saira"/>
            </a:endParaRPr>
          </a:p>
          <a:p>
            <a:pPr indent="0" lvl="0" marL="0" rtl="0" algn="l">
              <a:spcBef>
                <a:spcPts val="0"/>
              </a:spcBef>
              <a:spcAft>
                <a:spcPts val="0"/>
              </a:spcAft>
              <a:buNone/>
            </a:pPr>
            <a:r>
              <a:rPr lang="es-AR" sz="1600">
                <a:latin typeface="Saira"/>
                <a:ea typeface="Saira"/>
                <a:cs typeface="Saira"/>
                <a:sym typeface="Saira"/>
              </a:rPr>
              <a:t>Los argumentos se muestran en el mismo orden y en la misma línea, separados por espacios.</a:t>
            </a:r>
            <a:endParaRPr sz="1600">
              <a:latin typeface="Saira"/>
              <a:ea typeface="Saira"/>
              <a:cs typeface="Saira"/>
              <a:sym typeface="Saira"/>
            </a:endParaRPr>
          </a:p>
          <a:p>
            <a:pPr indent="0" lvl="0" marL="0" rtl="0" algn="l">
              <a:spcBef>
                <a:spcPts val="0"/>
              </a:spcBef>
              <a:spcAft>
                <a:spcPts val="0"/>
              </a:spcAft>
              <a:buNone/>
            </a:pPr>
            <a:r>
              <a:t/>
            </a:r>
            <a:endParaRPr sz="1600">
              <a:latin typeface="Saira"/>
              <a:ea typeface="Saira"/>
              <a:cs typeface="Saira"/>
              <a:sym typeface="Saira"/>
            </a:endParaRPr>
          </a:p>
        </p:txBody>
      </p:sp>
      <p:sp>
        <p:nvSpPr>
          <p:cNvPr id="254" name="Google Shape;254;g1ff670518a6_0_195"/>
          <p:cNvSpPr txBox="1"/>
          <p:nvPr/>
        </p:nvSpPr>
        <p:spPr>
          <a:xfrm>
            <a:off x="3707350" y="3369275"/>
            <a:ext cx="3000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Courier New"/>
                <a:ea typeface="Courier New"/>
                <a:cs typeface="Courier New"/>
                <a:sym typeface="Courier New"/>
              </a:rPr>
              <a:t>print("Hola", "Mundo")</a:t>
            </a:r>
            <a:endParaRPr sz="1600">
              <a:latin typeface="Courier New"/>
              <a:ea typeface="Courier New"/>
              <a:cs typeface="Courier New"/>
              <a:sym typeface="Courier New"/>
            </a:endParaRPr>
          </a:p>
        </p:txBody>
      </p:sp>
      <p:sp>
        <p:nvSpPr>
          <p:cNvPr id="255" name="Google Shape;255;g1ff670518a6_0_195"/>
          <p:cNvSpPr txBox="1"/>
          <p:nvPr/>
        </p:nvSpPr>
        <p:spPr>
          <a:xfrm>
            <a:off x="4286950" y="4312650"/>
            <a:ext cx="18408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Courier New"/>
                <a:ea typeface="Courier New"/>
                <a:cs typeface="Courier New"/>
                <a:sym typeface="Courier New"/>
              </a:rPr>
              <a:t>print("Hola")</a:t>
            </a:r>
            <a:endParaRPr>
              <a:latin typeface="Courier New"/>
              <a:ea typeface="Courier New"/>
              <a:cs typeface="Courier New"/>
              <a:sym typeface="Courier New"/>
            </a:endParaRPr>
          </a:p>
          <a:p>
            <a:pPr indent="0" lvl="0" marL="0" rtl="0" algn="l">
              <a:spcBef>
                <a:spcPts val="0"/>
              </a:spcBef>
              <a:spcAft>
                <a:spcPts val="0"/>
              </a:spcAft>
              <a:buNone/>
            </a:pPr>
            <a:r>
              <a:rPr lang="es-AR">
                <a:latin typeface="Courier New"/>
                <a:ea typeface="Courier New"/>
                <a:cs typeface="Courier New"/>
                <a:sym typeface="Courier New"/>
              </a:rPr>
              <a:t>print("Mundo")</a:t>
            </a:r>
            <a:endParaRPr>
              <a:latin typeface="Courier New"/>
              <a:ea typeface="Courier New"/>
              <a:cs typeface="Courier New"/>
              <a:sym typeface="Courier New"/>
            </a:endParaRPr>
          </a:p>
        </p:txBody>
      </p:sp>
      <p:sp>
        <p:nvSpPr>
          <p:cNvPr id="256" name="Google Shape;256;g1ff670518a6_0_195"/>
          <p:cNvSpPr txBox="1"/>
          <p:nvPr/>
        </p:nvSpPr>
        <p:spPr>
          <a:xfrm>
            <a:off x="371025" y="3840963"/>
            <a:ext cx="7932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solidFill>
                  <a:schemeClr val="dk1"/>
                </a:solidFill>
                <a:latin typeface="Saira"/>
                <a:ea typeface="Saira"/>
                <a:cs typeface="Saira"/>
                <a:sym typeface="Saira"/>
              </a:rPr>
              <a:t>Al final de cada print(), Python añade automáticamente un salto de línea</a:t>
            </a:r>
            <a:endParaRPr sz="1600">
              <a:solidFill>
                <a:schemeClr val="dk1"/>
              </a:solidFill>
              <a:latin typeface="Saira"/>
              <a:ea typeface="Saira"/>
              <a:cs typeface="Saira"/>
              <a:sym typeface="Saira"/>
            </a:endParaRPr>
          </a:p>
        </p:txBody>
      </p:sp>
      <p:sp>
        <p:nvSpPr>
          <p:cNvPr id="257" name="Google Shape;257;g1ff670518a6_0_195"/>
          <p:cNvSpPr txBox="1"/>
          <p:nvPr/>
        </p:nvSpPr>
        <p:spPr>
          <a:xfrm>
            <a:off x="403450" y="5089588"/>
            <a:ext cx="8304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Para generar una línea en blanco, se puede escribir una orden print() sin argumentos</a:t>
            </a:r>
            <a:endParaRPr sz="1600">
              <a:latin typeface="Saira"/>
              <a:ea typeface="Saira"/>
              <a:cs typeface="Saira"/>
              <a:sym typeface="Sai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g1ff670518a6_0_215"/>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63" name="Google Shape;263;g1ff670518a6_0_215"/>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64" name="Google Shape;264;g1ff670518a6_0_215"/>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65" name="Google Shape;265;g1ff670518a6_0_215"/>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Función</a:t>
            </a:r>
            <a:r>
              <a:rPr lang="es-AR" sz="3000">
                <a:solidFill>
                  <a:schemeClr val="dk1"/>
                </a:solidFill>
                <a:latin typeface="Saira"/>
                <a:ea typeface="Saira"/>
                <a:cs typeface="Saira"/>
                <a:sym typeface="Saira"/>
              </a:rPr>
              <a:t> print()</a:t>
            </a:r>
            <a:endParaRPr b="0" i="0" sz="3000" u="none" cap="none" strike="noStrike">
              <a:solidFill>
                <a:schemeClr val="dk1"/>
              </a:solidFill>
              <a:latin typeface="Saira"/>
              <a:ea typeface="Saira"/>
              <a:cs typeface="Saira"/>
              <a:sym typeface="Saira"/>
            </a:endParaRPr>
          </a:p>
        </p:txBody>
      </p:sp>
      <p:pic>
        <p:nvPicPr>
          <p:cNvPr id="266" name="Google Shape;266;g1ff670518a6_0_215"/>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67" name="Google Shape;267;g1ff670518a6_0_215"/>
          <p:cNvSpPr txBox="1"/>
          <p:nvPr/>
        </p:nvSpPr>
        <p:spPr>
          <a:xfrm>
            <a:off x="2778700" y="3086100"/>
            <a:ext cx="4857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Courier New"/>
                <a:ea typeface="Courier New"/>
                <a:cs typeface="Courier New"/>
                <a:sym typeface="Courier New"/>
              </a:rPr>
              <a:t>print("Le pregunté "¿Cómo va?"")</a:t>
            </a:r>
            <a:endParaRPr sz="1600">
              <a:latin typeface="Courier New"/>
              <a:ea typeface="Courier New"/>
              <a:cs typeface="Courier New"/>
              <a:sym typeface="Courier New"/>
            </a:endParaRPr>
          </a:p>
        </p:txBody>
      </p:sp>
      <p:sp>
        <p:nvSpPr>
          <p:cNvPr id="268" name="Google Shape;268;g1ff670518a6_0_215"/>
          <p:cNvSpPr txBox="1"/>
          <p:nvPr/>
        </p:nvSpPr>
        <p:spPr>
          <a:xfrm>
            <a:off x="2778700" y="4322975"/>
            <a:ext cx="4476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Courier New"/>
                <a:ea typeface="Courier New"/>
                <a:cs typeface="Courier New"/>
                <a:sym typeface="Courier New"/>
              </a:rPr>
              <a:t>print("</a:t>
            </a:r>
            <a:r>
              <a:rPr lang="es-AR" sz="1600">
                <a:solidFill>
                  <a:schemeClr val="dk1"/>
                </a:solidFill>
                <a:latin typeface="Courier New"/>
                <a:ea typeface="Courier New"/>
                <a:cs typeface="Courier New"/>
                <a:sym typeface="Courier New"/>
              </a:rPr>
              <a:t>Le pregunté \"¿Cómo va?\"</a:t>
            </a:r>
            <a:r>
              <a:rPr lang="es-AR">
                <a:latin typeface="Courier New"/>
                <a:ea typeface="Courier New"/>
                <a:cs typeface="Courier New"/>
                <a:sym typeface="Courier New"/>
              </a:rPr>
              <a:t>")</a:t>
            </a:r>
            <a:endParaRPr>
              <a:latin typeface="Courier New"/>
              <a:ea typeface="Courier New"/>
              <a:cs typeface="Courier New"/>
              <a:sym typeface="Courier New"/>
            </a:endParaRPr>
          </a:p>
        </p:txBody>
      </p:sp>
      <p:sp>
        <p:nvSpPr>
          <p:cNvPr id="269" name="Google Shape;269;g1ff670518a6_0_215"/>
          <p:cNvSpPr txBox="1"/>
          <p:nvPr/>
        </p:nvSpPr>
        <p:spPr>
          <a:xfrm>
            <a:off x="371025" y="3840963"/>
            <a:ext cx="79329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solidFill>
                  <a:schemeClr val="dk1"/>
                </a:solidFill>
                <a:latin typeface="Saira"/>
                <a:ea typeface="Saira"/>
                <a:cs typeface="Saira"/>
                <a:sym typeface="Saira"/>
              </a:rPr>
              <a:t>Para solucionar esto ponemos barra invertida</a:t>
            </a:r>
            <a:endParaRPr sz="1600">
              <a:solidFill>
                <a:schemeClr val="dk1"/>
              </a:solidFill>
              <a:latin typeface="Saira"/>
              <a:ea typeface="Saira"/>
              <a:cs typeface="Saira"/>
              <a:sym typeface="Saira"/>
            </a:endParaRPr>
          </a:p>
        </p:txBody>
      </p:sp>
      <p:sp>
        <p:nvSpPr>
          <p:cNvPr id="270" name="Google Shape;270;g1ff670518a6_0_215"/>
          <p:cNvSpPr txBox="1"/>
          <p:nvPr/>
        </p:nvSpPr>
        <p:spPr>
          <a:xfrm>
            <a:off x="371025" y="2350813"/>
            <a:ext cx="85803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Como las comillas indican el principio y el final de una cadena, si se escribe el mismo formato de comillas dentro de comillas se produce un error de sintaxis.</a:t>
            </a:r>
            <a:endParaRPr sz="1600">
              <a:latin typeface="Saira"/>
              <a:ea typeface="Saira"/>
              <a:cs typeface="Saira"/>
              <a:sym typeface="Sair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g1ff670518a6_0_233"/>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76" name="Google Shape;276;g1ff670518a6_0_233"/>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77" name="Google Shape;277;g1ff670518a6_0_233"/>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78" name="Google Shape;278;g1ff670518a6_0_233"/>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Función print()</a:t>
            </a:r>
            <a:endParaRPr b="0" i="0" sz="3000" u="none" cap="none" strike="noStrike">
              <a:solidFill>
                <a:schemeClr val="dk1"/>
              </a:solidFill>
              <a:latin typeface="Saira"/>
              <a:ea typeface="Saira"/>
              <a:cs typeface="Saira"/>
              <a:sym typeface="Saira"/>
            </a:endParaRPr>
          </a:p>
        </p:txBody>
      </p:sp>
      <p:pic>
        <p:nvPicPr>
          <p:cNvPr id="279" name="Google Shape;279;g1ff670518a6_0_233"/>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80" name="Google Shape;280;g1ff670518a6_0_233"/>
          <p:cNvSpPr txBox="1"/>
          <p:nvPr/>
        </p:nvSpPr>
        <p:spPr>
          <a:xfrm>
            <a:off x="360725" y="2479663"/>
            <a:ext cx="8580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También podemos utilizar variables</a:t>
            </a:r>
            <a:endParaRPr sz="1600">
              <a:latin typeface="Saira"/>
              <a:ea typeface="Saira"/>
              <a:cs typeface="Saira"/>
              <a:sym typeface="Saira"/>
            </a:endParaRPr>
          </a:p>
        </p:txBody>
      </p:sp>
      <p:sp>
        <p:nvSpPr>
          <p:cNvPr id="281" name="Google Shape;281;g1ff670518a6_0_233"/>
          <p:cNvSpPr txBox="1"/>
          <p:nvPr/>
        </p:nvSpPr>
        <p:spPr>
          <a:xfrm>
            <a:off x="484675" y="2910775"/>
            <a:ext cx="43623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700">
                <a:latin typeface="Courier New"/>
                <a:ea typeface="Courier New"/>
                <a:cs typeface="Courier New"/>
                <a:sym typeface="Courier New"/>
              </a:rPr>
              <a:t>nombre = "Maxi"</a:t>
            </a:r>
            <a:endParaRPr sz="1700">
              <a:latin typeface="Courier New"/>
              <a:ea typeface="Courier New"/>
              <a:cs typeface="Courier New"/>
              <a:sym typeface="Courier New"/>
            </a:endParaRPr>
          </a:p>
          <a:p>
            <a:pPr indent="0" lvl="0" marL="0" rtl="0" algn="l">
              <a:spcBef>
                <a:spcPts val="0"/>
              </a:spcBef>
              <a:spcAft>
                <a:spcPts val="0"/>
              </a:spcAft>
              <a:buNone/>
            </a:pPr>
            <a:r>
              <a:rPr lang="es-AR" sz="1700">
                <a:latin typeface="Courier New"/>
                <a:ea typeface="Courier New"/>
                <a:cs typeface="Courier New"/>
                <a:sym typeface="Courier New"/>
              </a:rPr>
              <a:t>print("¡Hola,", nombre, "!")</a:t>
            </a:r>
            <a:endParaRPr sz="1700">
              <a:latin typeface="Courier New"/>
              <a:ea typeface="Courier New"/>
              <a:cs typeface="Courier New"/>
              <a:sym typeface="Courier New"/>
            </a:endParaRPr>
          </a:p>
        </p:txBody>
      </p:sp>
      <p:sp>
        <p:nvSpPr>
          <p:cNvPr id="282" name="Google Shape;282;g1ff670518a6_0_233"/>
          <p:cNvSpPr txBox="1"/>
          <p:nvPr/>
        </p:nvSpPr>
        <p:spPr>
          <a:xfrm>
            <a:off x="453775" y="4270488"/>
            <a:ext cx="44241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700">
                <a:latin typeface="Courier New"/>
                <a:ea typeface="Courier New"/>
                <a:cs typeface="Courier New"/>
                <a:sym typeface="Courier New"/>
              </a:rPr>
              <a:t>nombre = "Juan"</a:t>
            </a:r>
            <a:endParaRPr sz="1700">
              <a:latin typeface="Courier New"/>
              <a:ea typeface="Courier New"/>
              <a:cs typeface="Courier New"/>
              <a:sym typeface="Courier New"/>
            </a:endParaRPr>
          </a:p>
          <a:p>
            <a:pPr indent="0" lvl="0" marL="0" rtl="0" algn="l">
              <a:spcBef>
                <a:spcPts val="0"/>
              </a:spcBef>
              <a:spcAft>
                <a:spcPts val="0"/>
              </a:spcAft>
              <a:buNone/>
            </a:pPr>
            <a:r>
              <a:rPr lang="es-AR" sz="1700">
                <a:latin typeface="Courier New"/>
                <a:ea typeface="Courier New"/>
                <a:cs typeface="Courier New"/>
                <a:sym typeface="Courier New"/>
              </a:rPr>
              <a:t>print(f"¡Hola, {nombre}!")</a:t>
            </a:r>
            <a:endParaRPr sz="1700">
              <a:latin typeface="Courier New"/>
              <a:ea typeface="Courier New"/>
              <a:cs typeface="Courier New"/>
              <a:sym typeface="Courier New"/>
            </a:endParaRPr>
          </a:p>
        </p:txBody>
      </p:sp>
      <p:sp>
        <p:nvSpPr>
          <p:cNvPr id="283" name="Google Shape;283;g1ff670518a6_0_233"/>
          <p:cNvSpPr txBox="1"/>
          <p:nvPr/>
        </p:nvSpPr>
        <p:spPr>
          <a:xfrm>
            <a:off x="360725" y="3741225"/>
            <a:ext cx="5024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solidFill>
                  <a:schemeClr val="dk1"/>
                </a:solidFill>
                <a:latin typeface="Saira"/>
                <a:ea typeface="Saira"/>
                <a:cs typeface="Saira"/>
                <a:sym typeface="Saira"/>
              </a:rPr>
              <a:t>También podemos utilizar </a:t>
            </a:r>
            <a:r>
              <a:rPr lang="es-AR" sz="1600">
                <a:solidFill>
                  <a:schemeClr val="dk1"/>
                </a:solidFill>
                <a:latin typeface="Saira"/>
                <a:ea typeface="Saira"/>
                <a:cs typeface="Saira"/>
                <a:sym typeface="Saira"/>
              </a:rPr>
              <a:t>utilizar las cadenas "f"</a:t>
            </a:r>
            <a:endParaRPr sz="1600">
              <a:solidFill>
                <a:schemeClr val="dk1"/>
              </a:solidFill>
              <a:latin typeface="Saira"/>
              <a:ea typeface="Saira"/>
              <a:cs typeface="Saira"/>
              <a:sym typeface="Sair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1ff670518a6_0_258"/>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289" name="Google Shape;289;g1ff670518a6_0_258"/>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290" name="Google Shape;290;g1ff670518a6_0_258"/>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291" name="Google Shape;291;g1ff670518a6_0_258"/>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Función input()</a:t>
            </a:r>
            <a:endParaRPr b="0" i="0" sz="3000" u="none" cap="none" strike="noStrike">
              <a:solidFill>
                <a:schemeClr val="dk1"/>
              </a:solidFill>
              <a:latin typeface="Saira"/>
              <a:ea typeface="Saira"/>
              <a:cs typeface="Saira"/>
              <a:sym typeface="Saira"/>
            </a:endParaRPr>
          </a:p>
        </p:txBody>
      </p:sp>
      <p:pic>
        <p:nvPicPr>
          <p:cNvPr id="292" name="Google Shape;292;g1ff670518a6_0_258"/>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293" name="Google Shape;293;g1ff670518a6_0_258"/>
          <p:cNvSpPr txBox="1"/>
          <p:nvPr/>
        </p:nvSpPr>
        <p:spPr>
          <a:xfrm>
            <a:off x="371025" y="2411875"/>
            <a:ext cx="10240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La función input() permite obtener texto escrito por teclado</a:t>
            </a:r>
            <a:endParaRPr sz="1600">
              <a:latin typeface="Saira"/>
              <a:ea typeface="Saira"/>
              <a:cs typeface="Saira"/>
              <a:sym typeface="Saira"/>
            </a:endParaRPr>
          </a:p>
        </p:txBody>
      </p:sp>
      <p:sp>
        <p:nvSpPr>
          <p:cNvPr id="294" name="Google Shape;294;g1ff670518a6_0_258"/>
          <p:cNvSpPr txBox="1"/>
          <p:nvPr/>
        </p:nvSpPr>
        <p:spPr>
          <a:xfrm>
            <a:off x="2177200" y="2936150"/>
            <a:ext cx="68685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Courier New"/>
                <a:ea typeface="Courier New"/>
                <a:cs typeface="Courier New"/>
                <a:sym typeface="Courier New"/>
              </a:rPr>
              <a:t>print("¿Cómo se llama?")</a:t>
            </a:r>
            <a:endParaRPr sz="1600">
              <a:latin typeface="Courier New"/>
              <a:ea typeface="Courier New"/>
              <a:cs typeface="Courier New"/>
              <a:sym typeface="Courier New"/>
            </a:endParaRPr>
          </a:p>
          <a:p>
            <a:pPr indent="0" lvl="0" marL="0" rtl="0" algn="l">
              <a:spcBef>
                <a:spcPts val="0"/>
              </a:spcBef>
              <a:spcAft>
                <a:spcPts val="0"/>
              </a:spcAft>
              <a:buNone/>
            </a:pPr>
            <a:r>
              <a:rPr lang="es-AR" sz="1600">
                <a:latin typeface="Courier New"/>
                <a:ea typeface="Courier New"/>
                <a:cs typeface="Courier New"/>
                <a:sym typeface="Courier New"/>
              </a:rPr>
              <a:t>nombre = input()</a:t>
            </a:r>
            <a:endParaRPr sz="1600">
              <a:latin typeface="Courier New"/>
              <a:ea typeface="Courier New"/>
              <a:cs typeface="Courier New"/>
              <a:sym typeface="Courier New"/>
            </a:endParaRPr>
          </a:p>
          <a:p>
            <a:pPr indent="0" lvl="0" marL="0" rtl="0" algn="l">
              <a:spcBef>
                <a:spcPts val="0"/>
              </a:spcBef>
              <a:spcAft>
                <a:spcPts val="0"/>
              </a:spcAft>
              <a:buNone/>
            </a:pPr>
            <a:r>
              <a:rPr lang="es-AR" sz="1600">
                <a:latin typeface="Courier New"/>
                <a:ea typeface="Courier New"/>
                <a:cs typeface="Courier New"/>
                <a:sym typeface="Courier New"/>
              </a:rPr>
              <a:t>print(f"Un gusto, {nombre}")</a:t>
            </a:r>
            <a:endParaRPr sz="1600">
              <a:latin typeface="Courier New"/>
              <a:ea typeface="Courier New"/>
              <a:cs typeface="Courier New"/>
              <a:sym typeface="Courier New"/>
            </a:endParaRPr>
          </a:p>
          <a:p>
            <a:pPr indent="0" lvl="0" marL="0" rtl="0" algn="l">
              <a:spcBef>
                <a:spcPts val="0"/>
              </a:spcBef>
              <a:spcAft>
                <a:spcPts val="0"/>
              </a:spcAft>
              <a:buNone/>
            </a:pPr>
            <a:r>
              <a:t/>
            </a:r>
            <a:endParaRPr sz="1600">
              <a:latin typeface="Courier New"/>
              <a:ea typeface="Courier New"/>
              <a:cs typeface="Courier New"/>
              <a:sym typeface="Courier New"/>
            </a:endParaRPr>
          </a:p>
        </p:txBody>
      </p:sp>
      <p:sp>
        <p:nvSpPr>
          <p:cNvPr id="295" name="Google Shape;295;g1ff670518a6_0_258"/>
          <p:cNvSpPr txBox="1"/>
          <p:nvPr/>
        </p:nvSpPr>
        <p:spPr>
          <a:xfrm>
            <a:off x="2177200" y="4648250"/>
            <a:ext cx="51333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Courier New"/>
                <a:ea typeface="Courier New"/>
                <a:cs typeface="Courier New"/>
                <a:sym typeface="Courier New"/>
              </a:rPr>
              <a:t>nombre = input("¿Cómo se llama? ") </a:t>
            </a:r>
            <a:endParaRPr>
              <a:latin typeface="Courier New"/>
              <a:ea typeface="Courier New"/>
              <a:cs typeface="Courier New"/>
              <a:sym typeface="Courier New"/>
            </a:endParaRPr>
          </a:p>
          <a:p>
            <a:pPr indent="0" lvl="0" marL="0" rtl="0" algn="l">
              <a:spcBef>
                <a:spcPts val="0"/>
              </a:spcBef>
              <a:spcAft>
                <a:spcPts val="0"/>
              </a:spcAft>
              <a:buNone/>
            </a:pPr>
            <a:r>
              <a:rPr lang="es-AR">
                <a:latin typeface="Courier New"/>
                <a:ea typeface="Courier New"/>
                <a:cs typeface="Courier New"/>
                <a:sym typeface="Courier New"/>
              </a:rPr>
              <a:t>print(f"Me alegro de conocerle, {nombre}")</a:t>
            </a:r>
            <a:endParaRPr>
              <a:latin typeface="Courier New"/>
              <a:ea typeface="Courier New"/>
              <a:cs typeface="Courier New"/>
              <a:sym typeface="Courier New"/>
            </a:endParaRPr>
          </a:p>
        </p:txBody>
      </p:sp>
      <p:sp>
        <p:nvSpPr>
          <p:cNvPr id="296" name="Google Shape;296;g1ff670518a6_0_258"/>
          <p:cNvSpPr txBox="1"/>
          <p:nvPr/>
        </p:nvSpPr>
        <p:spPr>
          <a:xfrm>
            <a:off x="371025" y="4105850"/>
            <a:ext cx="10240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Podemos  aprovechar que a la función input() se le puede enviar un argumento que se escribe en la pantalla </a:t>
            </a:r>
            <a:endParaRPr sz="1600">
              <a:latin typeface="Saira"/>
              <a:ea typeface="Saira"/>
              <a:cs typeface="Saira"/>
              <a:sym typeface="Sair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1ff670518a6_0_276"/>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302" name="Google Shape;302;g1ff670518a6_0_276"/>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303" name="Google Shape;303;g1ff670518a6_0_276"/>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04" name="Google Shape;304;g1ff670518a6_0_276"/>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chemeClr val="dk1"/>
                </a:solidFill>
                <a:latin typeface="Saira"/>
                <a:ea typeface="Saira"/>
                <a:cs typeface="Saira"/>
                <a:sym typeface="Saira"/>
              </a:rPr>
              <a:t>Conversión de tipos</a:t>
            </a:r>
            <a:endParaRPr b="0" i="0" sz="3000" u="none" cap="none" strike="noStrike">
              <a:solidFill>
                <a:schemeClr val="dk1"/>
              </a:solidFill>
              <a:latin typeface="Saira"/>
              <a:ea typeface="Saira"/>
              <a:cs typeface="Saira"/>
              <a:sym typeface="Saira"/>
            </a:endParaRPr>
          </a:p>
        </p:txBody>
      </p:sp>
      <p:pic>
        <p:nvPicPr>
          <p:cNvPr id="305" name="Google Shape;305;g1ff670518a6_0_276"/>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06" name="Google Shape;306;g1ff670518a6_0_276"/>
          <p:cNvSpPr txBox="1"/>
          <p:nvPr/>
        </p:nvSpPr>
        <p:spPr>
          <a:xfrm>
            <a:off x="371025" y="2411875"/>
            <a:ext cx="10240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De forma predeterminada, la función input() convierte la entrada en una cadena, aunque escribamos un número.</a:t>
            </a:r>
            <a:endParaRPr sz="1600">
              <a:latin typeface="Saira"/>
              <a:ea typeface="Saira"/>
              <a:cs typeface="Saira"/>
              <a:sym typeface="Saira"/>
            </a:endParaRPr>
          </a:p>
        </p:txBody>
      </p:sp>
      <p:sp>
        <p:nvSpPr>
          <p:cNvPr id="307" name="Google Shape;307;g1ff670518a6_0_276"/>
          <p:cNvSpPr txBox="1"/>
          <p:nvPr/>
        </p:nvSpPr>
        <p:spPr>
          <a:xfrm>
            <a:off x="1383750" y="3107100"/>
            <a:ext cx="8929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Courier New"/>
                <a:ea typeface="Courier New"/>
                <a:cs typeface="Courier New"/>
                <a:sym typeface="Courier New"/>
              </a:rPr>
              <a:t>cantidad = input("</a:t>
            </a:r>
            <a:r>
              <a:rPr lang="es-AR" sz="1600">
                <a:latin typeface="Courier New"/>
                <a:ea typeface="Courier New"/>
                <a:cs typeface="Courier New"/>
                <a:sym typeface="Courier New"/>
              </a:rPr>
              <a:t>Cuántos</a:t>
            </a:r>
            <a:r>
              <a:rPr lang="es-AR" sz="1600">
                <a:latin typeface="Courier New"/>
                <a:ea typeface="Courier New"/>
                <a:cs typeface="Courier New"/>
                <a:sym typeface="Courier New"/>
              </a:rPr>
              <a:t> pesos tiene?: ")</a:t>
            </a:r>
            <a:endParaRPr sz="1600">
              <a:latin typeface="Courier New"/>
              <a:ea typeface="Courier New"/>
              <a:cs typeface="Courier New"/>
              <a:sym typeface="Courier New"/>
            </a:endParaRPr>
          </a:p>
          <a:p>
            <a:pPr indent="0" lvl="0" marL="0" rtl="0" algn="l">
              <a:spcBef>
                <a:spcPts val="0"/>
              </a:spcBef>
              <a:spcAft>
                <a:spcPts val="0"/>
              </a:spcAft>
              <a:buNone/>
            </a:pPr>
            <a:r>
              <a:rPr lang="es-AR" sz="1600">
                <a:latin typeface="Courier New"/>
                <a:ea typeface="Courier New"/>
                <a:cs typeface="Courier New"/>
                <a:sym typeface="Courier New"/>
              </a:rPr>
              <a:t>print(f"{cantidad} pesos son {round(cantidad / 1000.0, 2)} dólares")</a:t>
            </a:r>
            <a:endParaRPr sz="1600">
              <a:latin typeface="Courier New"/>
              <a:ea typeface="Courier New"/>
              <a:cs typeface="Courier New"/>
              <a:sym typeface="Courier New"/>
            </a:endParaRPr>
          </a:p>
        </p:txBody>
      </p:sp>
      <p:sp>
        <p:nvSpPr>
          <p:cNvPr id="308" name="Google Shape;308;g1ff670518a6_0_276"/>
          <p:cNvSpPr txBox="1"/>
          <p:nvPr/>
        </p:nvSpPr>
        <p:spPr>
          <a:xfrm>
            <a:off x="1454100" y="4648250"/>
            <a:ext cx="8136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a:latin typeface="Courier New"/>
                <a:ea typeface="Courier New"/>
                <a:cs typeface="Courier New"/>
                <a:sym typeface="Courier New"/>
              </a:rPr>
              <a:t>cantidad = int(input("</a:t>
            </a:r>
            <a:r>
              <a:rPr lang="es-AR" sz="1600">
                <a:solidFill>
                  <a:schemeClr val="dk1"/>
                </a:solidFill>
                <a:latin typeface="Courier New"/>
                <a:ea typeface="Courier New"/>
                <a:cs typeface="Courier New"/>
                <a:sym typeface="Courier New"/>
              </a:rPr>
              <a:t>Cuántos pesos tiene?</a:t>
            </a:r>
            <a:r>
              <a:rPr lang="es-AR">
                <a:latin typeface="Courier New"/>
                <a:ea typeface="Courier New"/>
                <a:cs typeface="Courier New"/>
                <a:sym typeface="Courier New"/>
              </a:rPr>
              <a:t>: "))</a:t>
            </a:r>
            <a:endParaRPr>
              <a:latin typeface="Courier New"/>
              <a:ea typeface="Courier New"/>
              <a:cs typeface="Courier New"/>
              <a:sym typeface="Courier New"/>
            </a:endParaRPr>
          </a:p>
          <a:p>
            <a:pPr indent="0" lvl="0" marL="0" rtl="0" algn="l">
              <a:spcBef>
                <a:spcPts val="0"/>
              </a:spcBef>
              <a:spcAft>
                <a:spcPts val="0"/>
              </a:spcAft>
              <a:buNone/>
            </a:pPr>
            <a:r>
              <a:rPr lang="es-AR">
                <a:latin typeface="Courier New"/>
                <a:ea typeface="Courier New"/>
                <a:cs typeface="Courier New"/>
                <a:sym typeface="Courier New"/>
              </a:rPr>
              <a:t>print(f"{cantidad} pesos son {round(cantidad / 1000.0, 2)} dólares")</a:t>
            </a:r>
            <a:endParaRPr>
              <a:latin typeface="Courier New"/>
              <a:ea typeface="Courier New"/>
              <a:cs typeface="Courier New"/>
              <a:sym typeface="Courier New"/>
            </a:endParaRPr>
          </a:p>
        </p:txBody>
      </p:sp>
      <p:sp>
        <p:nvSpPr>
          <p:cNvPr id="309" name="Google Shape;309;g1ff670518a6_0_276"/>
          <p:cNvSpPr txBox="1"/>
          <p:nvPr/>
        </p:nvSpPr>
        <p:spPr>
          <a:xfrm>
            <a:off x="371025" y="4105850"/>
            <a:ext cx="10240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La anterior </a:t>
            </a:r>
            <a:r>
              <a:rPr lang="es-AR" sz="1600">
                <a:latin typeface="Saira"/>
                <a:ea typeface="Saira"/>
                <a:cs typeface="Saira"/>
                <a:sym typeface="Saira"/>
              </a:rPr>
              <a:t>línea</a:t>
            </a:r>
            <a:r>
              <a:rPr lang="es-AR" sz="1600">
                <a:latin typeface="Saira"/>
                <a:ea typeface="Saira"/>
                <a:cs typeface="Saira"/>
                <a:sym typeface="Saira"/>
              </a:rPr>
              <a:t> daria un error, para solucionar esto podemos convertir a entero</a:t>
            </a:r>
            <a:endParaRPr sz="1600">
              <a:latin typeface="Saira"/>
              <a:ea typeface="Saira"/>
              <a:cs typeface="Saira"/>
              <a:sym typeface="Saira"/>
            </a:endParaRPr>
          </a:p>
        </p:txBody>
      </p:sp>
      <p:sp>
        <p:nvSpPr>
          <p:cNvPr id="310" name="Google Shape;310;g1ff670518a6_0_276"/>
          <p:cNvSpPr txBox="1"/>
          <p:nvPr/>
        </p:nvSpPr>
        <p:spPr>
          <a:xfrm>
            <a:off x="412500" y="5508675"/>
            <a:ext cx="9126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AR" sz="1600">
                <a:latin typeface="Saira"/>
                <a:ea typeface="Saira"/>
                <a:cs typeface="Saira"/>
                <a:sym typeface="Saira"/>
              </a:rPr>
              <a:t>e la misma manera, para que Python </a:t>
            </a:r>
            <a:r>
              <a:rPr lang="es-AR" sz="1600">
                <a:latin typeface="Saira"/>
                <a:ea typeface="Saira"/>
                <a:cs typeface="Saira"/>
                <a:sym typeface="Saira"/>
              </a:rPr>
              <a:t>intérprete</a:t>
            </a:r>
            <a:r>
              <a:rPr lang="es-AR" sz="1600">
                <a:latin typeface="Saira"/>
                <a:ea typeface="Saira"/>
                <a:cs typeface="Saira"/>
                <a:sym typeface="Saira"/>
              </a:rPr>
              <a:t> la entrada como un número decimal, se debe utilizar la función float() </a:t>
            </a:r>
            <a:endParaRPr sz="1600">
              <a:latin typeface="Saira"/>
              <a:ea typeface="Saira"/>
              <a:cs typeface="Saira"/>
              <a:sym typeface="Sair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g1ff670518a6_0_291"/>
          <p:cNvSpPr txBox="1"/>
          <p:nvPr/>
        </p:nvSpPr>
        <p:spPr>
          <a:xfrm>
            <a:off x="319439" y="990221"/>
            <a:ext cx="8472000" cy="738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5400"/>
              <a:buFont typeface="Saira"/>
              <a:buNone/>
            </a:pPr>
            <a:r>
              <a:rPr lang="es-AR" sz="4200">
                <a:solidFill>
                  <a:schemeClr val="dk1"/>
                </a:solidFill>
                <a:latin typeface="Saira"/>
                <a:ea typeface="Saira"/>
                <a:cs typeface="Saira"/>
                <a:sym typeface="Saira"/>
              </a:rPr>
              <a:t>Python</a:t>
            </a:r>
            <a:endParaRPr b="0" i="0" sz="5400" u="none" cap="none" strike="noStrike">
              <a:solidFill>
                <a:schemeClr val="dk1"/>
              </a:solidFill>
              <a:latin typeface="Saira"/>
              <a:ea typeface="Saira"/>
              <a:cs typeface="Saira"/>
              <a:sym typeface="Saira"/>
            </a:endParaRPr>
          </a:p>
        </p:txBody>
      </p:sp>
      <p:pic>
        <p:nvPicPr>
          <p:cNvPr id="316" name="Google Shape;316;g1ff670518a6_0_291"/>
          <p:cNvPicPr preferRelativeResize="0"/>
          <p:nvPr/>
        </p:nvPicPr>
        <p:blipFill rotWithShape="1">
          <a:blip r:embed="rId3">
            <a:alphaModFix/>
          </a:blip>
          <a:srcRect b="30671" l="23551" r="22740" t="29910"/>
          <a:stretch/>
        </p:blipFill>
        <p:spPr>
          <a:xfrm>
            <a:off x="8791460" y="390327"/>
            <a:ext cx="2959467" cy="1085934"/>
          </a:xfrm>
          <a:prstGeom prst="rect">
            <a:avLst/>
          </a:prstGeom>
          <a:noFill/>
          <a:ln>
            <a:noFill/>
          </a:ln>
        </p:spPr>
      </p:pic>
      <p:sp>
        <p:nvSpPr>
          <p:cNvPr id="317" name="Google Shape;317;g1ff670518a6_0_291"/>
          <p:cNvSpPr txBox="1"/>
          <p:nvPr/>
        </p:nvSpPr>
        <p:spPr>
          <a:xfrm>
            <a:off x="3954850" y="6338200"/>
            <a:ext cx="3313200" cy="365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200"/>
              <a:buFont typeface="Arial"/>
              <a:buNone/>
            </a:pPr>
            <a:r>
              <a:rPr b="0" i="0" lang="es-AR" sz="1200" u="none" cap="none" strike="noStrike">
                <a:solidFill>
                  <a:srgbClr val="888888"/>
                </a:solidFill>
                <a:latin typeface="Saira"/>
                <a:ea typeface="Saira"/>
                <a:cs typeface="Saira"/>
                <a:sym typeface="Saira"/>
              </a:rPr>
              <a:t>Laboratorio de computación II  2024</a:t>
            </a:r>
            <a:endParaRPr b="0" i="0" sz="1200" u="none" cap="none" strike="noStrike">
              <a:solidFill>
                <a:srgbClr val="888888"/>
              </a:solidFill>
              <a:latin typeface="Saira"/>
              <a:ea typeface="Saira"/>
              <a:cs typeface="Saira"/>
              <a:sym typeface="Saira"/>
            </a:endParaRPr>
          </a:p>
        </p:txBody>
      </p:sp>
      <p:sp>
        <p:nvSpPr>
          <p:cNvPr id="318" name="Google Shape;318;g1ff670518a6_0_291"/>
          <p:cNvSpPr txBox="1"/>
          <p:nvPr/>
        </p:nvSpPr>
        <p:spPr>
          <a:xfrm>
            <a:off x="319450" y="1747250"/>
            <a:ext cx="54453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lang="es-AR" sz="3000">
                <a:solidFill>
                  <a:srgbClr val="0000FF"/>
                </a:solidFill>
                <a:latin typeface="Saira"/>
                <a:ea typeface="Saira"/>
                <a:cs typeface="Saira"/>
                <a:sym typeface="Saira"/>
              </a:rPr>
              <a:t>Ejercicio integradores</a:t>
            </a:r>
            <a:endParaRPr b="0" i="0" sz="3000" u="none" cap="none" strike="noStrike">
              <a:solidFill>
                <a:srgbClr val="0000FF"/>
              </a:solidFill>
              <a:latin typeface="Saira"/>
              <a:ea typeface="Saira"/>
              <a:cs typeface="Saira"/>
              <a:sym typeface="Saira"/>
            </a:endParaRPr>
          </a:p>
        </p:txBody>
      </p:sp>
      <p:pic>
        <p:nvPicPr>
          <p:cNvPr id="319" name="Google Shape;319;g1ff670518a6_0_291"/>
          <p:cNvPicPr preferRelativeResize="0"/>
          <p:nvPr/>
        </p:nvPicPr>
        <p:blipFill rotWithShape="1">
          <a:blip r:embed="rId4">
            <a:alphaModFix/>
          </a:blip>
          <a:srcRect b="0" l="0" r="0" t="0"/>
          <a:stretch/>
        </p:blipFill>
        <p:spPr>
          <a:xfrm>
            <a:off x="10808999" y="5652288"/>
            <a:ext cx="941920" cy="954300"/>
          </a:xfrm>
          <a:prstGeom prst="rect">
            <a:avLst/>
          </a:prstGeom>
          <a:noFill/>
          <a:ln>
            <a:noFill/>
          </a:ln>
        </p:spPr>
      </p:pic>
      <p:sp>
        <p:nvSpPr>
          <p:cNvPr id="320" name="Google Shape;320;g1ff670518a6_0_291"/>
          <p:cNvSpPr txBox="1"/>
          <p:nvPr/>
        </p:nvSpPr>
        <p:spPr>
          <a:xfrm>
            <a:off x="528250" y="2671513"/>
            <a:ext cx="8054400" cy="2724300"/>
          </a:xfrm>
          <a:prstGeom prst="rect">
            <a:avLst/>
          </a:prstGeom>
          <a:noFill/>
          <a:ln>
            <a:noFill/>
          </a:ln>
        </p:spPr>
        <p:txBody>
          <a:bodyPr anchorCtr="0" anchor="t" bIns="91425" lIns="91425" spcFirstLastPara="1" rIns="91425" wrap="square" tIns="91425">
            <a:spAutoFit/>
          </a:bodyPr>
          <a:lstStyle/>
          <a:p>
            <a:pPr indent="-323850" lvl="0" marL="457200" rtl="0" algn="l">
              <a:spcBef>
                <a:spcPts val="0"/>
              </a:spcBef>
              <a:spcAft>
                <a:spcPts val="0"/>
              </a:spcAft>
              <a:buSzPts val="1500"/>
              <a:buFont typeface="Saira"/>
              <a:buChar char="●"/>
            </a:pPr>
            <a:r>
              <a:rPr lang="es-AR" sz="1500">
                <a:latin typeface="Saira"/>
                <a:ea typeface="Saira"/>
                <a:cs typeface="Saira"/>
                <a:sym typeface="Saira"/>
              </a:rPr>
              <a:t>Se desea calcular el área de un círculo dado su radio (float). Recuerda que el área de un círculo se calcula con la fórmula: A = π * r^2.</a:t>
            </a:r>
            <a:endParaRPr sz="1500">
              <a:latin typeface="Saira"/>
              <a:ea typeface="Saira"/>
              <a:cs typeface="Saira"/>
              <a:sym typeface="Saira"/>
            </a:endParaRPr>
          </a:p>
          <a:p>
            <a:pPr indent="0" lvl="0" marL="0" rtl="0" algn="l">
              <a:spcBef>
                <a:spcPts val="0"/>
              </a:spcBef>
              <a:spcAft>
                <a:spcPts val="0"/>
              </a:spcAft>
              <a:buNone/>
            </a:pPr>
            <a:r>
              <a:t/>
            </a:r>
            <a:endParaRPr sz="1500">
              <a:latin typeface="Saira"/>
              <a:ea typeface="Saira"/>
              <a:cs typeface="Saira"/>
              <a:sym typeface="Saira"/>
            </a:endParaRPr>
          </a:p>
          <a:p>
            <a:pPr indent="-323850" lvl="0" marL="457200" rtl="0" algn="l">
              <a:spcBef>
                <a:spcPts val="0"/>
              </a:spcBef>
              <a:spcAft>
                <a:spcPts val="0"/>
              </a:spcAft>
              <a:buSzPts val="1500"/>
              <a:buFont typeface="Saira"/>
              <a:buChar char="●"/>
            </a:pPr>
            <a:r>
              <a:rPr lang="es-AR" sz="1500">
                <a:latin typeface="Saira"/>
                <a:ea typeface="Saira"/>
                <a:cs typeface="Saira"/>
                <a:sym typeface="Saira"/>
              </a:rPr>
              <a:t>Se necesita calcular el salario semanal de un trabajador en base a su salario por hora (float) y el número de horas trabajadas a la semana (int).</a:t>
            </a:r>
            <a:endParaRPr sz="1500">
              <a:latin typeface="Saira"/>
              <a:ea typeface="Saira"/>
              <a:cs typeface="Saira"/>
              <a:sym typeface="Saira"/>
            </a:endParaRPr>
          </a:p>
          <a:p>
            <a:pPr indent="0" lvl="0" marL="0" rtl="0" algn="l">
              <a:spcBef>
                <a:spcPts val="0"/>
              </a:spcBef>
              <a:spcAft>
                <a:spcPts val="0"/>
              </a:spcAft>
              <a:buNone/>
            </a:pPr>
            <a:r>
              <a:t/>
            </a:r>
            <a:endParaRPr sz="1500">
              <a:latin typeface="Saira"/>
              <a:ea typeface="Saira"/>
              <a:cs typeface="Saira"/>
              <a:sym typeface="Saira"/>
            </a:endParaRPr>
          </a:p>
          <a:p>
            <a:pPr indent="-323850" lvl="0" marL="457200" rtl="0" algn="l">
              <a:spcBef>
                <a:spcPts val="0"/>
              </a:spcBef>
              <a:spcAft>
                <a:spcPts val="0"/>
              </a:spcAft>
              <a:buSzPts val="1500"/>
              <a:buFont typeface="Saira"/>
              <a:buChar char="●"/>
            </a:pPr>
            <a:r>
              <a:rPr lang="es-AR" sz="1500">
                <a:latin typeface="Saira"/>
                <a:ea typeface="Saira"/>
                <a:cs typeface="Saira"/>
                <a:sym typeface="Saira"/>
              </a:rPr>
              <a:t>Desarrolla un programa que convierta una temperatura dada en grados Celsius (float) a grados Fahrenheit, utilizando la fórmula: F = (C * 9/5) + 32.</a:t>
            </a:r>
            <a:endParaRPr sz="1500">
              <a:latin typeface="Saira"/>
              <a:ea typeface="Saira"/>
              <a:cs typeface="Saira"/>
              <a:sym typeface="Saira"/>
            </a:endParaRPr>
          </a:p>
          <a:p>
            <a:pPr indent="0" lvl="0" marL="457200" rtl="0" algn="l">
              <a:spcBef>
                <a:spcPts val="0"/>
              </a:spcBef>
              <a:spcAft>
                <a:spcPts val="0"/>
              </a:spcAft>
              <a:buNone/>
            </a:pPr>
            <a:r>
              <a:t/>
            </a:r>
            <a:endParaRPr sz="1500">
              <a:latin typeface="Saira"/>
              <a:ea typeface="Saira"/>
              <a:cs typeface="Saira"/>
              <a:sym typeface="Saira"/>
            </a:endParaRPr>
          </a:p>
          <a:p>
            <a:pPr indent="-323850" lvl="0" marL="457200" rtl="0" algn="l">
              <a:spcBef>
                <a:spcPts val="0"/>
              </a:spcBef>
              <a:spcAft>
                <a:spcPts val="0"/>
              </a:spcAft>
              <a:buSzPts val="1500"/>
              <a:buFont typeface="Saira"/>
              <a:buChar char="●"/>
            </a:pPr>
            <a:r>
              <a:rPr lang="es-AR" sz="1500">
                <a:latin typeface="Saira"/>
                <a:ea typeface="Saira"/>
                <a:cs typeface="Saira"/>
                <a:sym typeface="Saira"/>
              </a:rPr>
              <a:t>Construye un algoritmo que calcule el perímetro de un rectángulo a partir de su longitud (float) y anchura (float), utilizando la fórmula: P = 2 * (longitud + anchura).</a:t>
            </a:r>
            <a:endParaRPr sz="1500">
              <a:latin typeface="Saira"/>
              <a:ea typeface="Saira"/>
              <a:cs typeface="Saira"/>
              <a:sym typeface="Saira"/>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pic>
        <p:nvPicPr>
          <p:cNvPr id="325" name="Google Shape;325;g1f3006538ad_0_205"/>
          <p:cNvPicPr preferRelativeResize="0"/>
          <p:nvPr/>
        </p:nvPicPr>
        <p:blipFill rotWithShape="1">
          <a:blip r:embed="rId3">
            <a:alphaModFix/>
          </a:blip>
          <a:srcRect b="30673" l="23551" r="22739" t="29909"/>
          <a:stretch/>
        </p:blipFill>
        <p:spPr>
          <a:xfrm>
            <a:off x="8791460" y="390327"/>
            <a:ext cx="2959467" cy="1085934"/>
          </a:xfrm>
          <a:prstGeom prst="rect">
            <a:avLst/>
          </a:prstGeom>
          <a:noFill/>
          <a:ln>
            <a:noFill/>
          </a:ln>
        </p:spPr>
      </p:pic>
      <p:sp>
        <p:nvSpPr>
          <p:cNvPr id="326" name="Google Shape;326;g1f3006538ad_0_205"/>
          <p:cNvSpPr txBox="1"/>
          <p:nvPr>
            <p:ph idx="11" type="ftr"/>
          </p:nvPr>
        </p:nvSpPr>
        <p:spPr>
          <a:xfrm>
            <a:off x="2846238" y="2374225"/>
            <a:ext cx="6499500" cy="10038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400"/>
              <a:buNone/>
            </a:pPr>
            <a:r>
              <a:rPr lang="es-AR" sz="2000">
                <a:latin typeface="Saira"/>
                <a:ea typeface="Saira"/>
                <a:cs typeface="Saira"/>
                <a:sym typeface="Saira"/>
              </a:rPr>
              <a:t>Próxima unidad: Variables y tipos.</a:t>
            </a:r>
            <a:endParaRPr sz="2000"/>
          </a:p>
        </p:txBody>
      </p:sp>
      <p:sp>
        <p:nvSpPr>
          <p:cNvPr id="327" name="Google Shape;327;g1f3006538ad_0_205"/>
          <p:cNvSpPr txBox="1"/>
          <p:nvPr>
            <p:ph idx="10" type="dt"/>
          </p:nvPr>
        </p:nvSpPr>
        <p:spPr>
          <a:xfrm>
            <a:off x="4439400" y="6313325"/>
            <a:ext cx="3313200" cy="365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1200"/>
              <a:buNone/>
            </a:pPr>
            <a:r>
              <a:rPr lang="es-AR">
                <a:latin typeface="Saira"/>
                <a:ea typeface="Saira"/>
                <a:cs typeface="Saira"/>
                <a:sym typeface="Saira"/>
              </a:rPr>
              <a:t>Laboratorio de computación II  2024</a:t>
            </a:r>
            <a:endParaRPr>
              <a:latin typeface="Saira"/>
              <a:ea typeface="Saira"/>
              <a:cs typeface="Saira"/>
              <a:sym typeface="Saira"/>
            </a:endParaRPr>
          </a:p>
        </p:txBody>
      </p:sp>
      <p:pic>
        <p:nvPicPr>
          <p:cNvPr id="328" name="Google Shape;328;g1f3006538ad_0_205"/>
          <p:cNvPicPr preferRelativeResize="0"/>
          <p:nvPr/>
        </p:nvPicPr>
        <p:blipFill rotWithShape="1">
          <a:blip r:embed="rId4">
            <a:alphaModFix/>
          </a:blip>
          <a:srcRect b="0" l="0" r="0" t="0"/>
          <a:stretch/>
        </p:blipFill>
        <p:spPr>
          <a:xfrm>
            <a:off x="4964432" y="3311318"/>
            <a:ext cx="2263150" cy="2292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2023-03-07T21:33:27Z</dcterms:created>
  <dc:creator>Carlos Sebastián Pedraza</dc:creator>
</cp:coreProperties>
</file>