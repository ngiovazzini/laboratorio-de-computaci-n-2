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embeddedFontLst>
    <p:embeddedFont>
      <p:font typeface="Saira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iq83z6sFAv2JWf4mZJYLMBa/Ng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Saira-bold.fntdata"/><Relationship Id="rId27" Type="http://schemas.openxmlformats.org/officeDocument/2006/relationships/font" Target="fonts/Sair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Saira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Saira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f2ce82f4e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1f2ce82f4e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02c77a19e3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202c77a19e3_0_2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02c77a19e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202c77a19e3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02c77a19e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202c77a19e3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02c77a19e3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202c77a19e3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02c77a19e3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202c77a19e3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02c77a19e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202c77a19e3_0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02c77a19e3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202c77a19e3_0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02c77a19e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202c77a19e3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02c77a19e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202c77a19e3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02c77a19e3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202c77a19e3_0_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02c77a19e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g202c77a19e3_0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02c77a19e3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202c77a19e3_0_1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02c77a19e3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g202c77a19e3_0_1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02c77a19e3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g202c77a19e3_0_2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02c77a19e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g202c77a19e3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02c77a19e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g202c77a19e3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02c77a19e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202c77a19e3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02c77a19e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g202c77a19e3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02c77a19e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g202c77a19e3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f3006538ad_0_2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g1f3006538ad_0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52814" y="1014596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Laboratorio de programación II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30673" l="23551" r="22738" t="29909"/>
          <a:stretch/>
        </p:blipFill>
        <p:spPr>
          <a:xfrm>
            <a:off x="8791460" y="390327"/>
            <a:ext cx="2959466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762125" y="2019899"/>
            <a:ext cx="8667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Unidad 1</a:t>
            </a: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4</a:t>
            </a: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- </a:t>
            </a: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Variables, listas y condicionales.</a:t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439325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1250" y="2983813"/>
            <a:ext cx="6229350" cy="21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2ce82f4ef_0_5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Variables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95" name="Google Shape;95;g1f2ce82f4ef_0_5"/>
          <p:cNvPicPr preferRelativeResize="0"/>
          <p:nvPr/>
        </p:nvPicPr>
        <p:blipFill rotWithShape="1">
          <a:blip r:embed="rId3">
            <a:alphaModFix/>
          </a:blip>
          <a:srcRect b="30673" l="23551" r="22738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1f2ce82f4ef_0_5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97" name="Google Shape;97;g1f2ce82f4ef_0_5"/>
          <p:cNvSpPr txBox="1"/>
          <p:nvPr/>
        </p:nvSpPr>
        <p:spPr>
          <a:xfrm>
            <a:off x="490000" y="2411875"/>
            <a:ext cx="88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Las variables en Python son como contenedores donde puedes almacenar datos</a:t>
            </a:r>
            <a:endParaRPr b="0" i="0" sz="20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98" name="Google Shape;98;g1f2ce82f4ef_0_5"/>
          <p:cNvSpPr txBox="1"/>
          <p:nvPr/>
        </p:nvSpPr>
        <p:spPr>
          <a:xfrm>
            <a:off x="319450" y="17472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¿ </a:t>
            </a: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Qué son</a:t>
            </a: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?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99" name="Google Shape;99;g1f2ce82f4ef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1f2ce82f4ef_0_5"/>
          <p:cNvSpPr txBox="1"/>
          <p:nvPr/>
        </p:nvSpPr>
        <p:spPr>
          <a:xfrm>
            <a:off x="2821900" y="3108250"/>
            <a:ext cx="5579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nombre = "Juan"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edad = 25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altura = 1.75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fecha_de_nacimiento=”25/05/2000”</a:t>
            </a:r>
            <a:endParaRPr sz="24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01" name="Google Shape;101;g1f2ce82f4ef_0_5"/>
          <p:cNvSpPr txBox="1"/>
          <p:nvPr/>
        </p:nvSpPr>
        <p:spPr>
          <a:xfrm>
            <a:off x="490000" y="5485050"/>
            <a:ext cx="969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Una cosa interesante sobre Python es que no necesitas especificar el tipo de datos que contendrá la variable.</a:t>
            </a:r>
            <a:endParaRPr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02c77a19e3_0_227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Variables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07" name="Google Shape;107;g202c77a19e3_0_227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202c77a19e3_0_227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09" name="Google Shape;109;g202c77a19e3_0_227"/>
          <p:cNvSpPr txBox="1"/>
          <p:nvPr/>
        </p:nvSpPr>
        <p:spPr>
          <a:xfrm>
            <a:off x="438450" y="1989050"/>
            <a:ext cx="881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Python también tiene la función isinstance() que puedes usar para verificar si una variable es de un tipo específico.</a:t>
            </a:r>
            <a:endParaRPr b="0" i="0" sz="20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10" name="Google Shape;110;g202c77a19e3_0_2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02c77a19e3_0_227"/>
          <p:cNvSpPr txBox="1"/>
          <p:nvPr/>
        </p:nvSpPr>
        <p:spPr>
          <a:xfrm>
            <a:off x="1031425" y="3137575"/>
            <a:ext cx="9270900" cy="1539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variable = 10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print(isinstance(variable, int))  # Esto imprimirá True si la variable es de tipo entero (int), de lo contrario, imprimirá False.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02c77a19e3_0_61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Listas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17" name="Google Shape;117;g202c77a19e3_0_61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202c77a19e3_0_61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19" name="Google Shape;119;g202c77a19e3_0_61"/>
          <p:cNvSpPr txBox="1"/>
          <p:nvPr/>
        </p:nvSpPr>
        <p:spPr>
          <a:xfrm>
            <a:off x="490000" y="2411875"/>
            <a:ext cx="8812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Las listas son estructuras de datos muy flexibles, son conjuntos de elementos (números, cadenas, listas, etc), se delimitan por corchetes ([ ]) y los elementos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se separan por comas.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20" name="Google Shape;120;g202c77a19e3_0_61"/>
          <p:cNvSpPr txBox="1"/>
          <p:nvPr/>
        </p:nvSpPr>
        <p:spPr>
          <a:xfrm>
            <a:off x="319450" y="17472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¿ </a:t>
            </a: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Qué son</a:t>
            </a: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?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21" name="Google Shape;121;g202c77a19e3_0_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202c77a19e3_0_61"/>
          <p:cNvSpPr txBox="1"/>
          <p:nvPr/>
        </p:nvSpPr>
        <p:spPr>
          <a:xfrm>
            <a:off x="3143100" y="3723000"/>
            <a:ext cx="4125000" cy="861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numeros = [1, 2, 3, 4, 5]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02c77a19e3_0_73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Listas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28" name="Google Shape;128;g202c77a19e3_0_73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202c77a19e3_0_73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30" name="Google Shape;130;g202c77a19e3_0_73"/>
          <p:cNvSpPr txBox="1"/>
          <p:nvPr/>
        </p:nvSpPr>
        <p:spPr>
          <a:xfrm>
            <a:off x="319450" y="1916850"/>
            <a:ext cx="88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También pueden crear una lista vacía y luego agregar elementos a ella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31" name="Google Shape;131;g202c77a19e3_0_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202c77a19e3_0_73"/>
          <p:cNvSpPr txBox="1"/>
          <p:nvPr/>
        </p:nvSpPr>
        <p:spPr>
          <a:xfrm>
            <a:off x="3681850" y="2566275"/>
            <a:ext cx="3859200" cy="1539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frutas = []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frutas.append("manzana")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frutas.append("banana")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frutas.append("cereza")</a:t>
            </a:r>
            <a:endParaRPr sz="22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33" name="Google Shape;133;g202c77a19e3_0_73"/>
          <p:cNvSpPr txBox="1"/>
          <p:nvPr/>
        </p:nvSpPr>
        <p:spPr>
          <a:xfrm>
            <a:off x="3249750" y="4942713"/>
            <a:ext cx="5692500" cy="1200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frutas = ["manzana", "banana", "cereza"]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print(frutas[0])  # Imprime: manzana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print(frutas[1])  # Imprime: banana</a:t>
            </a:r>
            <a:endParaRPr sz="22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34" name="Google Shape;134;g202c77a19e3_0_73"/>
          <p:cNvSpPr txBox="1"/>
          <p:nvPr/>
        </p:nvSpPr>
        <p:spPr>
          <a:xfrm>
            <a:off x="319450" y="4175350"/>
            <a:ext cx="881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Pueden acceder a elementos individuales de la lista utilizando su índice, que comienza desde 0.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02c77a19e3_0_84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Listas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40" name="Google Shape;140;g202c77a19e3_0_84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202c77a19e3_0_84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42" name="Google Shape;142;g202c77a19e3_0_84"/>
          <p:cNvSpPr txBox="1"/>
          <p:nvPr/>
        </p:nvSpPr>
        <p:spPr>
          <a:xfrm>
            <a:off x="319450" y="1916850"/>
            <a:ext cx="881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También pueden acceder a elementos desde el final de la lista utilizando índices negativos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43" name="Google Shape;143;g202c77a19e3_0_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02c77a19e3_0_84"/>
          <p:cNvSpPr txBox="1"/>
          <p:nvPr/>
        </p:nvSpPr>
        <p:spPr>
          <a:xfrm>
            <a:off x="3249750" y="2763900"/>
            <a:ext cx="5692500" cy="861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frutas = ["manzana", "banana", "cereza"]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print(frutas[-1])  # Imprime: cereza</a:t>
            </a:r>
            <a:endParaRPr sz="2200"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02c77a19e3_0_99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Listas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50" name="Google Shape;150;g202c77a19e3_0_99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202c77a19e3_0_99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52" name="Google Shape;152;g202c77a19e3_0_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02c77a19e3_0_99"/>
          <p:cNvSpPr txBox="1"/>
          <p:nvPr/>
        </p:nvSpPr>
        <p:spPr>
          <a:xfrm>
            <a:off x="3249750" y="3351750"/>
            <a:ext cx="5692500" cy="861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numeros = [1, 2, 3, 4, 5]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print(numeros[1:3])  # Imprime: [2, 3]</a:t>
            </a:r>
            <a:endParaRPr sz="22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54" name="Google Shape;154;g202c77a19e3_0_99"/>
          <p:cNvSpPr txBox="1"/>
          <p:nvPr/>
        </p:nvSpPr>
        <p:spPr>
          <a:xfrm>
            <a:off x="319450" y="1747250"/>
            <a:ext cx="4991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Slicing (rebanado) de listas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55" name="Google Shape;155;g202c77a19e3_0_99"/>
          <p:cNvSpPr txBox="1"/>
          <p:nvPr/>
        </p:nvSpPr>
        <p:spPr>
          <a:xfrm>
            <a:off x="319450" y="2503300"/>
            <a:ext cx="88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Pueden obtener una porción (slice) de la lista utilizando la sintaxis [inicio:fin]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02c77a19e3_0_110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Listas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61" name="Google Shape;161;g202c77a19e3_0_110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202c77a19e3_0_110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63" name="Google Shape;163;g202c77a19e3_0_1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202c77a19e3_0_110"/>
          <p:cNvSpPr txBox="1"/>
          <p:nvPr/>
        </p:nvSpPr>
        <p:spPr>
          <a:xfrm>
            <a:off x="1992250" y="3306925"/>
            <a:ext cx="7238400" cy="1200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frutas = ["manzana", "banana", "cereza"]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frutas[1] = "kiwi"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print(frutas)  # Imprime: ["manzana", "kiwi", "cereza"]</a:t>
            </a:r>
            <a:endParaRPr sz="22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65" name="Google Shape;165;g202c77a19e3_0_110"/>
          <p:cNvSpPr txBox="1"/>
          <p:nvPr/>
        </p:nvSpPr>
        <p:spPr>
          <a:xfrm>
            <a:off x="319450" y="1747250"/>
            <a:ext cx="79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Modificación de elementos de la lista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66" name="Google Shape;166;g202c77a19e3_0_110"/>
          <p:cNvSpPr txBox="1"/>
          <p:nvPr/>
        </p:nvSpPr>
        <p:spPr>
          <a:xfrm>
            <a:off x="319450" y="2503300"/>
            <a:ext cx="88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Pueden cambiar el valor de un elemento de la lista asignándole un nuevo valor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02c77a19e3_0_121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Listas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72" name="Google Shape;172;g202c77a19e3_0_121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202c77a19e3_0_121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74" name="Google Shape;174;g202c77a19e3_0_1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202c77a19e3_0_121"/>
          <p:cNvSpPr txBox="1"/>
          <p:nvPr/>
        </p:nvSpPr>
        <p:spPr>
          <a:xfrm>
            <a:off x="1992250" y="3533800"/>
            <a:ext cx="7238400" cy="2216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frutas = ["manzana", "banana", "cereza"]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del frutas[0]  # Elimina la primera fruta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print(frutas)  # Imprime: ["banana", "cereza"]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frutas.remove("banana")  # Elimina la fruta "banana"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print(frutas)  # Imprime: ["cereza"]</a:t>
            </a:r>
            <a:endParaRPr sz="22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76" name="Google Shape;176;g202c77a19e3_0_121"/>
          <p:cNvSpPr txBox="1"/>
          <p:nvPr/>
        </p:nvSpPr>
        <p:spPr>
          <a:xfrm>
            <a:off x="319450" y="1747250"/>
            <a:ext cx="79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Borrado de elementos de la lista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77" name="Google Shape;177;g202c77a19e3_0_121"/>
          <p:cNvSpPr txBox="1"/>
          <p:nvPr/>
        </p:nvSpPr>
        <p:spPr>
          <a:xfrm>
            <a:off x="319450" y="2503300"/>
            <a:ext cx="881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Pueden eliminar elementos de la lista utilizando la palabra clave del o el método remove(). Por ejemplo: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02c77a19e3_0_131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Listas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83" name="Google Shape;183;g202c77a19e3_0_131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202c77a19e3_0_131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85" name="Google Shape;185;g202c77a19e3_0_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202c77a19e3_0_131"/>
          <p:cNvSpPr txBox="1"/>
          <p:nvPr/>
        </p:nvSpPr>
        <p:spPr>
          <a:xfrm>
            <a:off x="319450" y="1747250"/>
            <a:ext cx="79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Operaciones comunes con listas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87" name="Google Shape;187;g202c77a19e3_0_131"/>
          <p:cNvSpPr txBox="1"/>
          <p:nvPr/>
        </p:nvSpPr>
        <p:spPr>
          <a:xfrm>
            <a:off x="319450" y="2503300"/>
            <a:ext cx="8812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Para agregar elementos al final de la lista, utiliza el método append().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Para extender una lista con los elementos de otra lista, utiliza el método extend() o el operador +.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Para encontrar la longitud de la lista, utiliza la función len().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Para buscar un elemento en la lista, utiliza el operador in.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02c77a19e3_0_141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Listas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93" name="Google Shape;193;g202c77a19e3_0_141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202c77a19e3_0_141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95" name="Google Shape;195;g202c77a19e3_0_1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202c77a19e3_0_141"/>
          <p:cNvSpPr txBox="1"/>
          <p:nvPr/>
        </p:nvSpPr>
        <p:spPr>
          <a:xfrm>
            <a:off x="319450" y="1747250"/>
            <a:ext cx="79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Operaciones comunes con listas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97" name="Google Shape;197;g202c77a19e3_0_141"/>
          <p:cNvSpPr txBox="1"/>
          <p:nvPr/>
        </p:nvSpPr>
        <p:spPr>
          <a:xfrm>
            <a:off x="1516900" y="2426475"/>
            <a:ext cx="8189100" cy="3879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frutas = ["manzana", "banana"]</a:t>
            </a:r>
            <a:endParaRPr sz="20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frutas.append("cereza")</a:t>
            </a:r>
            <a:endParaRPr sz="20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print(frutas)  # Imprime: ["manzana", "banana", "cereza"]</a:t>
            </a:r>
            <a:endParaRPr sz="20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0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otras_frutas = ["naranja", "uva"]</a:t>
            </a:r>
            <a:endParaRPr sz="20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frutas.extend(otras_frutas)</a:t>
            </a:r>
            <a:endParaRPr sz="20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print(frutas)  # Imprime: ["manzana", "banana", "cereza", "naranja", "uva"]</a:t>
            </a:r>
            <a:endParaRPr sz="20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0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print(len(frutas))  # Imprime: 5</a:t>
            </a:r>
            <a:endParaRPr sz="20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0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print("manzana" in frutas)  # Imprime: True</a:t>
            </a:r>
            <a:endParaRPr sz="2000"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02c77a19e3_0_160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Listas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03" name="Google Shape;203;g202c77a19e3_0_160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202c77a19e3_0_160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05" name="Google Shape;205;g202c77a19e3_0_1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202c77a19e3_0_160"/>
          <p:cNvSpPr txBox="1"/>
          <p:nvPr/>
        </p:nvSpPr>
        <p:spPr>
          <a:xfrm>
            <a:off x="1992250" y="3038775"/>
            <a:ext cx="7238400" cy="1200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numeros = [3, 1, 4, 1, 5, 9, 2]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numeros.sort()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print(numeros)  # Imprime: [1, 1, 2, 3, 4, 5, 9]</a:t>
            </a:r>
            <a:endParaRPr sz="22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07" name="Google Shape;207;g202c77a19e3_0_160"/>
          <p:cNvSpPr txBox="1"/>
          <p:nvPr/>
        </p:nvSpPr>
        <p:spPr>
          <a:xfrm>
            <a:off x="319450" y="1747250"/>
            <a:ext cx="79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Ordenamiento de listas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08" name="Google Shape;208;g202c77a19e3_0_160"/>
          <p:cNvSpPr txBox="1"/>
          <p:nvPr/>
        </p:nvSpPr>
        <p:spPr>
          <a:xfrm>
            <a:off x="319450" y="2400613"/>
            <a:ext cx="88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Pueden ordenar una lista utilizando el método sort().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09" name="Google Shape;209;g202c77a19e3_0_160"/>
          <p:cNvSpPr txBox="1"/>
          <p:nvPr/>
        </p:nvSpPr>
        <p:spPr>
          <a:xfrm>
            <a:off x="319450" y="4316513"/>
            <a:ext cx="88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Pueden ordenar una lista utilizando el método sort().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10" name="Google Shape;210;g202c77a19e3_0_160"/>
          <p:cNvSpPr txBox="1"/>
          <p:nvPr/>
        </p:nvSpPr>
        <p:spPr>
          <a:xfrm>
            <a:off x="1992250" y="4957913"/>
            <a:ext cx="7238400" cy="861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numeros.sort(reverse=True)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print(numeros)  # Imprime: [9, 5, 4, 3, 2, 1, 1]</a:t>
            </a:r>
            <a:endParaRPr sz="2200"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02c77a19e3_0_175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Listas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16" name="Google Shape;216;g202c77a19e3_0_175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202c77a19e3_0_175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18" name="Google Shape;218;g202c77a19e3_0_1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202c77a19e3_0_175"/>
          <p:cNvSpPr txBox="1"/>
          <p:nvPr/>
        </p:nvSpPr>
        <p:spPr>
          <a:xfrm>
            <a:off x="1992250" y="3306925"/>
            <a:ext cx="7238400" cy="1200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frutas = ["manzana", "banana", "cereza"]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indice = frutas.index("banana")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print(indice)  # Imprime: 1</a:t>
            </a:r>
            <a:endParaRPr sz="22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20" name="Google Shape;220;g202c77a19e3_0_175"/>
          <p:cNvSpPr txBox="1"/>
          <p:nvPr/>
        </p:nvSpPr>
        <p:spPr>
          <a:xfrm>
            <a:off x="319450" y="1747250"/>
            <a:ext cx="79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Obtener el índice de un elemento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21" name="Google Shape;221;g202c77a19e3_0_175"/>
          <p:cNvSpPr txBox="1"/>
          <p:nvPr/>
        </p:nvSpPr>
        <p:spPr>
          <a:xfrm>
            <a:off x="319450" y="2400613"/>
            <a:ext cx="881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Pueden obtener el índice de un elemento en la lista utilizando el método index(). Por ejemplo: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02c77a19e3_0_188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Listas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27" name="Google Shape;227;g202c77a19e3_0_188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202c77a19e3_0_188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29" name="Google Shape;229;g202c77a19e3_0_1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202c77a19e3_0_188"/>
          <p:cNvSpPr txBox="1"/>
          <p:nvPr/>
        </p:nvSpPr>
        <p:spPr>
          <a:xfrm>
            <a:off x="3090850" y="3368800"/>
            <a:ext cx="5041200" cy="1200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numeros = [1, 2, 3, 4, 1, 2, 3, 1]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conteo = numeros.count(1)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print(conteo)  # Imprime: 3</a:t>
            </a:r>
            <a:endParaRPr sz="22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31" name="Google Shape;231;g202c77a19e3_0_188"/>
          <p:cNvSpPr txBox="1"/>
          <p:nvPr/>
        </p:nvSpPr>
        <p:spPr>
          <a:xfrm>
            <a:off x="319450" y="1747250"/>
            <a:ext cx="79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Contar ocurrencias de un elemento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32" name="Google Shape;232;g202c77a19e3_0_188"/>
          <p:cNvSpPr txBox="1"/>
          <p:nvPr/>
        </p:nvSpPr>
        <p:spPr>
          <a:xfrm>
            <a:off x="319450" y="2400613"/>
            <a:ext cx="881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Pueden contar cuántas veces aparece un elemento en la lista utilizando el método count().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02c77a19e3_0_199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Listas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38" name="Google Shape;238;g202c77a19e3_0_199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202c77a19e3_0_199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40" name="Google Shape;240;g202c77a19e3_0_1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202c77a19e3_0_199"/>
          <p:cNvSpPr txBox="1"/>
          <p:nvPr/>
        </p:nvSpPr>
        <p:spPr>
          <a:xfrm>
            <a:off x="1811050" y="3234775"/>
            <a:ext cx="7600800" cy="1200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frutas = ["manzana", "banana", "cereza"]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frutas.reverse()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print(frutas)  # Imprime: ["cereza", "banana", "manzana"]</a:t>
            </a:r>
            <a:endParaRPr sz="22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42" name="Google Shape;242;g202c77a19e3_0_199"/>
          <p:cNvSpPr txBox="1"/>
          <p:nvPr/>
        </p:nvSpPr>
        <p:spPr>
          <a:xfrm>
            <a:off x="319450" y="1747250"/>
            <a:ext cx="79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Reversión de una lista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43" name="Google Shape;243;g202c77a19e3_0_199"/>
          <p:cNvSpPr txBox="1"/>
          <p:nvPr/>
        </p:nvSpPr>
        <p:spPr>
          <a:xfrm>
            <a:off x="319450" y="2400613"/>
            <a:ext cx="88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Pueden revertir el orden de una lista utilizando el método reverse(). Por ejemplo: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02c77a19e3_0_209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Listas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49" name="Google Shape;249;g202c77a19e3_0_209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202c77a19e3_0_209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51" name="Google Shape;251;g202c77a19e3_0_2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202c77a19e3_0_209"/>
          <p:cNvSpPr txBox="1"/>
          <p:nvPr/>
        </p:nvSpPr>
        <p:spPr>
          <a:xfrm>
            <a:off x="2593000" y="3121325"/>
            <a:ext cx="6036900" cy="1200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frutas = ["manzana", "banana", "cereza"]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frutas.clear()</a:t>
            </a:r>
            <a:endParaRPr sz="22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AR" sz="2200">
                <a:latin typeface="Saira"/>
                <a:ea typeface="Saira"/>
                <a:cs typeface="Saira"/>
                <a:sym typeface="Saira"/>
              </a:rPr>
              <a:t>print(frutas)  # Imprime: []</a:t>
            </a:r>
            <a:endParaRPr sz="22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53" name="Google Shape;253;g202c77a19e3_0_209"/>
          <p:cNvSpPr txBox="1"/>
          <p:nvPr/>
        </p:nvSpPr>
        <p:spPr>
          <a:xfrm>
            <a:off x="319450" y="1747250"/>
            <a:ext cx="939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Eliminación de todos los elementos de la lista: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54" name="Google Shape;254;g202c77a19e3_0_209"/>
          <p:cNvSpPr txBox="1"/>
          <p:nvPr/>
        </p:nvSpPr>
        <p:spPr>
          <a:xfrm>
            <a:off x="319450" y="2400613"/>
            <a:ext cx="88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Pueden eliminar todos los elementos de una lista utilizando el método clear(). 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02c77a19e3_0_12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Condicionales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60" name="Google Shape;260;g202c77a19e3_0_12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202c77a19e3_0_12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62" name="Google Shape;262;g202c77a19e3_0_12"/>
          <p:cNvSpPr txBox="1"/>
          <p:nvPr/>
        </p:nvSpPr>
        <p:spPr>
          <a:xfrm>
            <a:off x="490000" y="2411875"/>
            <a:ext cx="881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Los condicionales en Python son herramientas que te permiten controlar el flujo de ejecución de tu programa. Son bifurcaciones en el desarrollo del programa:</a:t>
            </a:r>
            <a:endParaRPr b="0" i="0" sz="20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63" name="Google Shape;263;g202c77a19e3_0_12"/>
          <p:cNvSpPr txBox="1"/>
          <p:nvPr/>
        </p:nvSpPr>
        <p:spPr>
          <a:xfrm>
            <a:off x="319450" y="17472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¿ </a:t>
            </a: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Qué son</a:t>
            </a: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?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64" name="Google Shape;264;g202c77a19e3_0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202c77a19e3_0_12"/>
          <p:cNvSpPr txBox="1"/>
          <p:nvPr/>
        </p:nvSpPr>
        <p:spPr>
          <a:xfrm>
            <a:off x="2821900" y="3304200"/>
            <a:ext cx="5579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edad = 20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if edad &gt;= 18: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    print("Eres mayor de edad.")</a:t>
            </a:r>
            <a:endParaRPr sz="2400"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02c77a19e3_0_23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Condicionales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71" name="Google Shape;271;g202c77a19e3_0_23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202c77a19e3_0_23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73" name="Google Shape;273;g202c77a19e3_0_23"/>
          <p:cNvSpPr txBox="1"/>
          <p:nvPr/>
        </p:nvSpPr>
        <p:spPr>
          <a:xfrm>
            <a:off x="490000" y="2020775"/>
            <a:ext cx="881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A menudo, también queremos ejecutar un bloque de código si la condición no es verdadera. Para eso, usamos el "else". </a:t>
            </a:r>
            <a:endParaRPr b="0" i="0" sz="20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74" name="Google Shape;274;g202c77a19e3_0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202c77a19e3_0_23"/>
          <p:cNvSpPr txBox="1"/>
          <p:nvPr/>
        </p:nvSpPr>
        <p:spPr>
          <a:xfrm>
            <a:off x="2821900" y="3314525"/>
            <a:ext cx="5579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if edad &gt;= 18: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    print("Eres mayor de edad.")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else: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    print("Eres menor de edad.")</a:t>
            </a:r>
            <a:endParaRPr sz="2400"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02c77a19e3_0_34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Condicionales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81" name="Google Shape;281;g202c77a19e3_0_34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202c77a19e3_0_34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83" name="Google Shape;283;g202c77a19e3_0_34"/>
          <p:cNvSpPr txBox="1"/>
          <p:nvPr/>
        </p:nvSpPr>
        <p:spPr>
          <a:xfrm>
            <a:off x="490000" y="2020775"/>
            <a:ext cx="881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A veces, también queremos verificar múltiples condiciones. Para eso, usamos el "elif" (abreviatura de "else if").</a:t>
            </a:r>
            <a:endParaRPr b="0" i="0" sz="20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84" name="Google Shape;284;g202c77a19e3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g202c77a19e3_0_34"/>
          <p:cNvSpPr txBox="1"/>
          <p:nvPr/>
        </p:nvSpPr>
        <p:spPr>
          <a:xfrm>
            <a:off x="2821900" y="3051325"/>
            <a:ext cx="5579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if edad &lt; 18: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    print("Eres menor de edad.")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elif edad == 18: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    print("Tienes exactamente 18 años.")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else: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    print("Eres mayor de edad.")</a:t>
            </a:r>
            <a:endParaRPr sz="2400"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02c77a19e3_0_43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Condicionales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91" name="Google Shape;291;g202c77a19e3_0_43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202c77a19e3_0_43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93" name="Google Shape;293;g202c77a19e3_0_43"/>
          <p:cNvSpPr txBox="1"/>
          <p:nvPr/>
        </p:nvSpPr>
        <p:spPr>
          <a:xfrm>
            <a:off x="490000" y="2020775"/>
            <a:ext cx="881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Finalmente, Python también nos permite combinar condiciones utilizando los operadores lógicos "and", "or" y "not". Por ejemplo:</a:t>
            </a:r>
            <a:endParaRPr b="0" i="0" sz="20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94" name="Google Shape;294;g202c77a19e3_0_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202c77a19e3_0_43"/>
          <p:cNvSpPr txBox="1"/>
          <p:nvPr/>
        </p:nvSpPr>
        <p:spPr>
          <a:xfrm>
            <a:off x="2821900" y="3051325"/>
            <a:ext cx="5579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temperatura = 25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llueve = True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if temperatura &gt; 20 and not llueve: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    print("Es un buen día para salir.")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elif temperatura &lt;= 20 or llueve: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    print("Mejor quedarse en casa.")</a:t>
            </a:r>
            <a:endParaRPr sz="2400"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02c77a19e3_0_52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Condicionales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01" name="Google Shape;301;g202c77a19e3_0_52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202c77a19e3_0_52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03" name="Google Shape;303;g202c77a19e3_0_52"/>
          <p:cNvSpPr txBox="1"/>
          <p:nvPr/>
        </p:nvSpPr>
        <p:spPr>
          <a:xfrm>
            <a:off x="490000" y="2020775"/>
            <a:ext cx="8812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26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Cuestiones a tener en cuenta:</a:t>
            </a:r>
            <a:endParaRPr b="0" i="0" sz="26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04" name="Google Shape;304;g202c77a19e3_0_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202c77a19e3_0_52"/>
          <p:cNvSpPr txBox="1"/>
          <p:nvPr/>
        </p:nvSpPr>
        <p:spPr>
          <a:xfrm>
            <a:off x="451900" y="2805025"/>
            <a:ext cx="10319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Lo que NO se permite es que en un mismo bloque haya instrucciones con distintos indentados. Dependiendo del orden de los indentado, el</a:t>
            </a:r>
            <a:endParaRPr sz="1800"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mensaje de error al intentar ejecutar el programa será diferente.</a:t>
            </a:r>
            <a:endParaRPr sz="1800"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Si necesitamos no hacer nada dentro de un if podemos utilizar la palabra “pass”</a:t>
            </a:r>
            <a:endParaRPr sz="1800"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06" name="Google Shape;306;g202c77a19e3_0_52"/>
          <p:cNvSpPr txBox="1"/>
          <p:nvPr/>
        </p:nvSpPr>
        <p:spPr>
          <a:xfrm>
            <a:off x="3915100" y="4574175"/>
            <a:ext cx="3392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llueve = True</a:t>
            </a:r>
            <a:endParaRPr sz="24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if temperatura &gt; 20:</a:t>
            </a:r>
            <a:endParaRPr sz="24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	pass</a:t>
            </a:r>
            <a:endParaRPr sz="24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g1f3006538ad_0_205"/>
          <p:cNvPicPr preferRelativeResize="0"/>
          <p:nvPr/>
        </p:nvPicPr>
        <p:blipFill rotWithShape="1">
          <a:blip r:embed="rId3">
            <a:alphaModFix/>
          </a:blip>
          <a:srcRect b="30673" l="23551" r="22738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1f3006538ad_0_205"/>
          <p:cNvSpPr txBox="1"/>
          <p:nvPr>
            <p:ph idx="11" type="ftr"/>
          </p:nvPr>
        </p:nvSpPr>
        <p:spPr>
          <a:xfrm>
            <a:off x="2846238" y="2374225"/>
            <a:ext cx="6499500" cy="10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Próxima unidad: Ciclos y objetos.</a:t>
            </a:r>
            <a:endParaRPr sz="2000"/>
          </a:p>
        </p:txBody>
      </p:sp>
      <p:sp>
        <p:nvSpPr>
          <p:cNvPr id="313" name="Google Shape;313;g1f3006538ad_0_205"/>
          <p:cNvSpPr txBox="1"/>
          <p:nvPr>
            <p:ph idx="10" type="dt"/>
          </p:nvPr>
        </p:nvSpPr>
        <p:spPr>
          <a:xfrm>
            <a:off x="4439400" y="63133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14" name="Google Shape;314;g1f3006538ad_0_2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4432" y="3311318"/>
            <a:ext cx="2263150" cy="229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2023-03-07T21:33:27Z</dcterms:created>
  <dc:creator>Carlos Sebastián Pedraza</dc:creator>
</cp:coreProperties>
</file>