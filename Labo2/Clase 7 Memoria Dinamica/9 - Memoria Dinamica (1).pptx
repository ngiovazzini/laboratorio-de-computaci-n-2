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embeddedFontLst>
    <p:embeddedFont>
      <p:font typeface="Roboto"/>
      <p:regular r:id="rId19"/>
      <p:bold r:id="rId20"/>
      <p:italic r:id="rId21"/>
      <p:boldItalic r:id="rId22"/>
    </p:embeddedFont>
    <p:embeddedFont>
      <p:font typeface="Saira"/>
      <p:regular r:id="rId23"/>
      <p:bold r:id="rId24"/>
      <p:italic r:id="rId25"/>
      <p:boldItalic r:id="rId26"/>
    </p:embeddedFont>
    <p:embeddedFont>
      <p:font typeface="Saira Light"/>
      <p:regular r:id="rId27"/>
      <p:bold r:id="rId28"/>
      <p:italic r:id="rId29"/>
      <p:boldItalic r:id="rId30"/>
    </p:embeddedFont>
    <p:embeddedFont>
      <p:font typeface="Saira SemiBold"/>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jL9PDo3ukHaYzGYN4SSg9Fz971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Saira-bold.fntdata"/><Relationship Id="rId23" Type="http://schemas.openxmlformats.org/officeDocument/2006/relationships/font" Target="fonts/Saira-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Saira-boldItalic.fntdata"/><Relationship Id="rId25" Type="http://schemas.openxmlformats.org/officeDocument/2006/relationships/font" Target="fonts/Saira-italic.fntdata"/><Relationship Id="rId28" Type="http://schemas.openxmlformats.org/officeDocument/2006/relationships/font" Target="fonts/SairaLight-bold.fntdata"/><Relationship Id="rId27" Type="http://schemas.openxmlformats.org/officeDocument/2006/relationships/font" Target="fonts/SairaLight-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SairaLight-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SairaSemiBold-regular.fntdata"/><Relationship Id="rId30" Type="http://schemas.openxmlformats.org/officeDocument/2006/relationships/font" Target="fonts/SairaLight-boldItalic.fntdata"/><Relationship Id="rId11" Type="http://schemas.openxmlformats.org/officeDocument/2006/relationships/slide" Target="slides/slide7.xml"/><Relationship Id="rId33" Type="http://schemas.openxmlformats.org/officeDocument/2006/relationships/font" Target="fonts/SairaSemiBold-italic.fntdata"/><Relationship Id="rId10" Type="http://schemas.openxmlformats.org/officeDocument/2006/relationships/slide" Target="slides/slide6.xml"/><Relationship Id="rId32" Type="http://schemas.openxmlformats.org/officeDocument/2006/relationships/font" Target="fonts/SairaSemiBold-bold.fntdata"/><Relationship Id="rId13" Type="http://schemas.openxmlformats.org/officeDocument/2006/relationships/slide" Target="slides/slide9.xml"/><Relationship Id="rId35" Type="http://customschemas.google.com/relationships/presentationmetadata" Target="metadata"/><Relationship Id="rId12" Type="http://schemas.openxmlformats.org/officeDocument/2006/relationships/slide" Target="slides/slide8.xml"/><Relationship Id="rId34" Type="http://schemas.openxmlformats.org/officeDocument/2006/relationships/font" Target="fonts/SairaSemiBold-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Roboto-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f2ce82f4ef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g1f2ce82f4ef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f54769c84a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g1f54769c84a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f54769c84a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g1f54769c84a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f55550cd8a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g1f55550cd8a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f55550cd8a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g1f55550cd8a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f55550cd8a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g1f55550cd8a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f55550cd8a_0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g1f55550cd8a_0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f55550cd8a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g1f55550cd8a_0_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f55550cd8a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g1f55550cd8a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f55550cd8a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g1f55550cd8a_0_1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f55550cd8a_0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g1f55550cd8a_0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c1d2f75a92_0_3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g2c1d2f75a92_0_3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f3006538ad_0_2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g1f3006538ad_0_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5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6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6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6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6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6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5"/>
          <p:cNvSpPr/>
          <p:nvPr>
            <p:ph idx="2" type="pic"/>
          </p:nvPr>
        </p:nvSpPr>
        <p:spPr>
          <a:xfrm>
            <a:off x="5183188" y="987425"/>
            <a:ext cx="6172200" cy="4873625"/>
          </a:xfrm>
          <a:prstGeom prst="rect">
            <a:avLst/>
          </a:prstGeom>
          <a:noFill/>
          <a:ln>
            <a:noFill/>
          </a:ln>
        </p:spPr>
      </p:sp>
      <p:sp>
        <p:nvSpPr>
          <p:cNvPr id="64" name="Google Shape;64;p6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6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5.jp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jpg"/><Relationship Id="rId4"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jpg"/><Relationship Id="rId4"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252814" y="1014596"/>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b="0" i="0" lang="es-AR" sz="4200" u="none" cap="none" strike="noStrike">
                <a:solidFill>
                  <a:schemeClr val="dk1"/>
                </a:solidFill>
                <a:latin typeface="Saira"/>
                <a:ea typeface="Saira"/>
                <a:cs typeface="Saira"/>
                <a:sym typeface="Saira"/>
              </a:rPr>
              <a:t>Laboratorio de computación II</a:t>
            </a:r>
            <a:endParaRPr b="0" i="0" sz="5400" u="none" cap="none" strike="noStrike">
              <a:solidFill>
                <a:schemeClr val="dk1"/>
              </a:solidFill>
              <a:latin typeface="Saira"/>
              <a:ea typeface="Saira"/>
              <a:cs typeface="Saira"/>
              <a:sym typeface="Saira"/>
            </a:endParaRPr>
          </a:p>
        </p:txBody>
      </p:sp>
      <p:pic>
        <p:nvPicPr>
          <p:cNvPr id="85" name="Google Shape;85;p1"/>
          <p:cNvPicPr preferRelativeResize="0"/>
          <p:nvPr/>
        </p:nvPicPr>
        <p:blipFill rotWithShape="1">
          <a:blip r:embed="rId3">
            <a:alphaModFix/>
          </a:blip>
          <a:srcRect b="30673" l="23551" r="22738" t="29909"/>
          <a:stretch/>
        </p:blipFill>
        <p:spPr>
          <a:xfrm>
            <a:off x="8791460" y="390327"/>
            <a:ext cx="2959466" cy="1085934"/>
          </a:xfrm>
          <a:prstGeom prst="rect">
            <a:avLst/>
          </a:prstGeom>
          <a:noFill/>
          <a:ln>
            <a:noFill/>
          </a:ln>
        </p:spPr>
      </p:pic>
      <p:sp>
        <p:nvSpPr>
          <p:cNvPr id="86" name="Google Shape;86;p1"/>
          <p:cNvSpPr txBox="1"/>
          <p:nvPr/>
        </p:nvSpPr>
        <p:spPr>
          <a:xfrm>
            <a:off x="3354150" y="2262000"/>
            <a:ext cx="54837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AR" sz="2800" u="none" cap="none" strike="noStrike">
                <a:solidFill>
                  <a:schemeClr val="dk1"/>
                </a:solidFill>
                <a:latin typeface="Saira"/>
                <a:ea typeface="Saira"/>
                <a:cs typeface="Saira"/>
                <a:sym typeface="Saira"/>
              </a:rPr>
              <a:t>Unidad </a:t>
            </a:r>
            <a:r>
              <a:rPr lang="es-AR" sz="2800">
                <a:solidFill>
                  <a:schemeClr val="dk1"/>
                </a:solidFill>
                <a:latin typeface="Saira"/>
                <a:ea typeface="Saira"/>
                <a:cs typeface="Saira"/>
                <a:sym typeface="Saira"/>
              </a:rPr>
              <a:t>9</a:t>
            </a:r>
            <a:r>
              <a:rPr b="0" i="0" lang="es-AR" sz="2800" u="none" cap="none" strike="noStrike">
                <a:solidFill>
                  <a:schemeClr val="dk1"/>
                </a:solidFill>
                <a:latin typeface="Saira"/>
                <a:ea typeface="Saira"/>
                <a:cs typeface="Saira"/>
                <a:sym typeface="Saira"/>
              </a:rPr>
              <a:t> - </a:t>
            </a:r>
            <a:r>
              <a:rPr lang="es-AR" sz="2800">
                <a:solidFill>
                  <a:schemeClr val="dk1"/>
                </a:solidFill>
                <a:latin typeface="Saira"/>
                <a:ea typeface="Saira"/>
                <a:cs typeface="Saira"/>
                <a:sym typeface="Saira"/>
              </a:rPr>
              <a:t>Memoria </a:t>
            </a:r>
            <a:r>
              <a:rPr lang="es-AR" sz="2800">
                <a:solidFill>
                  <a:schemeClr val="dk1"/>
                </a:solidFill>
                <a:latin typeface="Saira"/>
                <a:ea typeface="Saira"/>
                <a:cs typeface="Saira"/>
                <a:sym typeface="Saira"/>
              </a:rPr>
              <a:t>dinámica</a:t>
            </a:r>
            <a:r>
              <a:rPr lang="es-AR" sz="2800">
                <a:solidFill>
                  <a:schemeClr val="dk1"/>
                </a:solidFill>
                <a:latin typeface="Saira"/>
                <a:ea typeface="Saira"/>
                <a:cs typeface="Saira"/>
                <a:sym typeface="Saira"/>
              </a:rPr>
              <a:t> </a:t>
            </a:r>
            <a:endParaRPr b="0" i="0" sz="2800" u="none" cap="none" strike="noStrike">
              <a:solidFill>
                <a:schemeClr val="dk1"/>
              </a:solidFill>
              <a:latin typeface="Saira"/>
              <a:ea typeface="Saira"/>
              <a:cs typeface="Saira"/>
              <a:sym typeface="Saira"/>
            </a:endParaRPr>
          </a:p>
        </p:txBody>
      </p:sp>
      <p:sp>
        <p:nvSpPr>
          <p:cNvPr id="87" name="Google Shape;87;p1"/>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Calibri"/>
              <a:ea typeface="Calibri"/>
              <a:cs typeface="Calibri"/>
              <a:sym typeface="Calibri"/>
            </a:endParaRPr>
          </a:p>
        </p:txBody>
      </p:sp>
      <p:pic>
        <p:nvPicPr>
          <p:cNvPr id="88" name="Google Shape;88;p1"/>
          <p:cNvPicPr preferRelativeResize="0"/>
          <p:nvPr/>
        </p:nvPicPr>
        <p:blipFill rotWithShape="1">
          <a:blip r:embed="rId4">
            <a:alphaModFix/>
          </a:blip>
          <a:srcRect b="0" l="27394" r="27820" t="0"/>
          <a:stretch/>
        </p:blipFill>
        <p:spPr>
          <a:xfrm>
            <a:off x="11036475" y="5617400"/>
            <a:ext cx="877574" cy="1085925"/>
          </a:xfrm>
          <a:prstGeom prst="rect">
            <a:avLst/>
          </a:prstGeom>
          <a:noFill/>
          <a:ln>
            <a:noFill/>
          </a:ln>
        </p:spPr>
      </p:pic>
      <p:pic>
        <p:nvPicPr>
          <p:cNvPr id="89" name="Google Shape;89;p1"/>
          <p:cNvPicPr preferRelativeResize="0"/>
          <p:nvPr/>
        </p:nvPicPr>
        <p:blipFill>
          <a:blip r:embed="rId5">
            <a:alphaModFix/>
          </a:blip>
          <a:stretch>
            <a:fillRect/>
          </a:stretch>
        </p:blipFill>
        <p:spPr>
          <a:xfrm>
            <a:off x="3256638" y="2968550"/>
            <a:ext cx="5678715" cy="2762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1f2ce82f4ef_0_5"/>
          <p:cNvSpPr txBox="1"/>
          <p:nvPr/>
        </p:nvSpPr>
        <p:spPr>
          <a:xfrm>
            <a:off x="319439" y="990221"/>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b="0" i="0" lang="es-AR" sz="3600" u="none" cap="none" strike="noStrike">
                <a:solidFill>
                  <a:schemeClr val="dk1"/>
                </a:solidFill>
                <a:latin typeface="Saira"/>
                <a:ea typeface="Saira"/>
                <a:cs typeface="Saira"/>
                <a:sym typeface="Saira"/>
              </a:rPr>
              <a:t>¿</a:t>
            </a:r>
            <a:r>
              <a:rPr lang="es-AR" sz="3600">
                <a:solidFill>
                  <a:schemeClr val="dk1"/>
                </a:solidFill>
                <a:latin typeface="Saira"/>
                <a:ea typeface="Saira"/>
                <a:cs typeface="Saira"/>
                <a:sym typeface="Saira"/>
              </a:rPr>
              <a:t>Qué es la memoria dinámica en C?</a:t>
            </a:r>
            <a:endParaRPr b="0" i="0" sz="3600" u="none" cap="none" strike="noStrike">
              <a:solidFill>
                <a:schemeClr val="dk1"/>
              </a:solidFill>
              <a:latin typeface="Saira"/>
              <a:ea typeface="Saira"/>
              <a:cs typeface="Saira"/>
              <a:sym typeface="Saira"/>
            </a:endParaRPr>
          </a:p>
        </p:txBody>
      </p:sp>
      <p:pic>
        <p:nvPicPr>
          <p:cNvPr id="95" name="Google Shape;95;g1f2ce82f4ef_0_5"/>
          <p:cNvPicPr preferRelativeResize="0"/>
          <p:nvPr/>
        </p:nvPicPr>
        <p:blipFill rotWithShape="1">
          <a:blip r:embed="rId3">
            <a:alphaModFix/>
          </a:blip>
          <a:srcRect b="30673" l="23551" r="22738" t="29909"/>
          <a:stretch/>
        </p:blipFill>
        <p:spPr>
          <a:xfrm>
            <a:off x="8791460" y="390327"/>
            <a:ext cx="2959467" cy="1085934"/>
          </a:xfrm>
          <a:prstGeom prst="rect">
            <a:avLst/>
          </a:prstGeom>
          <a:noFill/>
          <a:ln>
            <a:noFill/>
          </a:ln>
        </p:spPr>
      </p:pic>
      <p:sp>
        <p:nvSpPr>
          <p:cNvPr id="96" name="Google Shape;96;g1f2ce82f4ef_0_5"/>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97" name="Google Shape;97;g1f2ce82f4ef_0_5"/>
          <p:cNvPicPr preferRelativeResize="0"/>
          <p:nvPr/>
        </p:nvPicPr>
        <p:blipFill rotWithShape="1">
          <a:blip r:embed="rId4">
            <a:alphaModFix/>
          </a:blip>
          <a:srcRect b="0" l="27394" r="27820" t="0"/>
          <a:stretch/>
        </p:blipFill>
        <p:spPr>
          <a:xfrm>
            <a:off x="11036475" y="5617400"/>
            <a:ext cx="877574" cy="1085925"/>
          </a:xfrm>
          <a:prstGeom prst="rect">
            <a:avLst/>
          </a:prstGeom>
          <a:noFill/>
          <a:ln>
            <a:noFill/>
          </a:ln>
        </p:spPr>
      </p:pic>
      <p:sp>
        <p:nvSpPr>
          <p:cNvPr id="98" name="Google Shape;98;g1f2ce82f4ef_0_5"/>
          <p:cNvSpPr txBox="1"/>
          <p:nvPr/>
        </p:nvSpPr>
        <p:spPr>
          <a:xfrm>
            <a:off x="569900" y="2243938"/>
            <a:ext cx="9938400" cy="1954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2300">
                <a:solidFill>
                  <a:schemeClr val="dk1"/>
                </a:solidFill>
                <a:latin typeface="Saira Light"/>
                <a:ea typeface="Saira Light"/>
                <a:cs typeface="Saira Light"/>
                <a:sym typeface="Saira Light"/>
              </a:rPr>
              <a:t>La memoria dinámica en C se refiere a la capacidad de asignar y liberar memoria durante la ejecución de un programa. A diferencia de la memoria estática, cuyo tamaño se determina en tiempo de compilación, la memoria dinámica te permite asignar y liberar memoria según sea necesario durante la ejecución del programa.</a:t>
            </a:r>
            <a:endParaRPr i="0" sz="2300" u="none" cap="none" strike="noStrike">
              <a:solidFill>
                <a:schemeClr val="dk1"/>
              </a:solidFill>
              <a:latin typeface="Saira Light"/>
              <a:ea typeface="Saira Light"/>
              <a:cs typeface="Saira Light"/>
              <a:sym typeface="Saira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1f54769c84a_0_8"/>
          <p:cNvSpPr txBox="1"/>
          <p:nvPr/>
        </p:nvSpPr>
        <p:spPr>
          <a:xfrm>
            <a:off x="319439" y="990221"/>
            <a:ext cx="84720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 Por qué es importante la memoria dinámica?</a:t>
            </a:r>
            <a:endParaRPr b="0" i="0" sz="3600" u="none" cap="none" strike="noStrike">
              <a:solidFill>
                <a:schemeClr val="dk1"/>
              </a:solidFill>
              <a:latin typeface="Saira"/>
              <a:ea typeface="Saira"/>
              <a:cs typeface="Saira"/>
              <a:sym typeface="Saira"/>
            </a:endParaRPr>
          </a:p>
        </p:txBody>
      </p:sp>
      <p:pic>
        <p:nvPicPr>
          <p:cNvPr id="104" name="Google Shape;104;g1f54769c84a_0_8"/>
          <p:cNvPicPr preferRelativeResize="0"/>
          <p:nvPr/>
        </p:nvPicPr>
        <p:blipFill rotWithShape="1">
          <a:blip r:embed="rId3">
            <a:alphaModFix/>
          </a:blip>
          <a:srcRect b="30671" l="23552" r="22735" t="29910"/>
          <a:stretch/>
        </p:blipFill>
        <p:spPr>
          <a:xfrm>
            <a:off x="8791460" y="390327"/>
            <a:ext cx="2959467" cy="1085934"/>
          </a:xfrm>
          <a:prstGeom prst="rect">
            <a:avLst/>
          </a:prstGeom>
          <a:noFill/>
          <a:ln>
            <a:noFill/>
          </a:ln>
        </p:spPr>
      </p:pic>
      <p:sp>
        <p:nvSpPr>
          <p:cNvPr id="105" name="Google Shape;105;g1f54769c84a_0_8"/>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06" name="Google Shape;106;g1f54769c84a_0_8"/>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07" name="Google Shape;107;g1f54769c84a_0_8"/>
          <p:cNvSpPr txBox="1"/>
          <p:nvPr/>
        </p:nvSpPr>
        <p:spPr>
          <a:xfrm>
            <a:off x="497725" y="2635813"/>
            <a:ext cx="9938400" cy="1954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2300">
                <a:solidFill>
                  <a:schemeClr val="dk1"/>
                </a:solidFill>
                <a:latin typeface="Saira Light"/>
                <a:ea typeface="Saira Light"/>
                <a:cs typeface="Saira Light"/>
                <a:sym typeface="Saira Light"/>
              </a:rPr>
              <a:t>La memoria dinámica es útil cuando no conoces la cantidad exacta de memoria que necesitarás antes de que se ejecute el programa, o cuando la cantidad de memoria necesaria puede cambiar durante la ejecución del programa. También es útil para evitar el desperdicio de memoria, ya que solo asignas la cantidad necesaria cuando la necesitas.</a:t>
            </a:r>
            <a:endParaRPr i="0" sz="2300" u="none" cap="none" strike="noStrike">
              <a:solidFill>
                <a:schemeClr val="dk1"/>
              </a:solidFill>
              <a:latin typeface="Saira Light"/>
              <a:ea typeface="Saira Light"/>
              <a:cs typeface="Saira Light"/>
              <a:sym typeface="Saira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1f54769c84a_0_17"/>
          <p:cNvSpPr txBox="1"/>
          <p:nvPr/>
        </p:nvSpPr>
        <p:spPr>
          <a:xfrm>
            <a:off x="319439" y="990221"/>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Memoria </a:t>
            </a:r>
            <a:r>
              <a:rPr lang="es-AR" sz="3600">
                <a:solidFill>
                  <a:schemeClr val="dk1"/>
                </a:solidFill>
                <a:latin typeface="Saira"/>
                <a:ea typeface="Saira"/>
                <a:cs typeface="Saira"/>
                <a:sym typeface="Saira"/>
              </a:rPr>
              <a:t>Dinámica</a:t>
            </a:r>
            <a:endParaRPr b="0" i="0" sz="3600" u="none" cap="none" strike="noStrike">
              <a:solidFill>
                <a:schemeClr val="dk1"/>
              </a:solidFill>
              <a:latin typeface="Saira"/>
              <a:ea typeface="Saira"/>
              <a:cs typeface="Saira"/>
              <a:sym typeface="Saira"/>
            </a:endParaRPr>
          </a:p>
        </p:txBody>
      </p:sp>
      <p:pic>
        <p:nvPicPr>
          <p:cNvPr id="113" name="Google Shape;113;g1f54769c84a_0_17"/>
          <p:cNvPicPr preferRelativeResize="0"/>
          <p:nvPr/>
        </p:nvPicPr>
        <p:blipFill rotWithShape="1">
          <a:blip r:embed="rId3">
            <a:alphaModFix/>
          </a:blip>
          <a:srcRect b="30671" l="23552" r="22735" t="29910"/>
          <a:stretch/>
        </p:blipFill>
        <p:spPr>
          <a:xfrm>
            <a:off x="8791460" y="390327"/>
            <a:ext cx="2959467" cy="1085934"/>
          </a:xfrm>
          <a:prstGeom prst="rect">
            <a:avLst/>
          </a:prstGeom>
          <a:noFill/>
          <a:ln>
            <a:noFill/>
          </a:ln>
        </p:spPr>
      </p:pic>
      <p:sp>
        <p:nvSpPr>
          <p:cNvPr id="114" name="Google Shape;114;g1f54769c84a_0_17"/>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15" name="Google Shape;115;g1f54769c84a_0_17"/>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16" name="Google Shape;116;g1f54769c84a_0_17"/>
          <p:cNvSpPr txBox="1"/>
          <p:nvPr/>
        </p:nvSpPr>
        <p:spPr>
          <a:xfrm>
            <a:off x="383950" y="1897575"/>
            <a:ext cx="8343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000">
                <a:latin typeface="Saira"/>
                <a:ea typeface="Saira"/>
                <a:cs typeface="Saira"/>
                <a:sym typeface="Saira"/>
              </a:rPr>
              <a:t>Funciones básicas para trabajar con memoria dinámica</a:t>
            </a:r>
            <a:endParaRPr sz="2000">
              <a:latin typeface="Saira"/>
              <a:ea typeface="Saira"/>
              <a:cs typeface="Saira"/>
              <a:sym typeface="Saira"/>
            </a:endParaRPr>
          </a:p>
        </p:txBody>
      </p:sp>
      <p:sp>
        <p:nvSpPr>
          <p:cNvPr id="117" name="Google Shape;117;g1f54769c84a_0_17"/>
          <p:cNvSpPr txBox="1"/>
          <p:nvPr/>
        </p:nvSpPr>
        <p:spPr>
          <a:xfrm>
            <a:off x="144375" y="3011325"/>
            <a:ext cx="10508700" cy="24135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rgbClr val="0D0D0D"/>
              </a:buClr>
              <a:buSzPts val="1200"/>
              <a:buFont typeface="Roboto"/>
              <a:buChar char="●"/>
            </a:pPr>
            <a:r>
              <a:rPr lang="es-AR" sz="1450">
                <a:solidFill>
                  <a:srgbClr val="FF0000"/>
                </a:solidFill>
                <a:highlight>
                  <a:srgbClr val="FFFFFF"/>
                </a:highlight>
                <a:latin typeface="Saira SemiBold"/>
                <a:ea typeface="Saira SemiBold"/>
                <a:cs typeface="Saira SemiBold"/>
                <a:sym typeface="Saira SemiBold"/>
              </a:rPr>
              <a:t>malloc</a:t>
            </a:r>
            <a:r>
              <a:rPr lang="es-AR" sz="1450">
                <a:solidFill>
                  <a:srgbClr val="0D0D0D"/>
                </a:solidFill>
                <a:highlight>
                  <a:srgbClr val="FFFFFF"/>
                </a:highlight>
                <a:latin typeface="Courier New"/>
                <a:ea typeface="Courier New"/>
                <a:cs typeface="Courier New"/>
                <a:sym typeface="Courier New"/>
              </a:rPr>
              <a:t>()</a:t>
            </a:r>
            <a:r>
              <a:rPr lang="es-AR" sz="1600">
                <a:solidFill>
                  <a:srgbClr val="0D0D0D"/>
                </a:solidFill>
                <a:highlight>
                  <a:srgbClr val="FFFFFF"/>
                </a:highlight>
                <a:latin typeface="Roboto"/>
                <a:ea typeface="Roboto"/>
                <a:cs typeface="Roboto"/>
                <a:sym typeface="Roboto"/>
              </a:rPr>
              <a:t>: </a:t>
            </a:r>
            <a:r>
              <a:rPr lang="es-AR" sz="1600">
                <a:solidFill>
                  <a:srgbClr val="0D0D0D"/>
                </a:solidFill>
                <a:highlight>
                  <a:srgbClr val="FFFFFF"/>
                </a:highlight>
                <a:latin typeface="Saira"/>
                <a:ea typeface="Saira"/>
                <a:cs typeface="Saira"/>
                <a:sym typeface="Saira"/>
              </a:rPr>
              <a:t>Esta función se utiliza para asignar un bloque de memoria de un tamaño específico en bytes. Devuelve un puntero al inicio del bloque de memoria asignado.</a:t>
            </a:r>
            <a:endParaRPr sz="1600">
              <a:solidFill>
                <a:srgbClr val="0D0D0D"/>
              </a:solidFill>
              <a:highlight>
                <a:srgbClr val="FFFFFF"/>
              </a:highlight>
              <a:latin typeface="Saira"/>
              <a:ea typeface="Saira"/>
              <a:cs typeface="Saira"/>
              <a:sym typeface="Saira"/>
            </a:endParaRPr>
          </a:p>
          <a:p>
            <a:pPr indent="-304800" lvl="0" marL="457200" rtl="0" algn="l">
              <a:lnSpc>
                <a:spcPct val="115000"/>
              </a:lnSpc>
              <a:spcBef>
                <a:spcPts val="0"/>
              </a:spcBef>
              <a:spcAft>
                <a:spcPts val="0"/>
              </a:spcAft>
              <a:buClr>
                <a:srgbClr val="0D0D0D"/>
              </a:buClr>
              <a:buSzPts val="1200"/>
              <a:buFont typeface="Roboto"/>
              <a:buChar char="●"/>
            </a:pPr>
            <a:r>
              <a:rPr lang="es-AR" sz="1450">
                <a:solidFill>
                  <a:srgbClr val="00B050"/>
                </a:solidFill>
                <a:highlight>
                  <a:srgbClr val="FFFFFF"/>
                </a:highlight>
                <a:latin typeface="Saira SemiBold"/>
                <a:ea typeface="Saira SemiBold"/>
                <a:cs typeface="Saira SemiBold"/>
                <a:sym typeface="Saira SemiBold"/>
              </a:rPr>
              <a:t>calloc</a:t>
            </a:r>
            <a:r>
              <a:rPr lang="es-AR" sz="1450">
                <a:solidFill>
                  <a:srgbClr val="0D0D0D"/>
                </a:solidFill>
                <a:highlight>
                  <a:srgbClr val="FFFFFF"/>
                </a:highlight>
                <a:latin typeface="Courier New"/>
                <a:ea typeface="Courier New"/>
                <a:cs typeface="Courier New"/>
                <a:sym typeface="Courier New"/>
              </a:rPr>
              <a:t>()</a:t>
            </a:r>
            <a:r>
              <a:rPr lang="es-AR" sz="1600">
                <a:solidFill>
                  <a:srgbClr val="0D0D0D"/>
                </a:solidFill>
                <a:highlight>
                  <a:srgbClr val="FFFFFF"/>
                </a:highlight>
                <a:latin typeface="Roboto"/>
                <a:ea typeface="Roboto"/>
                <a:cs typeface="Roboto"/>
                <a:sym typeface="Roboto"/>
              </a:rPr>
              <a:t>: </a:t>
            </a:r>
            <a:r>
              <a:rPr lang="es-AR" sz="1600">
                <a:solidFill>
                  <a:srgbClr val="0D0D0D"/>
                </a:solidFill>
                <a:highlight>
                  <a:srgbClr val="FFFFFF"/>
                </a:highlight>
                <a:latin typeface="Saira"/>
                <a:ea typeface="Saira"/>
                <a:cs typeface="Saira"/>
                <a:sym typeface="Saira"/>
              </a:rPr>
              <a:t>Similar a </a:t>
            </a:r>
            <a:r>
              <a:rPr lang="es-AR" sz="1450">
                <a:solidFill>
                  <a:srgbClr val="FF0000"/>
                </a:solidFill>
                <a:highlight>
                  <a:srgbClr val="FFFFFF"/>
                </a:highlight>
                <a:latin typeface="Saira SemiBold"/>
                <a:ea typeface="Saira SemiBold"/>
                <a:cs typeface="Saira SemiBold"/>
                <a:sym typeface="Saira SemiBold"/>
              </a:rPr>
              <a:t>malloc</a:t>
            </a:r>
            <a:r>
              <a:rPr lang="es-AR" sz="1450">
                <a:solidFill>
                  <a:srgbClr val="0D0D0D"/>
                </a:solidFill>
                <a:highlight>
                  <a:srgbClr val="FFFFFF"/>
                </a:highlight>
                <a:latin typeface="Courier New"/>
                <a:ea typeface="Courier New"/>
                <a:cs typeface="Courier New"/>
                <a:sym typeface="Courier New"/>
              </a:rPr>
              <a:t>()</a:t>
            </a:r>
            <a:r>
              <a:rPr lang="es-AR" sz="1600">
                <a:solidFill>
                  <a:srgbClr val="0D0D0D"/>
                </a:solidFill>
                <a:highlight>
                  <a:srgbClr val="FFFFFF"/>
                </a:highlight>
                <a:latin typeface="Roboto"/>
                <a:ea typeface="Roboto"/>
                <a:cs typeface="Roboto"/>
                <a:sym typeface="Roboto"/>
              </a:rPr>
              <a:t>, p</a:t>
            </a:r>
            <a:r>
              <a:rPr lang="es-AR" sz="1600">
                <a:solidFill>
                  <a:srgbClr val="0D0D0D"/>
                </a:solidFill>
                <a:highlight>
                  <a:srgbClr val="FFFFFF"/>
                </a:highlight>
                <a:latin typeface="Saira"/>
                <a:ea typeface="Saira"/>
                <a:cs typeface="Saira"/>
                <a:sym typeface="Saira"/>
              </a:rPr>
              <a:t>ero inicializa el bloque de memoria asignado con ceros. Útil para vectores y estructuras de datos.</a:t>
            </a:r>
            <a:endParaRPr sz="1600">
              <a:solidFill>
                <a:srgbClr val="0D0D0D"/>
              </a:solidFill>
              <a:highlight>
                <a:srgbClr val="FFFFFF"/>
              </a:highlight>
              <a:latin typeface="Saira"/>
              <a:ea typeface="Saira"/>
              <a:cs typeface="Saira"/>
              <a:sym typeface="Saira"/>
            </a:endParaRPr>
          </a:p>
          <a:p>
            <a:pPr indent="-304800" lvl="0" marL="457200" rtl="0" algn="l">
              <a:lnSpc>
                <a:spcPct val="115000"/>
              </a:lnSpc>
              <a:spcBef>
                <a:spcPts val="0"/>
              </a:spcBef>
              <a:spcAft>
                <a:spcPts val="0"/>
              </a:spcAft>
              <a:buClr>
                <a:srgbClr val="0D0D0D"/>
              </a:buClr>
              <a:buSzPts val="1200"/>
              <a:buFont typeface="Roboto"/>
              <a:buChar char="●"/>
            </a:pPr>
            <a:r>
              <a:rPr lang="es-AR" sz="1450">
                <a:solidFill>
                  <a:srgbClr val="0000FF"/>
                </a:solidFill>
                <a:highlight>
                  <a:srgbClr val="FFFFFF"/>
                </a:highlight>
                <a:latin typeface="Saira SemiBold"/>
                <a:ea typeface="Saira SemiBold"/>
                <a:cs typeface="Saira SemiBold"/>
                <a:sym typeface="Saira SemiBold"/>
              </a:rPr>
              <a:t>realloc</a:t>
            </a:r>
            <a:r>
              <a:rPr lang="es-AR" sz="1450">
                <a:solidFill>
                  <a:srgbClr val="0D0D0D"/>
                </a:solidFill>
                <a:highlight>
                  <a:srgbClr val="FFFFFF"/>
                </a:highlight>
                <a:latin typeface="Courier New"/>
                <a:ea typeface="Courier New"/>
                <a:cs typeface="Courier New"/>
                <a:sym typeface="Courier New"/>
              </a:rPr>
              <a:t>()</a:t>
            </a:r>
            <a:r>
              <a:rPr lang="es-AR" sz="1600">
                <a:solidFill>
                  <a:srgbClr val="0D0D0D"/>
                </a:solidFill>
                <a:highlight>
                  <a:srgbClr val="FFFFFF"/>
                </a:highlight>
                <a:latin typeface="Roboto"/>
                <a:ea typeface="Roboto"/>
                <a:cs typeface="Roboto"/>
                <a:sym typeface="Roboto"/>
              </a:rPr>
              <a:t>:</a:t>
            </a:r>
            <a:r>
              <a:rPr lang="es-AR" sz="1600">
                <a:solidFill>
                  <a:srgbClr val="0D0D0D"/>
                </a:solidFill>
                <a:highlight>
                  <a:srgbClr val="FFFFFF"/>
                </a:highlight>
                <a:latin typeface="Saira"/>
                <a:ea typeface="Saira"/>
                <a:cs typeface="Saira"/>
                <a:sym typeface="Saira"/>
              </a:rPr>
              <a:t> Se utiliza para cambiar el tamaño de un bloque de memoria ya asignado. Puede aumentar o disminuir el tamaño del bloque de memoria.</a:t>
            </a:r>
            <a:endParaRPr sz="1600">
              <a:solidFill>
                <a:srgbClr val="0D0D0D"/>
              </a:solidFill>
              <a:highlight>
                <a:srgbClr val="FFFFFF"/>
              </a:highlight>
              <a:latin typeface="Saira"/>
              <a:ea typeface="Saira"/>
              <a:cs typeface="Saira"/>
              <a:sym typeface="Saira"/>
            </a:endParaRPr>
          </a:p>
          <a:p>
            <a:pPr indent="-304800" lvl="0" marL="457200" rtl="0" algn="l">
              <a:lnSpc>
                <a:spcPct val="115000"/>
              </a:lnSpc>
              <a:spcBef>
                <a:spcPts val="0"/>
              </a:spcBef>
              <a:spcAft>
                <a:spcPts val="0"/>
              </a:spcAft>
              <a:buClr>
                <a:srgbClr val="0D0D0D"/>
              </a:buClr>
              <a:buSzPts val="1200"/>
              <a:buFont typeface="Roboto"/>
              <a:buChar char="●"/>
            </a:pPr>
            <a:r>
              <a:rPr lang="es-AR" sz="1450">
                <a:solidFill>
                  <a:srgbClr val="FF00FF"/>
                </a:solidFill>
                <a:highlight>
                  <a:srgbClr val="FFFFFF"/>
                </a:highlight>
                <a:latin typeface="Saira SemiBold"/>
                <a:ea typeface="Saira SemiBold"/>
                <a:cs typeface="Saira SemiBold"/>
                <a:sym typeface="Saira SemiBold"/>
              </a:rPr>
              <a:t>free</a:t>
            </a:r>
            <a:r>
              <a:rPr lang="es-AR" sz="1450">
                <a:solidFill>
                  <a:srgbClr val="0D0D0D"/>
                </a:solidFill>
                <a:highlight>
                  <a:srgbClr val="FFFFFF"/>
                </a:highlight>
                <a:latin typeface="Courier New"/>
                <a:ea typeface="Courier New"/>
                <a:cs typeface="Courier New"/>
                <a:sym typeface="Courier New"/>
              </a:rPr>
              <a:t>()</a:t>
            </a:r>
            <a:r>
              <a:rPr lang="es-AR" sz="1600">
                <a:solidFill>
                  <a:srgbClr val="0D0D0D"/>
                </a:solidFill>
                <a:highlight>
                  <a:srgbClr val="FFFFFF"/>
                </a:highlight>
                <a:latin typeface="Roboto"/>
                <a:ea typeface="Roboto"/>
                <a:cs typeface="Roboto"/>
                <a:sym typeface="Roboto"/>
              </a:rPr>
              <a:t>: </a:t>
            </a:r>
            <a:r>
              <a:rPr lang="es-AR" sz="1600">
                <a:solidFill>
                  <a:srgbClr val="0D0D0D"/>
                </a:solidFill>
                <a:highlight>
                  <a:srgbClr val="FFFFFF"/>
                </a:highlight>
                <a:latin typeface="Saira"/>
                <a:ea typeface="Saira"/>
                <a:cs typeface="Saira"/>
                <a:sym typeface="Saira"/>
              </a:rPr>
              <a:t>Libera un bloque de memoria previamente asignado. Es importante liberar la memoria cuando ya no se necesite para evitar fugas de memoria.</a:t>
            </a:r>
            <a:endParaRPr sz="1600">
              <a:solidFill>
                <a:srgbClr val="0D0D0D"/>
              </a:solidFill>
              <a:highlight>
                <a:srgbClr val="FFFFFF"/>
              </a:highlight>
              <a:latin typeface="Saira"/>
              <a:ea typeface="Saira"/>
              <a:cs typeface="Saira"/>
              <a:sym typeface="Saira"/>
            </a:endParaRPr>
          </a:p>
        </p:txBody>
      </p:sp>
      <p:sp>
        <p:nvSpPr>
          <p:cNvPr id="118" name="Google Shape;118;g1f54769c84a_0_17"/>
          <p:cNvSpPr txBox="1"/>
          <p:nvPr/>
        </p:nvSpPr>
        <p:spPr>
          <a:xfrm>
            <a:off x="383950" y="2438775"/>
            <a:ext cx="900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a:solidFill>
                  <a:srgbClr val="FF0000"/>
                </a:solidFill>
                <a:latin typeface="Saira"/>
                <a:ea typeface="Saira"/>
                <a:cs typeface="Saira"/>
                <a:sym typeface="Saira"/>
              </a:rPr>
              <a:t>Incluir la biblioteca necesaria: #include &lt;stdlib.h&gt; para acceder a las funciones de gestión de memoria</a:t>
            </a:r>
            <a:endParaRPr>
              <a:solidFill>
                <a:srgbClr val="FF0000"/>
              </a:solidFill>
              <a:latin typeface="Saira"/>
              <a:ea typeface="Saira"/>
              <a:cs typeface="Saira"/>
              <a:sym typeface="Sai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1f55550cd8a_0_18"/>
          <p:cNvSpPr txBox="1"/>
          <p:nvPr/>
        </p:nvSpPr>
        <p:spPr>
          <a:xfrm>
            <a:off x="319439" y="990221"/>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Memoria Dinámica</a:t>
            </a:r>
            <a:endParaRPr b="0" i="0" sz="3600" u="none" cap="none" strike="noStrike">
              <a:solidFill>
                <a:schemeClr val="dk1"/>
              </a:solidFill>
              <a:latin typeface="Saira"/>
              <a:ea typeface="Saira"/>
              <a:cs typeface="Saira"/>
              <a:sym typeface="Saira"/>
            </a:endParaRPr>
          </a:p>
        </p:txBody>
      </p:sp>
      <p:pic>
        <p:nvPicPr>
          <p:cNvPr id="124" name="Google Shape;124;g1f55550cd8a_0_18"/>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125" name="Google Shape;125;g1f55550cd8a_0_18"/>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26" name="Google Shape;126;g1f55550cd8a_0_18"/>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27" name="Google Shape;127;g1f55550cd8a_0_18"/>
          <p:cNvSpPr txBox="1"/>
          <p:nvPr/>
        </p:nvSpPr>
        <p:spPr>
          <a:xfrm>
            <a:off x="383950" y="1760700"/>
            <a:ext cx="8343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500"/>
              </a:spcAft>
              <a:buNone/>
            </a:pPr>
            <a:r>
              <a:rPr lang="es-AR" sz="2400">
                <a:solidFill>
                  <a:srgbClr val="FF0000"/>
                </a:solidFill>
                <a:highlight>
                  <a:srgbClr val="FFFFFF"/>
                </a:highlight>
                <a:latin typeface="Saira SemiBold"/>
                <a:ea typeface="Saira SemiBold"/>
                <a:cs typeface="Saira SemiBold"/>
                <a:sym typeface="Saira SemiBold"/>
              </a:rPr>
              <a:t>malloc </a:t>
            </a:r>
            <a:r>
              <a:rPr lang="es-AR" sz="2400">
                <a:highlight>
                  <a:srgbClr val="FFFFFF"/>
                </a:highlight>
                <a:latin typeface="Saira SemiBold"/>
                <a:ea typeface="Saira SemiBold"/>
                <a:cs typeface="Saira SemiBold"/>
                <a:sym typeface="Saira SemiBold"/>
              </a:rPr>
              <a:t>( )</a:t>
            </a:r>
            <a:endParaRPr sz="2400">
              <a:latin typeface="Saira"/>
              <a:ea typeface="Saira"/>
              <a:cs typeface="Saira"/>
              <a:sym typeface="Saira"/>
            </a:endParaRPr>
          </a:p>
        </p:txBody>
      </p:sp>
      <p:sp>
        <p:nvSpPr>
          <p:cNvPr id="128" name="Google Shape;128;g1f55550cd8a_0_18"/>
          <p:cNvSpPr txBox="1"/>
          <p:nvPr/>
        </p:nvSpPr>
        <p:spPr>
          <a:xfrm>
            <a:off x="383950" y="2438775"/>
            <a:ext cx="9003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800">
                <a:solidFill>
                  <a:srgbClr val="0D0D0D"/>
                </a:solidFill>
                <a:highlight>
                  <a:srgbClr val="FFFFFF"/>
                </a:highlight>
                <a:latin typeface="Saira"/>
                <a:ea typeface="Saira"/>
                <a:cs typeface="Saira"/>
                <a:sym typeface="Saira"/>
              </a:rPr>
              <a:t>La función </a:t>
            </a:r>
            <a:r>
              <a:rPr lang="es-AR" sz="1800">
                <a:solidFill>
                  <a:srgbClr val="FF0000"/>
                </a:solidFill>
                <a:highlight>
                  <a:srgbClr val="FFFFFF"/>
                </a:highlight>
                <a:latin typeface="Saira"/>
                <a:ea typeface="Saira"/>
                <a:cs typeface="Saira"/>
                <a:sym typeface="Saira"/>
              </a:rPr>
              <a:t>malloc</a:t>
            </a:r>
            <a:r>
              <a:rPr lang="es-AR" sz="1800">
                <a:solidFill>
                  <a:srgbClr val="0D0D0D"/>
                </a:solidFill>
                <a:highlight>
                  <a:srgbClr val="FFFFFF"/>
                </a:highlight>
                <a:latin typeface="Saira"/>
                <a:ea typeface="Saira"/>
                <a:cs typeface="Saira"/>
                <a:sym typeface="Saira"/>
              </a:rPr>
              <a:t>() se utiliza para asignar un bloque de memoria de un tamaño específico en bytes.</a:t>
            </a:r>
            <a:endParaRPr sz="1800">
              <a:solidFill>
                <a:schemeClr val="dk1"/>
              </a:solidFill>
              <a:latin typeface="Saira"/>
              <a:ea typeface="Saira"/>
              <a:cs typeface="Saira"/>
              <a:sym typeface="Saira"/>
            </a:endParaRPr>
          </a:p>
        </p:txBody>
      </p:sp>
      <p:sp>
        <p:nvSpPr>
          <p:cNvPr id="129" name="Google Shape;129;g1f55550cd8a_0_18"/>
          <p:cNvSpPr txBox="1"/>
          <p:nvPr/>
        </p:nvSpPr>
        <p:spPr>
          <a:xfrm>
            <a:off x="474375" y="3301650"/>
            <a:ext cx="5218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latin typeface="Saira"/>
                <a:ea typeface="Saira"/>
                <a:cs typeface="Saira"/>
                <a:sym typeface="Saira"/>
              </a:rPr>
              <a:t>Sintaxis</a:t>
            </a:r>
            <a:r>
              <a:rPr lang="es-AR" sz="1600">
                <a:latin typeface="Saira"/>
                <a:ea typeface="Saira"/>
                <a:cs typeface="Saira"/>
                <a:sym typeface="Saira"/>
              </a:rPr>
              <a:t>: </a:t>
            </a:r>
            <a:r>
              <a:rPr lang="es-AR" sz="1600">
                <a:solidFill>
                  <a:srgbClr val="FF0000"/>
                </a:solidFill>
                <a:latin typeface="Saira"/>
                <a:ea typeface="Saira"/>
                <a:cs typeface="Saira"/>
                <a:sym typeface="Saira"/>
              </a:rPr>
              <a:t>void</a:t>
            </a:r>
            <a:r>
              <a:rPr lang="es-AR" sz="1600">
                <a:latin typeface="Saira"/>
                <a:ea typeface="Saira"/>
                <a:cs typeface="Saira"/>
                <a:sym typeface="Saira"/>
              </a:rPr>
              <a:t>* </a:t>
            </a:r>
            <a:r>
              <a:rPr lang="es-AR" sz="1600">
                <a:solidFill>
                  <a:srgbClr val="FF0000"/>
                </a:solidFill>
                <a:latin typeface="Saira"/>
                <a:ea typeface="Saira"/>
                <a:cs typeface="Saira"/>
                <a:sym typeface="Saira"/>
              </a:rPr>
              <a:t>malloc</a:t>
            </a:r>
            <a:r>
              <a:rPr lang="es-AR" sz="1600">
                <a:latin typeface="Saira"/>
                <a:ea typeface="Saira"/>
                <a:cs typeface="Saira"/>
                <a:sym typeface="Saira"/>
              </a:rPr>
              <a:t>(size_t size);</a:t>
            </a:r>
            <a:endParaRPr sz="1600">
              <a:latin typeface="Saira"/>
              <a:ea typeface="Saira"/>
              <a:cs typeface="Saira"/>
              <a:sym typeface="Saira"/>
            </a:endParaRPr>
          </a:p>
        </p:txBody>
      </p:sp>
      <p:sp>
        <p:nvSpPr>
          <p:cNvPr id="130" name="Google Shape;130;g1f55550cd8a_0_18"/>
          <p:cNvSpPr txBox="1"/>
          <p:nvPr/>
        </p:nvSpPr>
        <p:spPr>
          <a:xfrm>
            <a:off x="474375" y="3722588"/>
            <a:ext cx="8673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solidFill>
                  <a:srgbClr val="0D0D0D"/>
                </a:solidFill>
                <a:highlight>
                  <a:srgbClr val="FFFFFF"/>
                </a:highlight>
                <a:latin typeface="Saira"/>
                <a:ea typeface="Saira"/>
                <a:cs typeface="Saira"/>
                <a:sym typeface="Saira"/>
              </a:rPr>
              <a:t>Argumento</a:t>
            </a:r>
            <a:r>
              <a:rPr lang="es-AR" sz="1600">
                <a:solidFill>
                  <a:srgbClr val="0D0D0D"/>
                </a:solidFill>
                <a:highlight>
                  <a:srgbClr val="FFFFFF"/>
                </a:highlight>
                <a:latin typeface="Saira"/>
                <a:ea typeface="Saira"/>
                <a:cs typeface="Saira"/>
                <a:sym typeface="Saira"/>
              </a:rPr>
              <a:t>: Toma un argumento size, que especifica el tamaño en bytes del bloque de memoria que se desea asignar.</a:t>
            </a:r>
            <a:endParaRPr sz="1600">
              <a:latin typeface="Saira"/>
              <a:ea typeface="Saira"/>
              <a:cs typeface="Saira"/>
              <a:sym typeface="Saira"/>
            </a:endParaRPr>
          </a:p>
        </p:txBody>
      </p:sp>
      <p:sp>
        <p:nvSpPr>
          <p:cNvPr id="131" name="Google Shape;131;g1f55550cd8a_0_18"/>
          <p:cNvSpPr txBox="1"/>
          <p:nvPr/>
        </p:nvSpPr>
        <p:spPr>
          <a:xfrm>
            <a:off x="474375" y="4399700"/>
            <a:ext cx="7752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solidFill>
                  <a:srgbClr val="0D0D0D"/>
                </a:solidFill>
                <a:highlight>
                  <a:srgbClr val="FFFFFF"/>
                </a:highlight>
                <a:latin typeface="Saira"/>
                <a:ea typeface="Saira"/>
                <a:cs typeface="Saira"/>
                <a:sym typeface="Saira"/>
              </a:rPr>
              <a:t>Valor de retorno</a:t>
            </a:r>
            <a:r>
              <a:rPr lang="es-AR" sz="1600">
                <a:solidFill>
                  <a:srgbClr val="0D0D0D"/>
                </a:solidFill>
                <a:highlight>
                  <a:srgbClr val="FFFFFF"/>
                </a:highlight>
                <a:latin typeface="Saira"/>
                <a:ea typeface="Saira"/>
                <a:cs typeface="Saira"/>
                <a:sym typeface="Saira"/>
              </a:rPr>
              <a:t>: Devuelve un puntero void al inicio del bloque de memoria asignado. Si la asignación falla, devuelve NULL.</a:t>
            </a:r>
            <a:endParaRPr sz="1600">
              <a:latin typeface="Saira"/>
              <a:ea typeface="Saira"/>
              <a:cs typeface="Saira"/>
              <a:sym typeface="Saira"/>
            </a:endParaRPr>
          </a:p>
        </p:txBody>
      </p:sp>
      <p:sp>
        <p:nvSpPr>
          <p:cNvPr id="132" name="Google Shape;132;g1f55550cd8a_0_18"/>
          <p:cNvSpPr txBox="1"/>
          <p:nvPr/>
        </p:nvSpPr>
        <p:spPr>
          <a:xfrm>
            <a:off x="474375" y="5076800"/>
            <a:ext cx="7342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solidFill>
                  <a:srgbClr val="0D0D0D"/>
                </a:solidFill>
                <a:highlight>
                  <a:srgbClr val="FFFFFF"/>
                </a:highlight>
                <a:latin typeface="Saira"/>
                <a:ea typeface="Saira"/>
                <a:cs typeface="Saira"/>
                <a:sym typeface="Saira"/>
              </a:rPr>
              <a:t>Uso típico</a:t>
            </a:r>
            <a:r>
              <a:rPr lang="es-AR" sz="1600">
                <a:solidFill>
                  <a:srgbClr val="0D0D0D"/>
                </a:solidFill>
                <a:highlight>
                  <a:srgbClr val="FFFFFF"/>
                </a:highlight>
                <a:latin typeface="Saira"/>
                <a:ea typeface="Saira"/>
                <a:cs typeface="Saira"/>
                <a:sym typeface="Saira"/>
              </a:rPr>
              <a:t>: Por ejemplo, si deseas asignar memoria para un vector de enteros.</a:t>
            </a:r>
            <a:endParaRPr sz="1600">
              <a:latin typeface="Saira"/>
              <a:ea typeface="Saira"/>
              <a:cs typeface="Saira"/>
              <a:sym typeface="Sai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1f55550cd8a_0_41"/>
          <p:cNvSpPr txBox="1"/>
          <p:nvPr/>
        </p:nvSpPr>
        <p:spPr>
          <a:xfrm>
            <a:off x="319439" y="990221"/>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Memoria Dinámica</a:t>
            </a:r>
            <a:endParaRPr b="0" i="0" sz="3600" u="none" cap="none" strike="noStrike">
              <a:solidFill>
                <a:schemeClr val="dk1"/>
              </a:solidFill>
              <a:latin typeface="Saira"/>
              <a:ea typeface="Saira"/>
              <a:cs typeface="Saira"/>
              <a:sym typeface="Saira"/>
            </a:endParaRPr>
          </a:p>
        </p:txBody>
      </p:sp>
      <p:pic>
        <p:nvPicPr>
          <p:cNvPr id="138" name="Google Shape;138;g1f55550cd8a_0_41"/>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139" name="Google Shape;139;g1f55550cd8a_0_41"/>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40" name="Google Shape;140;g1f55550cd8a_0_41"/>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41" name="Google Shape;141;g1f55550cd8a_0_41"/>
          <p:cNvSpPr txBox="1"/>
          <p:nvPr/>
        </p:nvSpPr>
        <p:spPr>
          <a:xfrm>
            <a:off x="383950" y="1760700"/>
            <a:ext cx="8343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500"/>
              </a:spcAft>
              <a:buNone/>
            </a:pPr>
            <a:r>
              <a:rPr lang="es-AR" sz="2400">
                <a:solidFill>
                  <a:srgbClr val="FF0000"/>
                </a:solidFill>
                <a:highlight>
                  <a:srgbClr val="FFFFFF"/>
                </a:highlight>
                <a:latin typeface="Saira SemiBold"/>
                <a:ea typeface="Saira SemiBold"/>
                <a:cs typeface="Saira SemiBold"/>
                <a:sym typeface="Saira SemiBold"/>
              </a:rPr>
              <a:t>malloc </a:t>
            </a:r>
            <a:r>
              <a:rPr lang="es-AR" sz="2400">
                <a:highlight>
                  <a:srgbClr val="FFFFFF"/>
                </a:highlight>
                <a:latin typeface="Saira SemiBold"/>
                <a:ea typeface="Saira SemiBold"/>
                <a:cs typeface="Saira SemiBold"/>
                <a:sym typeface="Saira SemiBold"/>
              </a:rPr>
              <a:t>( )</a:t>
            </a:r>
            <a:endParaRPr sz="2400">
              <a:latin typeface="Saira"/>
              <a:ea typeface="Saira"/>
              <a:cs typeface="Saira"/>
              <a:sym typeface="Saira"/>
            </a:endParaRPr>
          </a:p>
        </p:txBody>
      </p:sp>
      <p:sp>
        <p:nvSpPr>
          <p:cNvPr id="142" name="Google Shape;142;g1f55550cd8a_0_41"/>
          <p:cNvSpPr txBox="1"/>
          <p:nvPr/>
        </p:nvSpPr>
        <p:spPr>
          <a:xfrm>
            <a:off x="383950" y="2371950"/>
            <a:ext cx="59403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AR" sz="2400">
                <a:solidFill>
                  <a:srgbClr val="0D0D0D"/>
                </a:solidFill>
                <a:highlight>
                  <a:srgbClr val="FFFFFF"/>
                </a:highlight>
                <a:latin typeface="Saira"/>
                <a:ea typeface="Saira"/>
                <a:cs typeface="Saira"/>
                <a:sym typeface="Saira"/>
              </a:rPr>
              <a:t>ejemplo: </a:t>
            </a:r>
            <a:endParaRPr sz="2400">
              <a:solidFill>
                <a:srgbClr val="0D0D0D"/>
              </a:solidFill>
              <a:highlight>
                <a:srgbClr val="FFFFFF"/>
              </a:highlight>
              <a:latin typeface="Saira"/>
              <a:ea typeface="Saira"/>
              <a:cs typeface="Saira"/>
              <a:sym typeface="Saira"/>
            </a:endParaRPr>
          </a:p>
          <a:p>
            <a:pPr indent="0" lvl="0" marL="0" rtl="0" algn="l">
              <a:spcBef>
                <a:spcPts val="0"/>
              </a:spcBef>
              <a:spcAft>
                <a:spcPts val="0"/>
              </a:spcAft>
              <a:buNone/>
            </a:pPr>
            <a:r>
              <a:rPr lang="es-AR" sz="2400">
                <a:solidFill>
                  <a:srgbClr val="FF0000"/>
                </a:solidFill>
                <a:latin typeface="Saira"/>
                <a:ea typeface="Saira"/>
                <a:cs typeface="Saira"/>
                <a:sym typeface="Saira"/>
              </a:rPr>
              <a:t>int</a:t>
            </a:r>
            <a:r>
              <a:rPr lang="es-AR" sz="2400">
                <a:latin typeface="Saira"/>
                <a:ea typeface="Saira"/>
                <a:cs typeface="Saira"/>
                <a:sym typeface="Saira"/>
              </a:rPr>
              <a:t> *ptr;</a:t>
            </a:r>
            <a:endParaRPr sz="2400">
              <a:latin typeface="Saira"/>
              <a:ea typeface="Saira"/>
              <a:cs typeface="Saira"/>
              <a:sym typeface="Saira"/>
            </a:endParaRPr>
          </a:p>
          <a:p>
            <a:pPr indent="0" lvl="0" marL="0" rtl="0" algn="l">
              <a:spcBef>
                <a:spcPts val="0"/>
              </a:spcBef>
              <a:spcAft>
                <a:spcPts val="0"/>
              </a:spcAft>
              <a:buNone/>
            </a:pPr>
            <a:r>
              <a:rPr lang="es-AR" sz="2400">
                <a:latin typeface="Saira"/>
                <a:ea typeface="Saira"/>
                <a:cs typeface="Saira"/>
                <a:sym typeface="Saira"/>
              </a:rPr>
              <a:t>ptr = (</a:t>
            </a:r>
            <a:r>
              <a:rPr lang="es-AR" sz="2400">
                <a:solidFill>
                  <a:srgbClr val="FF0000"/>
                </a:solidFill>
                <a:latin typeface="Saira"/>
                <a:ea typeface="Saira"/>
                <a:cs typeface="Saira"/>
                <a:sym typeface="Saira"/>
              </a:rPr>
              <a:t>int</a:t>
            </a:r>
            <a:r>
              <a:rPr lang="es-AR" sz="2400">
                <a:latin typeface="Saira"/>
                <a:ea typeface="Saira"/>
                <a:cs typeface="Saira"/>
                <a:sym typeface="Saira"/>
              </a:rPr>
              <a:t> *)</a:t>
            </a:r>
            <a:r>
              <a:rPr lang="es-AR" sz="2400">
                <a:solidFill>
                  <a:srgbClr val="FF0000"/>
                </a:solidFill>
                <a:latin typeface="Saira"/>
                <a:ea typeface="Saira"/>
                <a:cs typeface="Saira"/>
                <a:sym typeface="Saira"/>
              </a:rPr>
              <a:t>malloc</a:t>
            </a:r>
            <a:r>
              <a:rPr lang="es-AR" sz="2400">
                <a:latin typeface="Saira"/>
                <a:ea typeface="Saira"/>
                <a:cs typeface="Saira"/>
                <a:sym typeface="Saira"/>
              </a:rPr>
              <a:t>(5 * </a:t>
            </a:r>
            <a:r>
              <a:rPr lang="es-AR" sz="2400">
                <a:solidFill>
                  <a:srgbClr val="0000FF"/>
                </a:solidFill>
                <a:latin typeface="Saira"/>
                <a:ea typeface="Saira"/>
                <a:cs typeface="Saira"/>
                <a:sym typeface="Saira"/>
              </a:rPr>
              <a:t>sizeof</a:t>
            </a:r>
            <a:r>
              <a:rPr lang="es-AR" sz="2400">
                <a:latin typeface="Saira"/>
                <a:ea typeface="Saira"/>
                <a:cs typeface="Saira"/>
                <a:sym typeface="Saira"/>
              </a:rPr>
              <a:t>(</a:t>
            </a:r>
            <a:r>
              <a:rPr lang="es-AR" sz="2400">
                <a:solidFill>
                  <a:srgbClr val="FF0000"/>
                </a:solidFill>
                <a:latin typeface="Saira"/>
                <a:ea typeface="Saira"/>
                <a:cs typeface="Saira"/>
                <a:sym typeface="Saira"/>
              </a:rPr>
              <a:t>int</a:t>
            </a:r>
            <a:r>
              <a:rPr lang="es-AR" sz="2400">
                <a:latin typeface="Saira"/>
                <a:ea typeface="Saira"/>
                <a:cs typeface="Saira"/>
                <a:sym typeface="Saira"/>
              </a:rPr>
              <a:t>));</a:t>
            </a:r>
            <a:endParaRPr sz="2400">
              <a:latin typeface="Saira"/>
              <a:ea typeface="Saira"/>
              <a:cs typeface="Saira"/>
              <a:sym typeface="Saira"/>
            </a:endParaRPr>
          </a:p>
          <a:p>
            <a:pPr indent="0" lvl="0" marL="0" rtl="0" algn="l">
              <a:spcBef>
                <a:spcPts val="0"/>
              </a:spcBef>
              <a:spcAft>
                <a:spcPts val="0"/>
              </a:spcAft>
              <a:buNone/>
            </a:pPr>
            <a:r>
              <a:t/>
            </a:r>
            <a:endParaRPr sz="2400">
              <a:latin typeface="Saira"/>
              <a:ea typeface="Saira"/>
              <a:cs typeface="Saira"/>
              <a:sym typeface="Saira"/>
            </a:endParaRPr>
          </a:p>
          <a:p>
            <a:pPr indent="0" lvl="0" marL="0" rtl="0" algn="l">
              <a:spcBef>
                <a:spcPts val="0"/>
              </a:spcBef>
              <a:spcAft>
                <a:spcPts val="0"/>
              </a:spcAft>
              <a:buNone/>
            </a:pPr>
            <a:r>
              <a:t/>
            </a:r>
            <a:endParaRPr sz="2400">
              <a:latin typeface="Saira"/>
              <a:ea typeface="Saira"/>
              <a:cs typeface="Saira"/>
              <a:sym typeface="Saira"/>
            </a:endParaRPr>
          </a:p>
        </p:txBody>
      </p:sp>
      <p:sp>
        <p:nvSpPr>
          <p:cNvPr id="143" name="Google Shape;143;g1f55550cd8a_0_41"/>
          <p:cNvSpPr txBox="1"/>
          <p:nvPr/>
        </p:nvSpPr>
        <p:spPr>
          <a:xfrm>
            <a:off x="383950" y="3691975"/>
            <a:ext cx="106944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solidFill>
                  <a:srgbClr val="0D0D0D"/>
                </a:solidFill>
                <a:highlight>
                  <a:srgbClr val="FFFFFF"/>
                </a:highlight>
                <a:latin typeface="Saira"/>
                <a:ea typeface="Saira"/>
                <a:cs typeface="Saira"/>
                <a:sym typeface="Saira"/>
              </a:rPr>
              <a:t>Consideraciones</a:t>
            </a:r>
            <a:r>
              <a:rPr lang="es-AR" sz="1600">
                <a:solidFill>
                  <a:srgbClr val="0D0D0D"/>
                </a:solidFill>
                <a:highlight>
                  <a:srgbClr val="FFFFFF"/>
                </a:highlight>
                <a:latin typeface="Saira"/>
                <a:ea typeface="Saira"/>
                <a:cs typeface="Saira"/>
                <a:sym typeface="Saira"/>
              </a:rPr>
              <a:t>:</a:t>
            </a:r>
            <a:endParaRPr sz="1600">
              <a:solidFill>
                <a:srgbClr val="0D0D0D"/>
              </a:solidFill>
              <a:highlight>
                <a:srgbClr val="FFFFFF"/>
              </a:highlight>
              <a:latin typeface="Saira"/>
              <a:ea typeface="Saira"/>
              <a:cs typeface="Saira"/>
              <a:sym typeface="Saira"/>
            </a:endParaRPr>
          </a:p>
          <a:p>
            <a:pPr indent="0" lvl="0" marL="0" rtl="0" algn="l">
              <a:spcBef>
                <a:spcPts val="0"/>
              </a:spcBef>
              <a:spcAft>
                <a:spcPts val="0"/>
              </a:spcAft>
              <a:buNone/>
            </a:pPr>
            <a:r>
              <a:t/>
            </a:r>
            <a:endParaRPr sz="1600">
              <a:solidFill>
                <a:srgbClr val="0D0D0D"/>
              </a:solidFill>
              <a:highlight>
                <a:srgbClr val="FFFFFF"/>
              </a:highlight>
              <a:latin typeface="Saira"/>
              <a:ea typeface="Saira"/>
              <a:cs typeface="Saira"/>
              <a:sym typeface="Saira"/>
            </a:endParaRPr>
          </a:p>
          <a:p>
            <a:pPr indent="-330200" lvl="0" marL="457200" rtl="0" algn="l">
              <a:lnSpc>
                <a:spcPct val="115000"/>
              </a:lnSpc>
              <a:spcBef>
                <a:spcPts val="0"/>
              </a:spcBef>
              <a:spcAft>
                <a:spcPts val="0"/>
              </a:spcAft>
              <a:buClr>
                <a:srgbClr val="0D0D0D"/>
              </a:buClr>
              <a:buSzPts val="1600"/>
              <a:buFont typeface="Roboto"/>
              <a:buChar char="●"/>
            </a:pPr>
            <a:r>
              <a:rPr lang="es-AR" sz="1600">
                <a:solidFill>
                  <a:srgbClr val="0D0D0D"/>
                </a:solidFill>
                <a:highlight>
                  <a:srgbClr val="FFFFFF"/>
                </a:highlight>
                <a:latin typeface="Saira"/>
                <a:ea typeface="Saira"/>
                <a:cs typeface="Saira"/>
                <a:sym typeface="Saira"/>
              </a:rPr>
              <a:t>Es importante recordar que </a:t>
            </a:r>
            <a:r>
              <a:rPr lang="es-AR" sz="1600">
                <a:solidFill>
                  <a:srgbClr val="FF0000"/>
                </a:solidFill>
                <a:highlight>
                  <a:srgbClr val="FFFFFF"/>
                </a:highlight>
                <a:latin typeface="Saira"/>
                <a:ea typeface="Saira"/>
                <a:cs typeface="Saira"/>
                <a:sym typeface="Saira"/>
              </a:rPr>
              <a:t>malloc</a:t>
            </a:r>
            <a:r>
              <a:rPr lang="es-AR" sz="1600">
                <a:solidFill>
                  <a:srgbClr val="0D0D0D"/>
                </a:solidFill>
                <a:highlight>
                  <a:srgbClr val="FFFFFF"/>
                </a:highlight>
                <a:latin typeface="Saira"/>
                <a:ea typeface="Saira"/>
                <a:cs typeface="Saira"/>
                <a:sym typeface="Saira"/>
              </a:rPr>
              <a:t>() no inicializa la memoria asignada; el contenido de la memoria puede ser aleatorio.</a:t>
            </a:r>
            <a:endParaRPr sz="1600">
              <a:solidFill>
                <a:srgbClr val="0D0D0D"/>
              </a:solidFill>
              <a:highlight>
                <a:srgbClr val="FFFFFF"/>
              </a:highlight>
              <a:latin typeface="Saira"/>
              <a:ea typeface="Saira"/>
              <a:cs typeface="Saira"/>
              <a:sym typeface="Saira"/>
            </a:endParaRPr>
          </a:p>
          <a:p>
            <a:pPr indent="-330200" lvl="0" marL="457200" rtl="0" algn="l">
              <a:lnSpc>
                <a:spcPct val="115000"/>
              </a:lnSpc>
              <a:spcBef>
                <a:spcPts val="0"/>
              </a:spcBef>
              <a:spcAft>
                <a:spcPts val="0"/>
              </a:spcAft>
              <a:buClr>
                <a:srgbClr val="0D0D0D"/>
              </a:buClr>
              <a:buSzPts val="1600"/>
              <a:buFont typeface="Saira"/>
              <a:buChar char="●"/>
            </a:pPr>
            <a:r>
              <a:rPr lang="es-AR" sz="1600">
                <a:solidFill>
                  <a:srgbClr val="0D0D0D"/>
                </a:solidFill>
                <a:highlight>
                  <a:srgbClr val="FFFFFF"/>
                </a:highlight>
                <a:latin typeface="Saira"/>
                <a:ea typeface="Saira"/>
                <a:cs typeface="Saira"/>
                <a:sym typeface="Saira"/>
              </a:rPr>
              <a:t>No realiza comprobaciones de desbordamiento de búfer, por lo que debes ser consciente del tamaño del bloque de memoria que estás asignando.</a:t>
            </a:r>
            <a:endParaRPr sz="1600">
              <a:solidFill>
                <a:srgbClr val="0D0D0D"/>
              </a:solidFill>
              <a:highlight>
                <a:srgbClr val="FFFFFF"/>
              </a:highlight>
              <a:latin typeface="Saira"/>
              <a:ea typeface="Saira"/>
              <a:cs typeface="Saira"/>
              <a:sym typeface="Saira"/>
            </a:endParaRPr>
          </a:p>
          <a:p>
            <a:pPr indent="-317500" lvl="0" marL="457200" rtl="0" algn="l">
              <a:lnSpc>
                <a:spcPct val="115000"/>
              </a:lnSpc>
              <a:spcBef>
                <a:spcPts val="0"/>
              </a:spcBef>
              <a:spcAft>
                <a:spcPts val="0"/>
              </a:spcAft>
              <a:buClr>
                <a:srgbClr val="0D0D0D"/>
              </a:buClr>
              <a:buSzPts val="1400"/>
              <a:buFont typeface="Roboto"/>
              <a:buChar char="●"/>
            </a:pPr>
            <a:r>
              <a:rPr lang="es-AR" sz="1600">
                <a:solidFill>
                  <a:srgbClr val="0D0D0D"/>
                </a:solidFill>
                <a:highlight>
                  <a:srgbClr val="FFFFFF"/>
                </a:highlight>
                <a:latin typeface="Saira"/>
                <a:ea typeface="Saira"/>
                <a:cs typeface="Saira"/>
                <a:sym typeface="Saira"/>
              </a:rPr>
              <a:t>Siempre verificar si el puntero devuelto por </a:t>
            </a:r>
            <a:r>
              <a:rPr lang="es-AR" sz="1600">
                <a:solidFill>
                  <a:srgbClr val="FF0000"/>
                </a:solidFill>
                <a:highlight>
                  <a:srgbClr val="FFFFFF"/>
                </a:highlight>
                <a:latin typeface="Saira"/>
                <a:ea typeface="Saira"/>
                <a:cs typeface="Saira"/>
                <a:sym typeface="Saira"/>
              </a:rPr>
              <a:t>malloc</a:t>
            </a:r>
            <a:r>
              <a:rPr lang="es-AR" sz="1600">
                <a:solidFill>
                  <a:srgbClr val="0D0D0D"/>
                </a:solidFill>
                <a:highlight>
                  <a:srgbClr val="FFFFFF"/>
                </a:highlight>
                <a:latin typeface="Saira"/>
                <a:ea typeface="Saira"/>
                <a:cs typeface="Saira"/>
                <a:sym typeface="Saira"/>
              </a:rPr>
              <a:t>() es </a:t>
            </a:r>
            <a:r>
              <a:rPr lang="es-AR" sz="1600">
                <a:solidFill>
                  <a:srgbClr val="0000FF"/>
                </a:solidFill>
                <a:highlight>
                  <a:srgbClr val="FFFFFF"/>
                </a:highlight>
                <a:latin typeface="Saira"/>
                <a:ea typeface="Saira"/>
                <a:cs typeface="Saira"/>
                <a:sym typeface="Saira"/>
              </a:rPr>
              <a:t>NULL </a:t>
            </a:r>
            <a:r>
              <a:rPr lang="es-AR" sz="1600">
                <a:solidFill>
                  <a:srgbClr val="0D0D0D"/>
                </a:solidFill>
                <a:highlight>
                  <a:srgbClr val="FFFFFF"/>
                </a:highlight>
                <a:latin typeface="Saira"/>
                <a:ea typeface="Saira"/>
                <a:cs typeface="Saira"/>
                <a:sym typeface="Saira"/>
              </a:rPr>
              <a:t>para asegurarte de que la asignación de memoria fue exitosa</a:t>
            </a:r>
            <a:r>
              <a:rPr lang="es-AR">
                <a:solidFill>
                  <a:srgbClr val="0D0D0D"/>
                </a:solidFill>
                <a:highlight>
                  <a:srgbClr val="FFFFFF"/>
                </a:highlight>
                <a:latin typeface="Saira"/>
                <a:ea typeface="Saira"/>
                <a:cs typeface="Saira"/>
                <a:sym typeface="Saira"/>
              </a:rPr>
              <a:t>.</a:t>
            </a:r>
            <a:endParaRPr>
              <a:solidFill>
                <a:srgbClr val="0D0D0D"/>
              </a:solidFill>
              <a:highlight>
                <a:srgbClr val="FFFFFF"/>
              </a:highlight>
              <a:latin typeface="Saira"/>
              <a:ea typeface="Saira"/>
              <a:cs typeface="Saira"/>
              <a:sym typeface="Sai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1f55550cd8a_0_63"/>
          <p:cNvSpPr txBox="1"/>
          <p:nvPr/>
        </p:nvSpPr>
        <p:spPr>
          <a:xfrm>
            <a:off x="319439" y="990221"/>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Memoria Dinámica</a:t>
            </a:r>
            <a:endParaRPr b="0" i="0" sz="3600" u="none" cap="none" strike="noStrike">
              <a:solidFill>
                <a:schemeClr val="dk1"/>
              </a:solidFill>
              <a:latin typeface="Saira"/>
              <a:ea typeface="Saira"/>
              <a:cs typeface="Saira"/>
              <a:sym typeface="Saira"/>
            </a:endParaRPr>
          </a:p>
        </p:txBody>
      </p:sp>
      <p:pic>
        <p:nvPicPr>
          <p:cNvPr id="149" name="Google Shape;149;g1f55550cd8a_0_63"/>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150" name="Google Shape;150;g1f55550cd8a_0_63"/>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51" name="Google Shape;151;g1f55550cd8a_0_63"/>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52" name="Google Shape;152;g1f55550cd8a_0_63"/>
          <p:cNvSpPr txBox="1"/>
          <p:nvPr/>
        </p:nvSpPr>
        <p:spPr>
          <a:xfrm>
            <a:off x="383950" y="1760700"/>
            <a:ext cx="8343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500"/>
              </a:spcAft>
              <a:buNone/>
            </a:pPr>
            <a:r>
              <a:rPr lang="es-AR" sz="2400">
                <a:solidFill>
                  <a:srgbClr val="00B050"/>
                </a:solidFill>
                <a:highlight>
                  <a:srgbClr val="FFFFFF"/>
                </a:highlight>
                <a:latin typeface="Saira SemiBold"/>
                <a:ea typeface="Saira SemiBold"/>
                <a:cs typeface="Saira SemiBold"/>
                <a:sym typeface="Saira SemiBold"/>
              </a:rPr>
              <a:t>calloc</a:t>
            </a:r>
            <a:r>
              <a:rPr lang="es-AR" sz="2400">
                <a:highlight>
                  <a:srgbClr val="FFFFFF"/>
                </a:highlight>
                <a:latin typeface="Saira SemiBold"/>
                <a:ea typeface="Saira SemiBold"/>
                <a:cs typeface="Saira SemiBold"/>
                <a:sym typeface="Saira SemiBold"/>
              </a:rPr>
              <a:t>( )</a:t>
            </a:r>
            <a:endParaRPr sz="2400">
              <a:latin typeface="Saira"/>
              <a:ea typeface="Saira"/>
              <a:cs typeface="Saira"/>
              <a:sym typeface="Saira"/>
            </a:endParaRPr>
          </a:p>
        </p:txBody>
      </p:sp>
      <p:sp>
        <p:nvSpPr>
          <p:cNvPr id="153" name="Google Shape;153;g1f55550cd8a_0_63"/>
          <p:cNvSpPr txBox="1"/>
          <p:nvPr/>
        </p:nvSpPr>
        <p:spPr>
          <a:xfrm>
            <a:off x="383950" y="2438775"/>
            <a:ext cx="9003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800">
                <a:solidFill>
                  <a:srgbClr val="0D0D0D"/>
                </a:solidFill>
                <a:highlight>
                  <a:srgbClr val="FFFFFF"/>
                </a:highlight>
                <a:latin typeface="Saira"/>
                <a:ea typeface="Saira"/>
                <a:cs typeface="Saira"/>
                <a:sym typeface="Saira"/>
              </a:rPr>
              <a:t>La función </a:t>
            </a:r>
            <a:r>
              <a:rPr lang="es-AR" sz="1800">
                <a:solidFill>
                  <a:srgbClr val="00B050"/>
                </a:solidFill>
                <a:highlight>
                  <a:srgbClr val="FFFFFF"/>
                </a:highlight>
                <a:latin typeface="Saira"/>
                <a:ea typeface="Saira"/>
                <a:cs typeface="Saira"/>
                <a:sym typeface="Saira"/>
              </a:rPr>
              <a:t>calloc</a:t>
            </a:r>
            <a:r>
              <a:rPr lang="es-AR" sz="1800">
                <a:solidFill>
                  <a:srgbClr val="0D0D0D"/>
                </a:solidFill>
                <a:highlight>
                  <a:srgbClr val="FFFFFF"/>
                </a:highlight>
                <a:latin typeface="Saira"/>
                <a:ea typeface="Saira"/>
                <a:cs typeface="Saira"/>
                <a:sym typeface="Saira"/>
              </a:rPr>
              <a:t>() se utiliza para asignar un bloque de memoria de un tamaño específico en bytes e inicializar todos los bytes a 0.</a:t>
            </a:r>
            <a:endParaRPr sz="1800">
              <a:solidFill>
                <a:schemeClr val="dk1"/>
              </a:solidFill>
              <a:latin typeface="Saira"/>
              <a:ea typeface="Saira"/>
              <a:cs typeface="Saira"/>
              <a:sym typeface="Saira"/>
            </a:endParaRPr>
          </a:p>
        </p:txBody>
      </p:sp>
      <p:sp>
        <p:nvSpPr>
          <p:cNvPr id="154" name="Google Shape;154;g1f55550cd8a_0_63"/>
          <p:cNvSpPr txBox="1"/>
          <p:nvPr/>
        </p:nvSpPr>
        <p:spPr>
          <a:xfrm>
            <a:off x="474375" y="3301650"/>
            <a:ext cx="7208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latin typeface="Saira"/>
                <a:ea typeface="Saira"/>
                <a:cs typeface="Saira"/>
                <a:sym typeface="Saira"/>
              </a:rPr>
              <a:t>Sintaxis</a:t>
            </a:r>
            <a:r>
              <a:rPr lang="es-AR" sz="1600">
                <a:latin typeface="Saira"/>
                <a:ea typeface="Saira"/>
                <a:cs typeface="Saira"/>
                <a:sym typeface="Saira"/>
              </a:rPr>
              <a:t>: </a:t>
            </a:r>
            <a:r>
              <a:rPr lang="es-AR" sz="1600">
                <a:solidFill>
                  <a:srgbClr val="FF0000"/>
                </a:solidFill>
                <a:latin typeface="Saira"/>
                <a:ea typeface="Saira"/>
                <a:cs typeface="Saira"/>
                <a:sym typeface="Saira"/>
              </a:rPr>
              <a:t>void</a:t>
            </a:r>
            <a:r>
              <a:rPr lang="es-AR" sz="1600">
                <a:solidFill>
                  <a:schemeClr val="dk1"/>
                </a:solidFill>
                <a:latin typeface="Saira"/>
                <a:ea typeface="Saira"/>
                <a:cs typeface="Saira"/>
                <a:sym typeface="Saira"/>
              </a:rPr>
              <a:t>* </a:t>
            </a:r>
            <a:r>
              <a:rPr lang="es-AR" sz="1600">
                <a:solidFill>
                  <a:srgbClr val="00B050"/>
                </a:solidFill>
                <a:latin typeface="Saira"/>
                <a:ea typeface="Saira"/>
                <a:cs typeface="Saira"/>
                <a:sym typeface="Saira"/>
              </a:rPr>
              <a:t>calloc</a:t>
            </a:r>
            <a:r>
              <a:rPr lang="es-AR" sz="1600">
                <a:solidFill>
                  <a:schemeClr val="dk1"/>
                </a:solidFill>
                <a:latin typeface="Saira"/>
                <a:ea typeface="Saira"/>
                <a:cs typeface="Saira"/>
                <a:sym typeface="Saira"/>
              </a:rPr>
              <a:t>(size_t num_elements, size_t element_size);</a:t>
            </a:r>
            <a:endParaRPr sz="1600">
              <a:solidFill>
                <a:schemeClr val="dk1"/>
              </a:solidFill>
              <a:latin typeface="Saira"/>
              <a:ea typeface="Saira"/>
              <a:cs typeface="Saira"/>
              <a:sym typeface="Saira"/>
            </a:endParaRPr>
          </a:p>
        </p:txBody>
      </p:sp>
      <p:sp>
        <p:nvSpPr>
          <p:cNvPr id="155" name="Google Shape;155;g1f55550cd8a_0_63"/>
          <p:cNvSpPr txBox="1"/>
          <p:nvPr/>
        </p:nvSpPr>
        <p:spPr>
          <a:xfrm>
            <a:off x="474375" y="3722588"/>
            <a:ext cx="8673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solidFill>
                  <a:srgbClr val="0D0D0D"/>
                </a:solidFill>
                <a:highlight>
                  <a:srgbClr val="FFFFFF"/>
                </a:highlight>
                <a:latin typeface="Saira"/>
                <a:ea typeface="Saira"/>
                <a:cs typeface="Saira"/>
                <a:sym typeface="Saira"/>
              </a:rPr>
              <a:t>Argumentos</a:t>
            </a:r>
            <a:r>
              <a:rPr lang="es-AR" sz="1600">
                <a:solidFill>
                  <a:srgbClr val="0D0D0D"/>
                </a:solidFill>
                <a:highlight>
                  <a:srgbClr val="FFFFFF"/>
                </a:highlight>
                <a:latin typeface="Saira"/>
                <a:ea typeface="Saira"/>
                <a:cs typeface="Saira"/>
                <a:sym typeface="Saira"/>
              </a:rPr>
              <a:t>: </a:t>
            </a:r>
            <a:endParaRPr sz="1600">
              <a:solidFill>
                <a:srgbClr val="0D0D0D"/>
              </a:solidFill>
              <a:highlight>
                <a:srgbClr val="FFFFFF"/>
              </a:highlight>
              <a:latin typeface="Saira"/>
              <a:ea typeface="Saira"/>
              <a:cs typeface="Saira"/>
              <a:sym typeface="Saira"/>
            </a:endParaRPr>
          </a:p>
          <a:p>
            <a:pPr indent="0" lvl="0" marL="0" rtl="0" algn="l">
              <a:spcBef>
                <a:spcPts val="0"/>
              </a:spcBef>
              <a:spcAft>
                <a:spcPts val="0"/>
              </a:spcAft>
              <a:buNone/>
            </a:pPr>
            <a:r>
              <a:rPr i="1" lang="es-AR" sz="1600">
                <a:solidFill>
                  <a:srgbClr val="0D0D0D"/>
                </a:solidFill>
                <a:highlight>
                  <a:srgbClr val="FFFFFF"/>
                </a:highlight>
                <a:latin typeface="Saira"/>
                <a:ea typeface="Saira"/>
                <a:cs typeface="Saira"/>
                <a:sym typeface="Saira"/>
              </a:rPr>
              <a:t>num_elements</a:t>
            </a:r>
            <a:r>
              <a:rPr lang="es-AR" sz="1600">
                <a:solidFill>
                  <a:srgbClr val="0D0D0D"/>
                </a:solidFill>
                <a:highlight>
                  <a:srgbClr val="FFFFFF"/>
                </a:highlight>
                <a:latin typeface="Saira"/>
                <a:ea typeface="Saira"/>
                <a:cs typeface="Saira"/>
                <a:sym typeface="Saira"/>
              </a:rPr>
              <a:t>: Número de elementos que se desea asignar.</a:t>
            </a:r>
            <a:endParaRPr sz="1600">
              <a:solidFill>
                <a:srgbClr val="0D0D0D"/>
              </a:solidFill>
              <a:highlight>
                <a:srgbClr val="FFFFFF"/>
              </a:highlight>
              <a:latin typeface="Saira"/>
              <a:ea typeface="Saira"/>
              <a:cs typeface="Saira"/>
              <a:sym typeface="Saira"/>
            </a:endParaRPr>
          </a:p>
          <a:p>
            <a:pPr indent="0" lvl="0" marL="0" rtl="0" algn="l">
              <a:spcBef>
                <a:spcPts val="0"/>
              </a:spcBef>
              <a:spcAft>
                <a:spcPts val="0"/>
              </a:spcAft>
              <a:buNone/>
            </a:pPr>
            <a:r>
              <a:rPr i="1" lang="es-AR" sz="1600">
                <a:solidFill>
                  <a:srgbClr val="0D0D0D"/>
                </a:solidFill>
                <a:highlight>
                  <a:srgbClr val="FFFFFF"/>
                </a:highlight>
                <a:latin typeface="Saira"/>
                <a:ea typeface="Saira"/>
                <a:cs typeface="Saira"/>
                <a:sym typeface="Saira"/>
              </a:rPr>
              <a:t>element_size</a:t>
            </a:r>
            <a:r>
              <a:rPr lang="es-AR" sz="1600">
                <a:solidFill>
                  <a:srgbClr val="0D0D0D"/>
                </a:solidFill>
                <a:highlight>
                  <a:srgbClr val="FFFFFF"/>
                </a:highlight>
                <a:latin typeface="Saira"/>
                <a:ea typeface="Saira"/>
                <a:cs typeface="Saira"/>
                <a:sym typeface="Saira"/>
              </a:rPr>
              <a:t>: Tamaño en bytes de cada elemento.</a:t>
            </a:r>
            <a:endParaRPr sz="1600">
              <a:solidFill>
                <a:srgbClr val="0D0D0D"/>
              </a:solidFill>
              <a:highlight>
                <a:srgbClr val="FFFFFF"/>
              </a:highlight>
              <a:latin typeface="Saira"/>
              <a:ea typeface="Saira"/>
              <a:cs typeface="Saira"/>
              <a:sym typeface="Saira"/>
            </a:endParaRPr>
          </a:p>
        </p:txBody>
      </p:sp>
      <p:sp>
        <p:nvSpPr>
          <p:cNvPr id="156" name="Google Shape;156;g1f55550cd8a_0_63"/>
          <p:cNvSpPr txBox="1"/>
          <p:nvPr/>
        </p:nvSpPr>
        <p:spPr>
          <a:xfrm>
            <a:off x="474375" y="4696938"/>
            <a:ext cx="7752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solidFill>
                  <a:srgbClr val="0D0D0D"/>
                </a:solidFill>
                <a:highlight>
                  <a:srgbClr val="FFFFFF"/>
                </a:highlight>
                <a:latin typeface="Saira"/>
                <a:ea typeface="Saira"/>
                <a:cs typeface="Saira"/>
                <a:sym typeface="Saira"/>
              </a:rPr>
              <a:t>Valor de retorno</a:t>
            </a:r>
            <a:r>
              <a:rPr lang="es-AR" sz="1600">
                <a:solidFill>
                  <a:srgbClr val="0D0D0D"/>
                </a:solidFill>
                <a:highlight>
                  <a:srgbClr val="FFFFFF"/>
                </a:highlight>
                <a:latin typeface="Saira"/>
                <a:ea typeface="Saira"/>
                <a:cs typeface="Saira"/>
                <a:sym typeface="Saira"/>
              </a:rPr>
              <a:t>: Devuelve un puntero void al inicio del bloque de memoria asignado. Si la asignación falla, devuelve NULL.</a:t>
            </a:r>
            <a:endParaRPr sz="1600">
              <a:latin typeface="Saira"/>
              <a:ea typeface="Saira"/>
              <a:cs typeface="Saira"/>
              <a:sym typeface="Saira"/>
            </a:endParaRPr>
          </a:p>
        </p:txBody>
      </p:sp>
      <p:sp>
        <p:nvSpPr>
          <p:cNvPr id="157" name="Google Shape;157;g1f55550cd8a_0_63"/>
          <p:cNvSpPr txBox="1"/>
          <p:nvPr/>
        </p:nvSpPr>
        <p:spPr>
          <a:xfrm>
            <a:off x="474375" y="5324300"/>
            <a:ext cx="7342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solidFill>
                  <a:srgbClr val="0D0D0D"/>
                </a:solidFill>
                <a:highlight>
                  <a:srgbClr val="FFFFFF"/>
                </a:highlight>
                <a:latin typeface="Saira"/>
                <a:ea typeface="Saira"/>
                <a:cs typeface="Saira"/>
                <a:sym typeface="Saira"/>
              </a:rPr>
              <a:t>Uso típico</a:t>
            </a:r>
            <a:r>
              <a:rPr lang="es-AR" sz="1600">
                <a:solidFill>
                  <a:srgbClr val="0D0D0D"/>
                </a:solidFill>
                <a:highlight>
                  <a:srgbClr val="FFFFFF"/>
                </a:highlight>
                <a:latin typeface="Saira"/>
                <a:ea typeface="Saira"/>
                <a:cs typeface="Saira"/>
                <a:sym typeface="Saira"/>
              </a:rPr>
              <a:t>: </a:t>
            </a:r>
            <a:r>
              <a:rPr lang="es-AR" sz="1600">
                <a:solidFill>
                  <a:srgbClr val="0D0D0D"/>
                </a:solidFill>
                <a:highlight>
                  <a:srgbClr val="FFFFFF"/>
                </a:highlight>
                <a:latin typeface="Saira"/>
                <a:ea typeface="Saira"/>
                <a:cs typeface="Saira"/>
                <a:sym typeface="Saira"/>
              </a:rPr>
              <a:t>Por ejemplo, si deseas asignar memoria para un vector de enteros inicializados a 0.</a:t>
            </a:r>
            <a:endParaRPr sz="1600">
              <a:latin typeface="Saira"/>
              <a:ea typeface="Saira"/>
              <a:cs typeface="Saira"/>
              <a:sym typeface="Sair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1f55550cd8a_0_89"/>
          <p:cNvSpPr txBox="1"/>
          <p:nvPr/>
        </p:nvSpPr>
        <p:spPr>
          <a:xfrm>
            <a:off x="319439" y="990221"/>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Memoria Dinámica</a:t>
            </a:r>
            <a:endParaRPr b="0" i="0" sz="3600" u="none" cap="none" strike="noStrike">
              <a:solidFill>
                <a:schemeClr val="dk1"/>
              </a:solidFill>
              <a:latin typeface="Saira"/>
              <a:ea typeface="Saira"/>
              <a:cs typeface="Saira"/>
              <a:sym typeface="Saira"/>
            </a:endParaRPr>
          </a:p>
        </p:txBody>
      </p:sp>
      <p:pic>
        <p:nvPicPr>
          <p:cNvPr id="163" name="Google Shape;163;g1f55550cd8a_0_89"/>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164" name="Google Shape;164;g1f55550cd8a_0_89"/>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65" name="Google Shape;165;g1f55550cd8a_0_89"/>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66" name="Google Shape;166;g1f55550cd8a_0_89"/>
          <p:cNvSpPr txBox="1"/>
          <p:nvPr/>
        </p:nvSpPr>
        <p:spPr>
          <a:xfrm>
            <a:off x="383950" y="1760700"/>
            <a:ext cx="8343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500"/>
              </a:spcAft>
              <a:buNone/>
            </a:pPr>
            <a:r>
              <a:rPr lang="es-AR" sz="2400">
                <a:solidFill>
                  <a:srgbClr val="00B050"/>
                </a:solidFill>
                <a:highlight>
                  <a:srgbClr val="FFFFFF"/>
                </a:highlight>
                <a:latin typeface="Saira SemiBold"/>
                <a:ea typeface="Saira SemiBold"/>
                <a:cs typeface="Saira SemiBold"/>
                <a:sym typeface="Saira SemiBold"/>
              </a:rPr>
              <a:t>calloc</a:t>
            </a:r>
            <a:r>
              <a:rPr lang="es-AR" sz="2400">
                <a:highlight>
                  <a:srgbClr val="FFFFFF"/>
                </a:highlight>
                <a:latin typeface="Saira SemiBold"/>
                <a:ea typeface="Saira SemiBold"/>
                <a:cs typeface="Saira SemiBold"/>
                <a:sym typeface="Saira SemiBold"/>
              </a:rPr>
              <a:t>( )</a:t>
            </a:r>
            <a:endParaRPr sz="2400">
              <a:latin typeface="Saira"/>
              <a:ea typeface="Saira"/>
              <a:cs typeface="Saira"/>
              <a:sym typeface="Saira"/>
            </a:endParaRPr>
          </a:p>
        </p:txBody>
      </p:sp>
      <p:sp>
        <p:nvSpPr>
          <p:cNvPr id="167" name="Google Shape;167;g1f55550cd8a_0_89"/>
          <p:cNvSpPr txBox="1"/>
          <p:nvPr/>
        </p:nvSpPr>
        <p:spPr>
          <a:xfrm>
            <a:off x="383950" y="2371950"/>
            <a:ext cx="59403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400">
                <a:solidFill>
                  <a:srgbClr val="0D0D0D"/>
                </a:solidFill>
                <a:highlight>
                  <a:srgbClr val="FFFFFF"/>
                </a:highlight>
                <a:latin typeface="Saira"/>
                <a:ea typeface="Saira"/>
                <a:cs typeface="Saira"/>
                <a:sym typeface="Saira"/>
              </a:rPr>
              <a:t>ejemplo: </a:t>
            </a:r>
            <a:endParaRPr sz="2400">
              <a:solidFill>
                <a:srgbClr val="0D0D0D"/>
              </a:solidFill>
              <a:highlight>
                <a:srgbClr val="FFFFFF"/>
              </a:highlight>
              <a:latin typeface="Saira"/>
              <a:ea typeface="Saira"/>
              <a:cs typeface="Saira"/>
              <a:sym typeface="Saira"/>
            </a:endParaRPr>
          </a:p>
          <a:p>
            <a:pPr indent="0" lvl="0" marL="0" rtl="0" algn="l">
              <a:spcBef>
                <a:spcPts val="0"/>
              </a:spcBef>
              <a:spcAft>
                <a:spcPts val="0"/>
              </a:spcAft>
              <a:buNone/>
            </a:pPr>
            <a:r>
              <a:rPr lang="es-AR" sz="2400">
                <a:solidFill>
                  <a:srgbClr val="FF0000"/>
                </a:solidFill>
                <a:latin typeface="Saira"/>
                <a:ea typeface="Saira"/>
                <a:cs typeface="Saira"/>
                <a:sym typeface="Saira"/>
              </a:rPr>
              <a:t>int </a:t>
            </a:r>
            <a:r>
              <a:rPr lang="es-AR" sz="2400">
                <a:solidFill>
                  <a:srgbClr val="0D0D0D"/>
                </a:solidFill>
                <a:latin typeface="Saira"/>
                <a:ea typeface="Saira"/>
                <a:cs typeface="Saira"/>
                <a:sym typeface="Saira"/>
              </a:rPr>
              <a:t>*ptr;</a:t>
            </a:r>
            <a:endParaRPr sz="2400">
              <a:solidFill>
                <a:srgbClr val="0D0D0D"/>
              </a:solidFill>
              <a:latin typeface="Saira"/>
              <a:ea typeface="Saira"/>
              <a:cs typeface="Saira"/>
              <a:sym typeface="Saira"/>
            </a:endParaRPr>
          </a:p>
          <a:p>
            <a:pPr indent="0" lvl="0" marL="0" rtl="0" algn="l">
              <a:spcBef>
                <a:spcPts val="0"/>
              </a:spcBef>
              <a:spcAft>
                <a:spcPts val="0"/>
              </a:spcAft>
              <a:buNone/>
            </a:pPr>
            <a:r>
              <a:rPr lang="es-AR" sz="2400">
                <a:solidFill>
                  <a:srgbClr val="0D0D0D"/>
                </a:solidFill>
                <a:latin typeface="Saira"/>
                <a:ea typeface="Saira"/>
                <a:cs typeface="Saira"/>
                <a:sym typeface="Saira"/>
              </a:rPr>
              <a:t>ptr = (</a:t>
            </a:r>
            <a:r>
              <a:rPr lang="es-AR" sz="2400">
                <a:solidFill>
                  <a:srgbClr val="FF0000"/>
                </a:solidFill>
                <a:latin typeface="Saira"/>
                <a:ea typeface="Saira"/>
                <a:cs typeface="Saira"/>
                <a:sym typeface="Saira"/>
              </a:rPr>
              <a:t>int</a:t>
            </a:r>
            <a:r>
              <a:rPr lang="es-AR" sz="2400">
                <a:solidFill>
                  <a:srgbClr val="0D0D0D"/>
                </a:solidFill>
                <a:latin typeface="Saira"/>
                <a:ea typeface="Saira"/>
                <a:cs typeface="Saira"/>
                <a:sym typeface="Saira"/>
              </a:rPr>
              <a:t> *)</a:t>
            </a:r>
            <a:r>
              <a:rPr lang="es-AR" sz="2400">
                <a:solidFill>
                  <a:srgbClr val="00B050"/>
                </a:solidFill>
                <a:latin typeface="Saira"/>
                <a:ea typeface="Saira"/>
                <a:cs typeface="Saira"/>
                <a:sym typeface="Saira"/>
              </a:rPr>
              <a:t>calloc</a:t>
            </a:r>
            <a:r>
              <a:rPr lang="es-AR" sz="2400">
                <a:solidFill>
                  <a:srgbClr val="0D0D0D"/>
                </a:solidFill>
                <a:latin typeface="Saira"/>
                <a:ea typeface="Saira"/>
                <a:cs typeface="Saira"/>
                <a:sym typeface="Saira"/>
              </a:rPr>
              <a:t>(5, </a:t>
            </a:r>
            <a:r>
              <a:rPr lang="es-AR" sz="2400">
                <a:solidFill>
                  <a:srgbClr val="0000FF"/>
                </a:solidFill>
                <a:latin typeface="Saira"/>
                <a:ea typeface="Saira"/>
                <a:cs typeface="Saira"/>
                <a:sym typeface="Saira"/>
              </a:rPr>
              <a:t>sizeof</a:t>
            </a:r>
            <a:r>
              <a:rPr lang="es-AR" sz="2400">
                <a:solidFill>
                  <a:srgbClr val="0D0D0D"/>
                </a:solidFill>
                <a:latin typeface="Saira"/>
                <a:ea typeface="Saira"/>
                <a:cs typeface="Saira"/>
                <a:sym typeface="Saira"/>
              </a:rPr>
              <a:t>(</a:t>
            </a:r>
            <a:r>
              <a:rPr lang="es-AR" sz="2400">
                <a:solidFill>
                  <a:srgbClr val="FF0000"/>
                </a:solidFill>
                <a:latin typeface="Saira"/>
                <a:ea typeface="Saira"/>
                <a:cs typeface="Saira"/>
                <a:sym typeface="Saira"/>
              </a:rPr>
              <a:t>int</a:t>
            </a:r>
            <a:r>
              <a:rPr lang="es-AR" sz="2400">
                <a:solidFill>
                  <a:srgbClr val="0D0D0D"/>
                </a:solidFill>
                <a:latin typeface="Saira"/>
                <a:ea typeface="Saira"/>
                <a:cs typeface="Saira"/>
                <a:sym typeface="Saira"/>
              </a:rPr>
              <a:t>));</a:t>
            </a:r>
            <a:endParaRPr sz="2400">
              <a:solidFill>
                <a:srgbClr val="0D0D0D"/>
              </a:solidFill>
              <a:latin typeface="Saira"/>
              <a:ea typeface="Saira"/>
              <a:cs typeface="Saira"/>
              <a:sym typeface="Saira"/>
            </a:endParaRPr>
          </a:p>
          <a:p>
            <a:pPr indent="0" lvl="0" marL="0" rtl="0" algn="l">
              <a:spcBef>
                <a:spcPts val="0"/>
              </a:spcBef>
              <a:spcAft>
                <a:spcPts val="0"/>
              </a:spcAft>
              <a:buNone/>
            </a:pPr>
            <a:r>
              <a:t/>
            </a:r>
            <a:endParaRPr sz="2400">
              <a:latin typeface="Saira"/>
              <a:ea typeface="Saira"/>
              <a:cs typeface="Saira"/>
              <a:sym typeface="Saira"/>
            </a:endParaRPr>
          </a:p>
          <a:p>
            <a:pPr indent="0" lvl="0" marL="0" rtl="0" algn="l">
              <a:spcBef>
                <a:spcPts val="0"/>
              </a:spcBef>
              <a:spcAft>
                <a:spcPts val="0"/>
              </a:spcAft>
              <a:buNone/>
            </a:pPr>
            <a:r>
              <a:t/>
            </a:r>
            <a:endParaRPr sz="2400">
              <a:latin typeface="Saira"/>
              <a:ea typeface="Saira"/>
              <a:cs typeface="Saira"/>
              <a:sym typeface="Saira"/>
            </a:endParaRPr>
          </a:p>
        </p:txBody>
      </p:sp>
      <p:sp>
        <p:nvSpPr>
          <p:cNvPr id="168" name="Google Shape;168;g1f55550cd8a_0_89"/>
          <p:cNvSpPr txBox="1"/>
          <p:nvPr/>
        </p:nvSpPr>
        <p:spPr>
          <a:xfrm>
            <a:off x="383950" y="3691975"/>
            <a:ext cx="10694400" cy="149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solidFill>
                  <a:srgbClr val="0D0D0D"/>
                </a:solidFill>
                <a:highlight>
                  <a:srgbClr val="FFFFFF"/>
                </a:highlight>
                <a:latin typeface="Saira"/>
                <a:ea typeface="Saira"/>
                <a:cs typeface="Saira"/>
                <a:sym typeface="Saira"/>
              </a:rPr>
              <a:t>Consideraciones</a:t>
            </a:r>
            <a:r>
              <a:rPr lang="es-AR" sz="1600">
                <a:solidFill>
                  <a:srgbClr val="0D0D0D"/>
                </a:solidFill>
                <a:highlight>
                  <a:srgbClr val="FFFFFF"/>
                </a:highlight>
                <a:latin typeface="Saira"/>
                <a:ea typeface="Saira"/>
                <a:cs typeface="Saira"/>
                <a:sym typeface="Saira"/>
              </a:rPr>
              <a:t>:</a:t>
            </a:r>
            <a:endParaRPr sz="1600">
              <a:solidFill>
                <a:srgbClr val="0D0D0D"/>
              </a:solidFill>
              <a:highlight>
                <a:srgbClr val="FFFFFF"/>
              </a:highlight>
              <a:latin typeface="Saira"/>
              <a:ea typeface="Saira"/>
              <a:cs typeface="Saira"/>
              <a:sym typeface="Saira"/>
            </a:endParaRPr>
          </a:p>
          <a:p>
            <a:pPr indent="0" lvl="0" marL="0" rtl="0" algn="l">
              <a:spcBef>
                <a:spcPts val="0"/>
              </a:spcBef>
              <a:spcAft>
                <a:spcPts val="0"/>
              </a:spcAft>
              <a:buNone/>
            </a:pPr>
            <a:r>
              <a:t/>
            </a:r>
            <a:endParaRPr sz="1600">
              <a:solidFill>
                <a:srgbClr val="0D0D0D"/>
              </a:solidFill>
              <a:highlight>
                <a:srgbClr val="FFFFFF"/>
              </a:highlight>
              <a:latin typeface="Saira"/>
              <a:ea typeface="Saira"/>
              <a:cs typeface="Saira"/>
              <a:sym typeface="Saira"/>
            </a:endParaRPr>
          </a:p>
          <a:p>
            <a:pPr indent="-317500" lvl="0" marL="457200" rtl="0" algn="l">
              <a:lnSpc>
                <a:spcPct val="115000"/>
              </a:lnSpc>
              <a:spcBef>
                <a:spcPts val="0"/>
              </a:spcBef>
              <a:spcAft>
                <a:spcPts val="0"/>
              </a:spcAft>
              <a:buClr>
                <a:srgbClr val="0D0D0D"/>
              </a:buClr>
              <a:buSzPts val="1400"/>
              <a:buFont typeface="Roboto"/>
              <a:buChar char="●"/>
            </a:pPr>
            <a:r>
              <a:rPr lang="es-AR" sz="1600">
                <a:solidFill>
                  <a:srgbClr val="0D0D0D"/>
                </a:solidFill>
                <a:highlight>
                  <a:srgbClr val="FFFFFF"/>
                </a:highlight>
                <a:latin typeface="Saira"/>
                <a:ea typeface="Saira"/>
                <a:cs typeface="Saira"/>
                <a:sym typeface="Saira"/>
              </a:rPr>
              <a:t>A diferencia de </a:t>
            </a:r>
            <a:r>
              <a:rPr lang="es-AR" sz="1600">
                <a:solidFill>
                  <a:srgbClr val="FF0000"/>
                </a:solidFill>
                <a:highlight>
                  <a:srgbClr val="FFFFFF"/>
                </a:highlight>
                <a:latin typeface="Saira"/>
                <a:ea typeface="Saira"/>
                <a:cs typeface="Saira"/>
                <a:sym typeface="Saira"/>
              </a:rPr>
              <a:t>malloc</a:t>
            </a:r>
            <a:r>
              <a:rPr lang="es-AR" sz="1600">
                <a:solidFill>
                  <a:srgbClr val="0D0D0D"/>
                </a:solidFill>
                <a:highlight>
                  <a:srgbClr val="FFFFFF"/>
                </a:highlight>
                <a:latin typeface="Saira"/>
                <a:ea typeface="Saira"/>
                <a:cs typeface="Saira"/>
                <a:sym typeface="Saira"/>
              </a:rPr>
              <a:t>(), </a:t>
            </a:r>
            <a:r>
              <a:rPr lang="es-AR" sz="1600">
                <a:solidFill>
                  <a:srgbClr val="00B050"/>
                </a:solidFill>
                <a:highlight>
                  <a:srgbClr val="FFFFFF"/>
                </a:highlight>
                <a:latin typeface="Saira"/>
                <a:ea typeface="Saira"/>
                <a:cs typeface="Saira"/>
                <a:sym typeface="Saira"/>
              </a:rPr>
              <a:t>calloc</a:t>
            </a:r>
            <a:r>
              <a:rPr lang="es-AR" sz="1600">
                <a:solidFill>
                  <a:srgbClr val="0D0D0D"/>
                </a:solidFill>
                <a:highlight>
                  <a:srgbClr val="FFFFFF"/>
                </a:highlight>
                <a:latin typeface="Saira"/>
                <a:ea typeface="Saira"/>
                <a:cs typeface="Saira"/>
                <a:sym typeface="Saira"/>
              </a:rPr>
              <a:t>() inicializa toda la memoria asignada a 0.</a:t>
            </a:r>
            <a:endParaRPr sz="1600">
              <a:solidFill>
                <a:srgbClr val="0D0D0D"/>
              </a:solidFill>
              <a:highlight>
                <a:srgbClr val="FFFFFF"/>
              </a:highlight>
              <a:latin typeface="Saira"/>
              <a:ea typeface="Saira"/>
              <a:cs typeface="Saira"/>
              <a:sym typeface="Saira"/>
            </a:endParaRPr>
          </a:p>
          <a:p>
            <a:pPr indent="-317500" lvl="0" marL="457200" rtl="0" algn="l">
              <a:lnSpc>
                <a:spcPct val="115000"/>
              </a:lnSpc>
              <a:spcBef>
                <a:spcPts val="0"/>
              </a:spcBef>
              <a:spcAft>
                <a:spcPts val="0"/>
              </a:spcAft>
              <a:buClr>
                <a:srgbClr val="0D0D0D"/>
              </a:buClr>
              <a:buSzPts val="1400"/>
              <a:buFont typeface="Roboto"/>
              <a:buChar char="●"/>
            </a:pPr>
            <a:r>
              <a:rPr lang="es-AR" sz="1600">
                <a:solidFill>
                  <a:srgbClr val="0D0D0D"/>
                </a:solidFill>
                <a:highlight>
                  <a:srgbClr val="FFFFFF"/>
                </a:highlight>
                <a:latin typeface="Saira"/>
                <a:ea typeface="Saira"/>
                <a:cs typeface="Saira"/>
                <a:sym typeface="Saira"/>
              </a:rPr>
              <a:t>Al igual que con </a:t>
            </a:r>
            <a:r>
              <a:rPr lang="es-AR" sz="1600">
                <a:solidFill>
                  <a:srgbClr val="FF0000"/>
                </a:solidFill>
                <a:highlight>
                  <a:srgbClr val="FFFFFF"/>
                </a:highlight>
                <a:latin typeface="Saira"/>
                <a:ea typeface="Saira"/>
                <a:cs typeface="Saira"/>
                <a:sym typeface="Saira"/>
              </a:rPr>
              <a:t>malloc</a:t>
            </a:r>
            <a:r>
              <a:rPr lang="es-AR" sz="1600">
                <a:solidFill>
                  <a:srgbClr val="0D0D0D"/>
                </a:solidFill>
                <a:highlight>
                  <a:srgbClr val="FFFFFF"/>
                </a:highlight>
                <a:latin typeface="Saira"/>
                <a:ea typeface="Saira"/>
                <a:cs typeface="Saira"/>
                <a:sym typeface="Saira"/>
              </a:rPr>
              <a:t>(), se debe verificar si el puntero devuelto por </a:t>
            </a:r>
            <a:r>
              <a:rPr lang="es-AR" sz="1600">
                <a:solidFill>
                  <a:srgbClr val="00B050"/>
                </a:solidFill>
                <a:highlight>
                  <a:srgbClr val="FFFFFF"/>
                </a:highlight>
                <a:latin typeface="Saira"/>
                <a:ea typeface="Saira"/>
                <a:cs typeface="Saira"/>
                <a:sym typeface="Saira"/>
              </a:rPr>
              <a:t>calloc</a:t>
            </a:r>
            <a:r>
              <a:rPr lang="es-AR" sz="1600">
                <a:solidFill>
                  <a:srgbClr val="0D0D0D"/>
                </a:solidFill>
                <a:highlight>
                  <a:srgbClr val="FFFFFF"/>
                </a:highlight>
                <a:latin typeface="Saira"/>
                <a:ea typeface="Saira"/>
                <a:cs typeface="Saira"/>
                <a:sym typeface="Saira"/>
              </a:rPr>
              <a:t>() es </a:t>
            </a:r>
            <a:r>
              <a:rPr lang="es-AR" sz="1600">
                <a:solidFill>
                  <a:srgbClr val="0000FF"/>
                </a:solidFill>
                <a:highlight>
                  <a:srgbClr val="FFFFFF"/>
                </a:highlight>
                <a:latin typeface="Saira"/>
                <a:ea typeface="Saira"/>
                <a:cs typeface="Saira"/>
                <a:sym typeface="Saira"/>
              </a:rPr>
              <a:t>NULL </a:t>
            </a:r>
            <a:r>
              <a:rPr lang="es-AR" sz="1600">
                <a:solidFill>
                  <a:srgbClr val="0D0D0D"/>
                </a:solidFill>
                <a:highlight>
                  <a:srgbClr val="FFFFFF"/>
                </a:highlight>
                <a:latin typeface="Saira"/>
                <a:ea typeface="Saira"/>
                <a:cs typeface="Saira"/>
                <a:sym typeface="Saira"/>
              </a:rPr>
              <a:t>para asegurarte de que la asignación de memoria fue exitosa.</a:t>
            </a:r>
            <a:endParaRPr sz="1600">
              <a:solidFill>
                <a:srgbClr val="0D0D0D"/>
              </a:solidFill>
              <a:highlight>
                <a:srgbClr val="FFFFFF"/>
              </a:highlight>
              <a:latin typeface="Saira"/>
              <a:ea typeface="Saira"/>
              <a:cs typeface="Saira"/>
              <a:sym typeface="Sair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1f55550cd8a_0_99"/>
          <p:cNvSpPr txBox="1"/>
          <p:nvPr/>
        </p:nvSpPr>
        <p:spPr>
          <a:xfrm>
            <a:off x="319439" y="990221"/>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Memoria Dinámica</a:t>
            </a:r>
            <a:endParaRPr b="0" i="0" sz="3600" u="none" cap="none" strike="noStrike">
              <a:solidFill>
                <a:schemeClr val="dk1"/>
              </a:solidFill>
              <a:latin typeface="Saira"/>
              <a:ea typeface="Saira"/>
              <a:cs typeface="Saira"/>
              <a:sym typeface="Saira"/>
            </a:endParaRPr>
          </a:p>
        </p:txBody>
      </p:sp>
      <p:pic>
        <p:nvPicPr>
          <p:cNvPr id="174" name="Google Shape;174;g1f55550cd8a_0_99"/>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175" name="Google Shape;175;g1f55550cd8a_0_99"/>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76" name="Google Shape;176;g1f55550cd8a_0_99"/>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77" name="Google Shape;177;g1f55550cd8a_0_99"/>
          <p:cNvSpPr txBox="1"/>
          <p:nvPr/>
        </p:nvSpPr>
        <p:spPr>
          <a:xfrm>
            <a:off x="383950" y="1760700"/>
            <a:ext cx="8343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500"/>
              </a:spcAft>
              <a:buNone/>
            </a:pPr>
            <a:r>
              <a:rPr lang="es-AR" sz="2400">
                <a:solidFill>
                  <a:srgbClr val="0000FF"/>
                </a:solidFill>
                <a:highlight>
                  <a:srgbClr val="FFFFFF"/>
                </a:highlight>
                <a:latin typeface="Saira SemiBold"/>
                <a:ea typeface="Saira SemiBold"/>
                <a:cs typeface="Saira SemiBold"/>
                <a:sym typeface="Saira SemiBold"/>
              </a:rPr>
              <a:t>realloc</a:t>
            </a:r>
            <a:r>
              <a:rPr lang="es-AR" sz="2400">
                <a:highlight>
                  <a:srgbClr val="FFFFFF"/>
                </a:highlight>
                <a:latin typeface="Saira SemiBold"/>
                <a:ea typeface="Saira SemiBold"/>
                <a:cs typeface="Saira SemiBold"/>
                <a:sym typeface="Saira SemiBold"/>
              </a:rPr>
              <a:t>( )</a:t>
            </a:r>
            <a:endParaRPr sz="2400">
              <a:latin typeface="Saira"/>
              <a:ea typeface="Saira"/>
              <a:cs typeface="Saira"/>
              <a:sym typeface="Saira"/>
            </a:endParaRPr>
          </a:p>
        </p:txBody>
      </p:sp>
      <p:sp>
        <p:nvSpPr>
          <p:cNvPr id="178" name="Google Shape;178;g1f55550cd8a_0_99"/>
          <p:cNvSpPr txBox="1"/>
          <p:nvPr/>
        </p:nvSpPr>
        <p:spPr>
          <a:xfrm>
            <a:off x="383950" y="2438775"/>
            <a:ext cx="98052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800">
                <a:solidFill>
                  <a:srgbClr val="0D0D0D"/>
                </a:solidFill>
                <a:highlight>
                  <a:srgbClr val="FFFFFF"/>
                </a:highlight>
                <a:latin typeface="Saira"/>
                <a:ea typeface="Saira"/>
                <a:cs typeface="Saira"/>
                <a:sym typeface="Saira"/>
              </a:rPr>
              <a:t>La función </a:t>
            </a:r>
            <a:r>
              <a:rPr lang="es-AR" sz="1800">
                <a:solidFill>
                  <a:srgbClr val="0000FF"/>
                </a:solidFill>
                <a:highlight>
                  <a:srgbClr val="FFFFFF"/>
                </a:highlight>
                <a:latin typeface="Saira"/>
                <a:ea typeface="Saira"/>
                <a:cs typeface="Saira"/>
                <a:sym typeface="Saira"/>
              </a:rPr>
              <a:t>realloc</a:t>
            </a:r>
            <a:r>
              <a:rPr lang="es-AR" sz="1800">
                <a:solidFill>
                  <a:srgbClr val="0D0D0D"/>
                </a:solidFill>
                <a:highlight>
                  <a:srgbClr val="FFFFFF"/>
                </a:highlight>
                <a:latin typeface="Saira"/>
                <a:ea typeface="Saira"/>
                <a:cs typeface="Saira"/>
                <a:sym typeface="Saira"/>
              </a:rPr>
              <a:t>() se utiliza para cambiar el tamaño de un bloque de memoria previamente asignado. Puede aumentar o disminuir el tamaño del bloque de memoria.</a:t>
            </a:r>
            <a:endParaRPr sz="1800">
              <a:solidFill>
                <a:srgbClr val="0D0D0D"/>
              </a:solidFill>
              <a:highlight>
                <a:srgbClr val="FFFFFF"/>
              </a:highlight>
              <a:latin typeface="Saira"/>
              <a:ea typeface="Saira"/>
              <a:cs typeface="Saira"/>
              <a:sym typeface="Saira"/>
            </a:endParaRPr>
          </a:p>
          <a:p>
            <a:pPr indent="0" lvl="0" marL="0" rtl="0" algn="l">
              <a:spcBef>
                <a:spcPts val="0"/>
              </a:spcBef>
              <a:spcAft>
                <a:spcPts val="0"/>
              </a:spcAft>
              <a:buNone/>
            </a:pPr>
            <a:r>
              <a:t/>
            </a:r>
            <a:endParaRPr sz="1800">
              <a:solidFill>
                <a:srgbClr val="0D0D0D"/>
              </a:solidFill>
              <a:highlight>
                <a:srgbClr val="FFFFFF"/>
              </a:highlight>
              <a:latin typeface="Saira"/>
              <a:ea typeface="Saira"/>
              <a:cs typeface="Saira"/>
              <a:sym typeface="Saira"/>
            </a:endParaRPr>
          </a:p>
        </p:txBody>
      </p:sp>
      <p:sp>
        <p:nvSpPr>
          <p:cNvPr id="179" name="Google Shape;179;g1f55550cd8a_0_99"/>
          <p:cNvSpPr txBox="1"/>
          <p:nvPr/>
        </p:nvSpPr>
        <p:spPr>
          <a:xfrm>
            <a:off x="474375" y="3301650"/>
            <a:ext cx="7208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latin typeface="Saira"/>
                <a:ea typeface="Saira"/>
                <a:cs typeface="Saira"/>
                <a:sym typeface="Saira"/>
              </a:rPr>
              <a:t>Sintaxis</a:t>
            </a:r>
            <a:r>
              <a:rPr lang="es-AR" sz="1600">
                <a:latin typeface="Saira"/>
                <a:ea typeface="Saira"/>
                <a:cs typeface="Saira"/>
                <a:sym typeface="Saira"/>
              </a:rPr>
              <a:t>: </a:t>
            </a:r>
            <a:r>
              <a:rPr lang="es-AR" sz="1600">
                <a:solidFill>
                  <a:srgbClr val="FF0000"/>
                </a:solidFill>
                <a:latin typeface="Saira"/>
                <a:ea typeface="Saira"/>
                <a:cs typeface="Saira"/>
                <a:sym typeface="Saira"/>
              </a:rPr>
              <a:t>void</a:t>
            </a:r>
            <a:r>
              <a:rPr lang="es-AR" sz="1600">
                <a:solidFill>
                  <a:schemeClr val="dk1"/>
                </a:solidFill>
                <a:latin typeface="Saira"/>
                <a:ea typeface="Saira"/>
                <a:cs typeface="Saira"/>
                <a:sym typeface="Saira"/>
              </a:rPr>
              <a:t>* </a:t>
            </a:r>
            <a:r>
              <a:rPr lang="es-AR" sz="1600">
                <a:solidFill>
                  <a:srgbClr val="0000FF"/>
                </a:solidFill>
                <a:latin typeface="Saira"/>
                <a:ea typeface="Saira"/>
                <a:cs typeface="Saira"/>
                <a:sym typeface="Saira"/>
              </a:rPr>
              <a:t>realloc</a:t>
            </a:r>
            <a:r>
              <a:rPr lang="es-AR" sz="1600">
                <a:solidFill>
                  <a:schemeClr val="dk1"/>
                </a:solidFill>
                <a:latin typeface="Saira"/>
                <a:ea typeface="Saira"/>
                <a:cs typeface="Saira"/>
                <a:sym typeface="Saira"/>
              </a:rPr>
              <a:t>(</a:t>
            </a:r>
            <a:r>
              <a:rPr lang="es-AR" sz="1600">
                <a:solidFill>
                  <a:srgbClr val="FF0000"/>
                </a:solidFill>
                <a:latin typeface="Saira"/>
                <a:ea typeface="Saira"/>
                <a:cs typeface="Saira"/>
                <a:sym typeface="Saira"/>
              </a:rPr>
              <a:t>void</a:t>
            </a:r>
            <a:r>
              <a:rPr lang="es-AR" sz="1600">
                <a:solidFill>
                  <a:schemeClr val="dk1"/>
                </a:solidFill>
                <a:latin typeface="Saira"/>
                <a:ea typeface="Saira"/>
                <a:cs typeface="Saira"/>
                <a:sym typeface="Saira"/>
              </a:rPr>
              <a:t>* ptr, size_t size);</a:t>
            </a:r>
            <a:endParaRPr sz="1600">
              <a:solidFill>
                <a:schemeClr val="dk1"/>
              </a:solidFill>
              <a:latin typeface="Saira"/>
              <a:ea typeface="Saira"/>
              <a:cs typeface="Saira"/>
              <a:sym typeface="Saira"/>
            </a:endParaRPr>
          </a:p>
        </p:txBody>
      </p:sp>
      <p:sp>
        <p:nvSpPr>
          <p:cNvPr id="180" name="Google Shape;180;g1f55550cd8a_0_99"/>
          <p:cNvSpPr txBox="1"/>
          <p:nvPr/>
        </p:nvSpPr>
        <p:spPr>
          <a:xfrm>
            <a:off x="474375" y="3722588"/>
            <a:ext cx="8673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solidFill>
                  <a:srgbClr val="0D0D0D"/>
                </a:solidFill>
                <a:highlight>
                  <a:srgbClr val="FFFFFF"/>
                </a:highlight>
                <a:latin typeface="Saira"/>
                <a:ea typeface="Saira"/>
                <a:cs typeface="Saira"/>
                <a:sym typeface="Saira"/>
              </a:rPr>
              <a:t>Argumentos</a:t>
            </a:r>
            <a:r>
              <a:rPr lang="es-AR" sz="1600">
                <a:solidFill>
                  <a:srgbClr val="0D0D0D"/>
                </a:solidFill>
                <a:highlight>
                  <a:srgbClr val="FFFFFF"/>
                </a:highlight>
                <a:latin typeface="Saira"/>
                <a:ea typeface="Saira"/>
                <a:cs typeface="Saira"/>
                <a:sym typeface="Saira"/>
              </a:rPr>
              <a:t>: </a:t>
            </a:r>
            <a:endParaRPr sz="1600">
              <a:solidFill>
                <a:srgbClr val="0D0D0D"/>
              </a:solidFill>
              <a:highlight>
                <a:srgbClr val="FFFFFF"/>
              </a:highlight>
              <a:latin typeface="Saira"/>
              <a:ea typeface="Saira"/>
              <a:cs typeface="Saira"/>
              <a:sym typeface="Saira"/>
            </a:endParaRPr>
          </a:p>
          <a:p>
            <a:pPr indent="0" lvl="0" marL="0" rtl="0" algn="l">
              <a:spcBef>
                <a:spcPts val="0"/>
              </a:spcBef>
              <a:spcAft>
                <a:spcPts val="0"/>
              </a:spcAft>
              <a:buNone/>
            </a:pPr>
            <a:r>
              <a:rPr i="1" lang="es-AR" sz="1600">
                <a:solidFill>
                  <a:srgbClr val="0D0D0D"/>
                </a:solidFill>
                <a:highlight>
                  <a:srgbClr val="FFFFFF"/>
                </a:highlight>
                <a:latin typeface="Saira"/>
                <a:ea typeface="Saira"/>
                <a:cs typeface="Saira"/>
                <a:sym typeface="Saira"/>
              </a:rPr>
              <a:t>ptr: </a:t>
            </a:r>
            <a:r>
              <a:rPr lang="es-AR" sz="1600">
                <a:solidFill>
                  <a:srgbClr val="0D0D0D"/>
                </a:solidFill>
                <a:highlight>
                  <a:srgbClr val="FFFFFF"/>
                </a:highlight>
                <a:latin typeface="Saira"/>
                <a:ea typeface="Saira"/>
                <a:cs typeface="Saira"/>
                <a:sym typeface="Saira"/>
              </a:rPr>
              <a:t>Puntero al bloque de memoria previamente asignado que se desea redimensionar.</a:t>
            </a:r>
            <a:endParaRPr sz="1600">
              <a:solidFill>
                <a:srgbClr val="0D0D0D"/>
              </a:solidFill>
              <a:highlight>
                <a:srgbClr val="FFFFFF"/>
              </a:highlight>
              <a:latin typeface="Saira"/>
              <a:ea typeface="Saira"/>
              <a:cs typeface="Saira"/>
              <a:sym typeface="Saira"/>
            </a:endParaRPr>
          </a:p>
          <a:p>
            <a:pPr indent="0" lvl="0" marL="0" rtl="0" algn="l">
              <a:spcBef>
                <a:spcPts val="0"/>
              </a:spcBef>
              <a:spcAft>
                <a:spcPts val="0"/>
              </a:spcAft>
              <a:buNone/>
            </a:pPr>
            <a:r>
              <a:rPr i="1" lang="es-AR" sz="1600">
                <a:solidFill>
                  <a:srgbClr val="0D0D0D"/>
                </a:solidFill>
                <a:highlight>
                  <a:srgbClr val="FFFFFF"/>
                </a:highlight>
                <a:latin typeface="Saira"/>
                <a:ea typeface="Saira"/>
                <a:cs typeface="Saira"/>
                <a:sym typeface="Saira"/>
              </a:rPr>
              <a:t>size: </a:t>
            </a:r>
            <a:r>
              <a:rPr lang="es-AR" sz="1600">
                <a:solidFill>
                  <a:srgbClr val="0D0D0D"/>
                </a:solidFill>
                <a:highlight>
                  <a:srgbClr val="FFFFFF"/>
                </a:highlight>
                <a:latin typeface="Saira"/>
                <a:ea typeface="Saira"/>
                <a:cs typeface="Saira"/>
                <a:sym typeface="Saira"/>
              </a:rPr>
              <a:t>Nuevo tamaño en bytes que se desea asignar al bloque de memoria.</a:t>
            </a:r>
            <a:endParaRPr sz="1600">
              <a:solidFill>
                <a:srgbClr val="0D0D0D"/>
              </a:solidFill>
              <a:highlight>
                <a:srgbClr val="FFFFFF"/>
              </a:highlight>
              <a:latin typeface="Saira"/>
              <a:ea typeface="Saira"/>
              <a:cs typeface="Saira"/>
              <a:sym typeface="Saira"/>
            </a:endParaRPr>
          </a:p>
        </p:txBody>
      </p:sp>
      <p:sp>
        <p:nvSpPr>
          <p:cNvPr id="181" name="Google Shape;181;g1f55550cd8a_0_99"/>
          <p:cNvSpPr txBox="1"/>
          <p:nvPr/>
        </p:nvSpPr>
        <p:spPr>
          <a:xfrm>
            <a:off x="474375" y="4696950"/>
            <a:ext cx="8807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solidFill>
                  <a:srgbClr val="0D0D0D"/>
                </a:solidFill>
                <a:highlight>
                  <a:srgbClr val="FFFFFF"/>
                </a:highlight>
                <a:latin typeface="Saira"/>
                <a:ea typeface="Saira"/>
                <a:cs typeface="Saira"/>
                <a:sym typeface="Saira"/>
              </a:rPr>
              <a:t>Valor de retorno</a:t>
            </a:r>
            <a:r>
              <a:rPr lang="es-AR" sz="1600">
                <a:solidFill>
                  <a:srgbClr val="0D0D0D"/>
                </a:solidFill>
                <a:highlight>
                  <a:srgbClr val="FFFFFF"/>
                </a:highlight>
                <a:latin typeface="Saira"/>
                <a:ea typeface="Saira"/>
                <a:cs typeface="Saira"/>
                <a:sym typeface="Saira"/>
              </a:rPr>
              <a:t>: </a:t>
            </a:r>
            <a:r>
              <a:rPr lang="es-AR" sz="1600">
                <a:solidFill>
                  <a:srgbClr val="0D0D0D"/>
                </a:solidFill>
                <a:highlight>
                  <a:srgbClr val="FFFFFF"/>
                </a:highlight>
                <a:latin typeface="Saira"/>
                <a:ea typeface="Saira"/>
                <a:cs typeface="Saira"/>
                <a:sym typeface="Saira"/>
              </a:rPr>
              <a:t>Devuelve un puntero void al inicio del bloque de memoria redimensionado. Si la asignación falla, devuelve NULL. Si ptr es NULL, actúa como malloc().</a:t>
            </a:r>
            <a:endParaRPr sz="1600">
              <a:latin typeface="Saira"/>
              <a:ea typeface="Saira"/>
              <a:cs typeface="Saira"/>
              <a:sym typeface="Saira"/>
            </a:endParaRPr>
          </a:p>
        </p:txBody>
      </p:sp>
      <p:sp>
        <p:nvSpPr>
          <p:cNvPr id="182" name="Google Shape;182;g1f55550cd8a_0_99"/>
          <p:cNvSpPr txBox="1"/>
          <p:nvPr/>
        </p:nvSpPr>
        <p:spPr>
          <a:xfrm>
            <a:off x="474375" y="5324300"/>
            <a:ext cx="73428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solidFill>
                  <a:srgbClr val="0D0D0D"/>
                </a:solidFill>
                <a:highlight>
                  <a:srgbClr val="FFFFFF"/>
                </a:highlight>
                <a:latin typeface="Saira"/>
                <a:ea typeface="Saira"/>
                <a:cs typeface="Saira"/>
                <a:sym typeface="Saira"/>
              </a:rPr>
              <a:t>Uso típico: </a:t>
            </a:r>
            <a:r>
              <a:rPr lang="es-AR" sz="1600">
                <a:solidFill>
                  <a:srgbClr val="0D0D0D"/>
                </a:solidFill>
                <a:highlight>
                  <a:srgbClr val="FFFFFF"/>
                </a:highlight>
                <a:latin typeface="Saira"/>
                <a:ea typeface="Saira"/>
                <a:cs typeface="Saira"/>
                <a:sym typeface="Saira"/>
              </a:rPr>
              <a:t>Por ejemplo, si deseas redimensionar un vector de enteros previamente asignado para que tenga capacidad para 10 enteros en lugar de 5.</a:t>
            </a:r>
            <a:endParaRPr sz="1600">
              <a:latin typeface="Saira"/>
              <a:ea typeface="Saira"/>
              <a:cs typeface="Saira"/>
              <a:sym typeface="Sai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1f55550cd8a_0_112"/>
          <p:cNvSpPr txBox="1"/>
          <p:nvPr/>
        </p:nvSpPr>
        <p:spPr>
          <a:xfrm>
            <a:off x="319439" y="990221"/>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Memoria Dinámica</a:t>
            </a:r>
            <a:endParaRPr b="0" i="0" sz="3600" u="none" cap="none" strike="noStrike">
              <a:solidFill>
                <a:schemeClr val="dk1"/>
              </a:solidFill>
              <a:latin typeface="Saira"/>
              <a:ea typeface="Saira"/>
              <a:cs typeface="Saira"/>
              <a:sym typeface="Saira"/>
            </a:endParaRPr>
          </a:p>
        </p:txBody>
      </p:sp>
      <p:pic>
        <p:nvPicPr>
          <p:cNvPr id="188" name="Google Shape;188;g1f55550cd8a_0_112"/>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189" name="Google Shape;189;g1f55550cd8a_0_112"/>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90" name="Google Shape;190;g1f55550cd8a_0_112"/>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191" name="Google Shape;191;g1f55550cd8a_0_112"/>
          <p:cNvSpPr txBox="1"/>
          <p:nvPr/>
        </p:nvSpPr>
        <p:spPr>
          <a:xfrm>
            <a:off x="383950" y="1760700"/>
            <a:ext cx="8343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500"/>
              </a:spcAft>
              <a:buNone/>
            </a:pPr>
            <a:r>
              <a:rPr lang="es-AR" sz="2400">
                <a:solidFill>
                  <a:srgbClr val="0000FF"/>
                </a:solidFill>
                <a:highlight>
                  <a:srgbClr val="FFFFFF"/>
                </a:highlight>
                <a:latin typeface="Saira SemiBold"/>
                <a:ea typeface="Saira SemiBold"/>
                <a:cs typeface="Saira SemiBold"/>
                <a:sym typeface="Saira SemiBold"/>
              </a:rPr>
              <a:t>realloc</a:t>
            </a:r>
            <a:r>
              <a:rPr lang="es-AR" sz="2400">
                <a:highlight>
                  <a:srgbClr val="FFFFFF"/>
                </a:highlight>
                <a:latin typeface="Saira SemiBold"/>
                <a:ea typeface="Saira SemiBold"/>
                <a:cs typeface="Saira SemiBold"/>
                <a:sym typeface="Saira SemiBold"/>
              </a:rPr>
              <a:t>( )</a:t>
            </a:r>
            <a:endParaRPr sz="2400">
              <a:latin typeface="Saira"/>
              <a:ea typeface="Saira"/>
              <a:cs typeface="Saira"/>
              <a:sym typeface="Saira"/>
            </a:endParaRPr>
          </a:p>
        </p:txBody>
      </p:sp>
      <p:sp>
        <p:nvSpPr>
          <p:cNvPr id="192" name="Google Shape;192;g1f55550cd8a_0_112"/>
          <p:cNvSpPr txBox="1"/>
          <p:nvPr/>
        </p:nvSpPr>
        <p:spPr>
          <a:xfrm>
            <a:off x="383950" y="2371950"/>
            <a:ext cx="59403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400">
                <a:solidFill>
                  <a:srgbClr val="0D0D0D"/>
                </a:solidFill>
                <a:highlight>
                  <a:srgbClr val="FFFFFF"/>
                </a:highlight>
                <a:latin typeface="Saira"/>
                <a:ea typeface="Saira"/>
                <a:cs typeface="Saira"/>
                <a:sym typeface="Saira"/>
              </a:rPr>
              <a:t>ejemplo: </a:t>
            </a:r>
            <a:endParaRPr sz="2400">
              <a:solidFill>
                <a:srgbClr val="0D0D0D"/>
              </a:solidFill>
              <a:highlight>
                <a:srgbClr val="FFFFFF"/>
              </a:highlight>
              <a:latin typeface="Saira"/>
              <a:ea typeface="Saira"/>
              <a:cs typeface="Saira"/>
              <a:sym typeface="Saira"/>
            </a:endParaRPr>
          </a:p>
          <a:p>
            <a:pPr indent="0" lvl="0" marL="0" rtl="0" algn="l">
              <a:spcBef>
                <a:spcPts val="0"/>
              </a:spcBef>
              <a:spcAft>
                <a:spcPts val="0"/>
              </a:spcAft>
              <a:buNone/>
            </a:pPr>
            <a:r>
              <a:rPr lang="es-AR" sz="2400">
                <a:solidFill>
                  <a:schemeClr val="dk1"/>
                </a:solidFill>
                <a:latin typeface="Saira"/>
                <a:ea typeface="Saira"/>
                <a:cs typeface="Saira"/>
                <a:sym typeface="Saira"/>
              </a:rPr>
              <a:t>ptr = (</a:t>
            </a:r>
            <a:r>
              <a:rPr lang="es-AR" sz="2400">
                <a:solidFill>
                  <a:srgbClr val="FF0000"/>
                </a:solidFill>
                <a:latin typeface="Saira"/>
                <a:ea typeface="Saira"/>
                <a:cs typeface="Saira"/>
                <a:sym typeface="Saira"/>
              </a:rPr>
              <a:t>int</a:t>
            </a:r>
            <a:r>
              <a:rPr lang="es-AR" sz="2400">
                <a:solidFill>
                  <a:schemeClr val="dk1"/>
                </a:solidFill>
                <a:latin typeface="Saira"/>
                <a:ea typeface="Saira"/>
                <a:cs typeface="Saira"/>
                <a:sym typeface="Saira"/>
              </a:rPr>
              <a:t> *)realloc(ptr, 10 * </a:t>
            </a:r>
            <a:r>
              <a:rPr lang="es-AR" sz="2400">
                <a:solidFill>
                  <a:srgbClr val="0000FF"/>
                </a:solidFill>
                <a:latin typeface="Saira"/>
                <a:ea typeface="Saira"/>
                <a:cs typeface="Saira"/>
                <a:sym typeface="Saira"/>
              </a:rPr>
              <a:t>sizeof</a:t>
            </a:r>
            <a:r>
              <a:rPr lang="es-AR" sz="2400">
                <a:solidFill>
                  <a:schemeClr val="dk1"/>
                </a:solidFill>
                <a:latin typeface="Saira"/>
                <a:ea typeface="Saira"/>
                <a:cs typeface="Saira"/>
                <a:sym typeface="Saira"/>
              </a:rPr>
              <a:t>(</a:t>
            </a:r>
            <a:r>
              <a:rPr lang="es-AR" sz="2400">
                <a:solidFill>
                  <a:srgbClr val="FF0000"/>
                </a:solidFill>
                <a:latin typeface="Saira"/>
                <a:ea typeface="Saira"/>
                <a:cs typeface="Saira"/>
                <a:sym typeface="Saira"/>
              </a:rPr>
              <a:t>int</a:t>
            </a:r>
            <a:r>
              <a:rPr lang="es-AR" sz="2400">
                <a:solidFill>
                  <a:schemeClr val="dk1"/>
                </a:solidFill>
                <a:latin typeface="Saira"/>
                <a:ea typeface="Saira"/>
                <a:cs typeface="Saira"/>
                <a:sym typeface="Saira"/>
              </a:rPr>
              <a:t>));</a:t>
            </a:r>
            <a:endParaRPr sz="2400">
              <a:solidFill>
                <a:schemeClr val="dk1"/>
              </a:solidFill>
              <a:latin typeface="Saira"/>
              <a:ea typeface="Saira"/>
              <a:cs typeface="Saira"/>
              <a:sym typeface="Saira"/>
            </a:endParaRPr>
          </a:p>
          <a:p>
            <a:pPr indent="0" lvl="0" marL="0" rtl="0" algn="l">
              <a:spcBef>
                <a:spcPts val="0"/>
              </a:spcBef>
              <a:spcAft>
                <a:spcPts val="0"/>
              </a:spcAft>
              <a:buNone/>
            </a:pPr>
            <a:r>
              <a:t/>
            </a:r>
            <a:endParaRPr sz="2400">
              <a:latin typeface="Saira"/>
              <a:ea typeface="Saira"/>
              <a:cs typeface="Saira"/>
              <a:sym typeface="Saira"/>
            </a:endParaRPr>
          </a:p>
          <a:p>
            <a:pPr indent="0" lvl="0" marL="0" rtl="0" algn="l">
              <a:spcBef>
                <a:spcPts val="0"/>
              </a:spcBef>
              <a:spcAft>
                <a:spcPts val="0"/>
              </a:spcAft>
              <a:buNone/>
            </a:pPr>
            <a:r>
              <a:t/>
            </a:r>
            <a:endParaRPr sz="2400">
              <a:latin typeface="Saira"/>
              <a:ea typeface="Saira"/>
              <a:cs typeface="Saira"/>
              <a:sym typeface="Saira"/>
            </a:endParaRPr>
          </a:p>
        </p:txBody>
      </p:sp>
      <p:sp>
        <p:nvSpPr>
          <p:cNvPr id="193" name="Google Shape;193;g1f55550cd8a_0_112"/>
          <p:cNvSpPr txBox="1"/>
          <p:nvPr/>
        </p:nvSpPr>
        <p:spPr>
          <a:xfrm>
            <a:off x="383950" y="3691975"/>
            <a:ext cx="10694400" cy="177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solidFill>
                  <a:srgbClr val="0D0D0D"/>
                </a:solidFill>
                <a:highlight>
                  <a:srgbClr val="FFFFFF"/>
                </a:highlight>
                <a:latin typeface="Saira"/>
                <a:ea typeface="Saira"/>
                <a:cs typeface="Saira"/>
                <a:sym typeface="Saira"/>
              </a:rPr>
              <a:t>Consideraciones</a:t>
            </a:r>
            <a:r>
              <a:rPr lang="es-AR" sz="1600">
                <a:solidFill>
                  <a:srgbClr val="0D0D0D"/>
                </a:solidFill>
                <a:highlight>
                  <a:srgbClr val="FFFFFF"/>
                </a:highlight>
                <a:latin typeface="Saira"/>
                <a:ea typeface="Saira"/>
                <a:cs typeface="Saira"/>
                <a:sym typeface="Saira"/>
              </a:rPr>
              <a:t>:</a:t>
            </a:r>
            <a:endParaRPr sz="1600">
              <a:solidFill>
                <a:srgbClr val="0D0D0D"/>
              </a:solidFill>
              <a:highlight>
                <a:srgbClr val="FFFFFF"/>
              </a:highlight>
              <a:latin typeface="Saira"/>
              <a:ea typeface="Saira"/>
              <a:cs typeface="Saira"/>
              <a:sym typeface="Saira"/>
            </a:endParaRPr>
          </a:p>
          <a:p>
            <a:pPr indent="0" lvl="0" marL="0" rtl="0" algn="l">
              <a:spcBef>
                <a:spcPts val="0"/>
              </a:spcBef>
              <a:spcAft>
                <a:spcPts val="0"/>
              </a:spcAft>
              <a:buNone/>
            </a:pPr>
            <a:r>
              <a:t/>
            </a:r>
            <a:endParaRPr sz="1600">
              <a:solidFill>
                <a:srgbClr val="0D0D0D"/>
              </a:solidFill>
              <a:highlight>
                <a:srgbClr val="FFFFFF"/>
              </a:highlight>
              <a:latin typeface="Saira"/>
              <a:ea typeface="Saira"/>
              <a:cs typeface="Saira"/>
              <a:sym typeface="Saira"/>
            </a:endParaRPr>
          </a:p>
          <a:p>
            <a:pPr indent="-317500" lvl="0" marL="457200" rtl="0" algn="l">
              <a:lnSpc>
                <a:spcPct val="115000"/>
              </a:lnSpc>
              <a:spcBef>
                <a:spcPts val="0"/>
              </a:spcBef>
              <a:spcAft>
                <a:spcPts val="0"/>
              </a:spcAft>
              <a:buClr>
                <a:srgbClr val="0D0D0D"/>
              </a:buClr>
              <a:buSzPts val="1400"/>
              <a:buFont typeface="Roboto"/>
              <a:buChar char="●"/>
            </a:pPr>
            <a:r>
              <a:rPr lang="es-AR" sz="1600">
                <a:solidFill>
                  <a:srgbClr val="0000FF"/>
                </a:solidFill>
                <a:highlight>
                  <a:srgbClr val="FFFFFF"/>
                </a:highlight>
                <a:latin typeface="Saira"/>
                <a:ea typeface="Saira"/>
                <a:cs typeface="Saira"/>
                <a:sym typeface="Saira"/>
              </a:rPr>
              <a:t>realloc</a:t>
            </a:r>
            <a:r>
              <a:rPr lang="es-AR" sz="1600">
                <a:solidFill>
                  <a:srgbClr val="0D0D0D"/>
                </a:solidFill>
                <a:highlight>
                  <a:srgbClr val="FFFFFF"/>
                </a:highlight>
                <a:latin typeface="Saira"/>
                <a:ea typeface="Saira"/>
                <a:cs typeface="Saira"/>
                <a:sym typeface="Saira"/>
              </a:rPr>
              <a:t>() puede cambiar la ubicación del bloque de memoria asignado. Por lo tanto, es importante asignar el resultado de </a:t>
            </a:r>
            <a:r>
              <a:rPr lang="es-AR" sz="1600">
                <a:solidFill>
                  <a:srgbClr val="0000FF"/>
                </a:solidFill>
                <a:highlight>
                  <a:srgbClr val="FFFFFF"/>
                </a:highlight>
                <a:latin typeface="Saira"/>
                <a:ea typeface="Saira"/>
                <a:cs typeface="Saira"/>
                <a:sym typeface="Saira"/>
              </a:rPr>
              <a:t>realloc</a:t>
            </a:r>
            <a:r>
              <a:rPr lang="es-AR" sz="1600">
                <a:solidFill>
                  <a:srgbClr val="0D0D0D"/>
                </a:solidFill>
                <a:highlight>
                  <a:srgbClr val="FFFFFF"/>
                </a:highlight>
                <a:latin typeface="Saira"/>
                <a:ea typeface="Saira"/>
                <a:cs typeface="Saira"/>
                <a:sym typeface="Saira"/>
              </a:rPr>
              <a:t>() al mismo puntero o a otro puntero, ya que el puntero original podría volverse inválido.</a:t>
            </a:r>
            <a:endParaRPr sz="1600">
              <a:solidFill>
                <a:srgbClr val="0D0D0D"/>
              </a:solidFill>
              <a:highlight>
                <a:srgbClr val="FFFFFF"/>
              </a:highlight>
              <a:latin typeface="Saira"/>
              <a:ea typeface="Saira"/>
              <a:cs typeface="Saira"/>
              <a:sym typeface="Saira"/>
            </a:endParaRPr>
          </a:p>
          <a:p>
            <a:pPr indent="-317500" lvl="0" marL="457200" rtl="0" algn="l">
              <a:lnSpc>
                <a:spcPct val="115000"/>
              </a:lnSpc>
              <a:spcBef>
                <a:spcPts val="0"/>
              </a:spcBef>
              <a:spcAft>
                <a:spcPts val="0"/>
              </a:spcAft>
              <a:buClr>
                <a:srgbClr val="0D0D0D"/>
              </a:buClr>
              <a:buSzPts val="1400"/>
              <a:buFont typeface="Roboto"/>
              <a:buChar char="●"/>
            </a:pPr>
            <a:r>
              <a:rPr lang="es-AR" sz="1600">
                <a:solidFill>
                  <a:srgbClr val="0D0D0D"/>
                </a:solidFill>
                <a:highlight>
                  <a:srgbClr val="FFFFFF"/>
                </a:highlight>
                <a:latin typeface="Saira"/>
                <a:ea typeface="Saira"/>
                <a:cs typeface="Saira"/>
                <a:sym typeface="Saira"/>
              </a:rPr>
              <a:t>Si </a:t>
            </a:r>
            <a:r>
              <a:rPr lang="es-AR" sz="1600">
                <a:solidFill>
                  <a:srgbClr val="0000FF"/>
                </a:solidFill>
                <a:highlight>
                  <a:srgbClr val="FFFFFF"/>
                </a:highlight>
                <a:latin typeface="Saira"/>
                <a:ea typeface="Saira"/>
                <a:cs typeface="Saira"/>
                <a:sym typeface="Saira"/>
              </a:rPr>
              <a:t>realloc</a:t>
            </a:r>
            <a:r>
              <a:rPr lang="es-AR" sz="1600">
                <a:solidFill>
                  <a:srgbClr val="0D0D0D"/>
                </a:solidFill>
                <a:highlight>
                  <a:srgbClr val="FFFFFF"/>
                </a:highlight>
                <a:latin typeface="Saira"/>
                <a:ea typeface="Saira"/>
                <a:cs typeface="Saira"/>
                <a:sym typeface="Saira"/>
              </a:rPr>
              <a:t>() falla, el puntero original no se modifica ni se libera, sigue siendo válido.</a:t>
            </a:r>
            <a:endParaRPr sz="1600">
              <a:solidFill>
                <a:srgbClr val="0D0D0D"/>
              </a:solidFill>
              <a:highlight>
                <a:srgbClr val="FFFFFF"/>
              </a:highlight>
              <a:latin typeface="Saira"/>
              <a:ea typeface="Saira"/>
              <a:cs typeface="Saira"/>
              <a:sym typeface="Saira"/>
            </a:endParaRPr>
          </a:p>
          <a:p>
            <a:pPr indent="-317500" lvl="0" marL="457200" rtl="0" algn="l">
              <a:lnSpc>
                <a:spcPct val="115000"/>
              </a:lnSpc>
              <a:spcBef>
                <a:spcPts val="0"/>
              </a:spcBef>
              <a:spcAft>
                <a:spcPts val="0"/>
              </a:spcAft>
              <a:buClr>
                <a:srgbClr val="0D0D0D"/>
              </a:buClr>
              <a:buSzPts val="1400"/>
              <a:buFont typeface="Roboto"/>
              <a:buChar char="●"/>
            </a:pPr>
            <a:r>
              <a:rPr lang="es-AR" sz="1600">
                <a:solidFill>
                  <a:srgbClr val="0D0D0D"/>
                </a:solidFill>
                <a:highlight>
                  <a:srgbClr val="FFFFFF"/>
                </a:highlight>
                <a:latin typeface="Saira"/>
                <a:ea typeface="Saira"/>
                <a:cs typeface="Saira"/>
                <a:sym typeface="Saira"/>
              </a:rPr>
              <a:t>Si ptr es </a:t>
            </a:r>
            <a:r>
              <a:rPr lang="es-AR" sz="1600">
                <a:solidFill>
                  <a:srgbClr val="0000FF"/>
                </a:solidFill>
                <a:highlight>
                  <a:srgbClr val="FFFFFF"/>
                </a:highlight>
                <a:latin typeface="Saira"/>
                <a:ea typeface="Saira"/>
                <a:cs typeface="Saira"/>
                <a:sym typeface="Saira"/>
              </a:rPr>
              <a:t>NULL</a:t>
            </a:r>
            <a:r>
              <a:rPr lang="es-AR" sz="1600">
                <a:solidFill>
                  <a:srgbClr val="0D0D0D"/>
                </a:solidFill>
                <a:highlight>
                  <a:srgbClr val="FFFFFF"/>
                </a:highlight>
                <a:latin typeface="Saira"/>
                <a:ea typeface="Saira"/>
                <a:cs typeface="Saira"/>
                <a:sym typeface="Saira"/>
              </a:rPr>
              <a:t>, </a:t>
            </a:r>
            <a:r>
              <a:rPr lang="es-AR" sz="1600">
                <a:solidFill>
                  <a:srgbClr val="0000FF"/>
                </a:solidFill>
                <a:highlight>
                  <a:srgbClr val="FFFFFF"/>
                </a:highlight>
                <a:latin typeface="Saira"/>
                <a:ea typeface="Saira"/>
                <a:cs typeface="Saira"/>
                <a:sym typeface="Saira"/>
              </a:rPr>
              <a:t>realloc</a:t>
            </a:r>
            <a:r>
              <a:rPr lang="es-AR" sz="1600">
                <a:solidFill>
                  <a:srgbClr val="0D0D0D"/>
                </a:solidFill>
                <a:highlight>
                  <a:srgbClr val="FFFFFF"/>
                </a:highlight>
                <a:latin typeface="Saira"/>
                <a:ea typeface="Saira"/>
                <a:cs typeface="Saira"/>
                <a:sym typeface="Saira"/>
              </a:rPr>
              <a:t>() actúa como </a:t>
            </a:r>
            <a:r>
              <a:rPr lang="es-AR" sz="1600">
                <a:solidFill>
                  <a:srgbClr val="FF0000"/>
                </a:solidFill>
                <a:highlight>
                  <a:srgbClr val="FFFFFF"/>
                </a:highlight>
                <a:latin typeface="Saira"/>
                <a:ea typeface="Saira"/>
                <a:cs typeface="Saira"/>
                <a:sym typeface="Saira"/>
              </a:rPr>
              <a:t>malloc</a:t>
            </a:r>
            <a:r>
              <a:rPr lang="es-AR" sz="1600">
                <a:solidFill>
                  <a:srgbClr val="0D0D0D"/>
                </a:solidFill>
                <a:highlight>
                  <a:srgbClr val="FFFFFF"/>
                </a:highlight>
                <a:latin typeface="Saira"/>
                <a:ea typeface="Saira"/>
                <a:cs typeface="Saira"/>
                <a:sym typeface="Saira"/>
              </a:rPr>
              <a:t>(size)</a:t>
            </a:r>
            <a:endParaRPr sz="1600">
              <a:solidFill>
                <a:srgbClr val="0D0D0D"/>
              </a:solidFill>
              <a:highlight>
                <a:srgbClr val="FFFFFF"/>
              </a:highlight>
              <a:latin typeface="Saira"/>
              <a:ea typeface="Saira"/>
              <a:cs typeface="Saira"/>
              <a:sym typeface="Sair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1f55550cd8a_0_122"/>
          <p:cNvSpPr txBox="1"/>
          <p:nvPr/>
        </p:nvSpPr>
        <p:spPr>
          <a:xfrm>
            <a:off x="319439" y="990221"/>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Memoria Dinámica</a:t>
            </a:r>
            <a:endParaRPr b="0" i="0" sz="3600" u="none" cap="none" strike="noStrike">
              <a:solidFill>
                <a:schemeClr val="dk1"/>
              </a:solidFill>
              <a:latin typeface="Saira"/>
              <a:ea typeface="Saira"/>
              <a:cs typeface="Saira"/>
              <a:sym typeface="Saira"/>
            </a:endParaRPr>
          </a:p>
        </p:txBody>
      </p:sp>
      <p:pic>
        <p:nvPicPr>
          <p:cNvPr id="199" name="Google Shape;199;g1f55550cd8a_0_122"/>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200" name="Google Shape;200;g1f55550cd8a_0_122"/>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01" name="Google Shape;201;g1f55550cd8a_0_122"/>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202" name="Google Shape;202;g1f55550cd8a_0_122"/>
          <p:cNvSpPr txBox="1"/>
          <p:nvPr/>
        </p:nvSpPr>
        <p:spPr>
          <a:xfrm>
            <a:off x="383950" y="1760700"/>
            <a:ext cx="8343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500"/>
              </a:spcAft>
              <a:buNone/>
            </a:pPr>
            <a:r>
              <a:rPr lang="es-AR" sz="2400">
                <a:solidFill>
                  <a:srgbClr val="FF00FF"/>
                </a:solidFill>
                <a:highlight>
                  <a:srgbClr val="FFFFFF"/>
                </a:highlight>
                <a:latin typeface="Saira SemiBold"/>
                <a:ea typeface="Saira SemiBold"/>
                <a:cs typeface="Saira SemiBold"/>
                <a:sym typeface="Saira SemiBold"/>
              </a:rPr>
              <a:t>free</a:t>
            </a:r>
            <a:r>
              <a:rPr lang="es-AR" sz="2400">
                <a:highlight>
                  <a:srgbClr val="FFFFFF"/>
                </a:highlight>
                <a:latin typeface="Saira SemiBold"/>
                <a:ea typeface="Saira SemiBold"/>
                <a:cs typeface="Saira SemiBold"/>
                <a:sym typeface="Saira SemiBold"/>
              </a:rPr>
              <a:t>( )</a:t>
            </a:r>
            <a:endParaRPr sz="2400">
              <a:latin typeface="Saira"/>
              <a:ea typeface="Saira"/>
              <a:cs typeface="Saira"/>
              <a:sym typeface="Saira"/>
            </a:endParaRPr>
          </a:p>
        </p:txBody>
      </p:sp>
      <p:sp>
        <p:nvSpPr>
          <p:cNvPr id="203" name="Google Shape;203;g1f55550cd8a_0_122"/>
          <p:cNvSpPr txBox="1"/>
          <p:nvPr/>
        </p:nvSpPr>
        <p:spPr>
          <a:xfrm>
            <a:off x="383950" y="2438775"/>
            <a:ext cx="98052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800">
                <a:solidFill>
                  <a:srgbClr val="0D0D0D"/>
                </a:solidFill>
                <a:highlight>
                  <a:srgbClr val="FFFFFF"/>
                </a:highlight>
                <a:latin typeface="Saira"/>
                <a:ea typeface="Saira"/>
                <a:cs typeface="Saira"/>
                <a:sym typeface="Saira"/>
              </a:rPr>
              <a:t>La función </a:t>
            </a:r>
            <a:r>
              <a:rPr lang="es-AR" sz="1800">
                <a:solidFill>
                  <a:srgbClr val="FF00FF"/>
                </a:solidFill>
                <a:highlight>
                  <a:srgbClr val="FFFFFF"/>
                </a:highlight>
                <a:latin typeface="Saira"/>
                <a:ea typeface="Saira"/>
                <a:cs typeface="Saira"/>
                <a:sym typeface="Saira"/>
              </a:rPr>
              <a:t>free</a:t>
            </a:r>
            <a:r>
              <a:rPr lang="es-AR" sz="1800">
                <a:solidFill>
                  <a:srgbClr val="0D0D0D"/>
                </a:solidFill>
                <a:highlight>
                  <a:srgbClr val="FFFFFF"/>
                </a:highlight>
                <a:latin typeface="Saira"/>
                <a:ea typeface="Saira"/>
                <a:cs typeface="Saira"/>
                <a:sym typeface="Saira"/>
              </a:rPr>
              <a:t>() se utiliza para liberar un bloque de memoria previamente asignado utilizando </a:t>
            </a:r>
            <a:r>
              <a:rPr lang="es-AR" sz="1800">
                <a:solidFill>
                  <a:srgbClr val="FF0000"/>
                </a:solidFill>
                <a:highlight>
                  <a:srgbClr val="FFFFFF"/>
                </a:highlight>
                <a:latin typeface="Saira"/>
                <a:ea typeface="Saira"/>
                <a:cs typeface="Saira"/>
                <a:sym typeface="Saira"/>
              </a:rPr>
              <a:t>malloc</a:t>
            </a:r>
            <a:r>
              <a:rPr lang="es-AR" sz="1800">
                <a:solidFill>
                  <a:srgbClr val="0D0D0D"/>
                </a:solidFill>
                <a:highlight>
                  <a:srgbClr val="FFFFFF"/>
                </a:highlight>
                <a:latin typeface="Saira"/>
                <a:ea typeface="Saira"/>
                <a:cs typeface="Saira"/>
                <a:sym typeface="Saira"/>
              </a:rPr>
              <a:t>(), </a:t>
            </a:r>
            <a:r>
              <a:rPr lang="es-AR" sz="1800">
                <a:solidFill>
                  <a:srgbClr val="00B050"/>
                </a:solidFill>
                <a:highlight>
                  <a:srgbClr val="FFFFFF"/>
                </a:highlight>
                <a:latin typeface="Saira"/>
                <a:ea typeface="Saira"/>
                <a:cs typeface="Saira"/>
                <a:sym typeface="Saira"/>
              </a:rPr>
              <a:t>calloc</a:t>
            </a:r>
            <a:r>
              <a:rPr lang="es-AR" sz="1800">
                <a:solidFill>
                  <a:srgbClr val="0D0D0D"/>
                </a:solidFill>
                <a:highlight>
                  <a:srgbClr val="FFFFFF"/>
                </a:highlight>
                <a:latin typeface="Saira"/>
                <a:ea typeface="Saira"/>
                <a:cs typeface="Saira"/>
                <a:sym typeface="Saira"/>
              </a:rPr>
              <a:t>() o </a:t>
            </a:r>
            <a:r>
              <a:rPr lang="es-AR" sz="1800">
                <a:solidFill>
                  <a:srgbClr val="0000FF"/>
                </a:solidFill>
                <a:highlight>
                  <a:srgbClr val="FFFFFF"/>
                </a:highlight>
                <a:latin typeface="Saira"/>
                <a:ea typeface="Saira"/>
                <a:cs typeface="Saira"/>
                <a:sym typeface="Saira"/>
              </a:rPr>
              <a:t>realloc</a:t>
            </a:r>
            <a:r>
              <a:rPr lang="es-AR" sz="1800">
                <a:solidFill>
                  <a:srgbClr val="0D0D0D"/>
                </a:solidFill>
                <a:highlight>
                  <a:srgbClr val="FFFFFF"/>
                </a:highlight>
                <a:latin typeface="Saira"/>
                <a:ea typeface="Saira"/>
                <a:cs typeface="Saira"/>
                <a:sym typeface="Saira"/>
              </a:rPr>
              <a:t>().</a:t>
            </a:r>
            <a:endParaRPr sz="1800">
              <a:solidFill>
                <a:srgbClr val="0D0D0D"/>
              </a:solidFill>
              <a:highlight>
                <a:srgbClr val="FFFFFF"/>
              </a:highlight>
              <a:latin typeface="Saira"/>
              <a:ea typeface="Saira"/>
              <a:cs typeface="Saira"/>
              <a:sym typeface="Saira"/>
            </a:endParaRPr>
          </a:p>
          <a:p>
            <a:pPr indent="0" lvl="0" marL="0" rtl="0" algn="l">
              <a:spcBef>
                <a:spcPts val="0"/>
              </a:spcBef>
              <a:spcAft>
                <a:spcPts val="0"/>
              </a:spcAft>
              <a:buNone/>
            </a:pPr>
            <a:r>
              <a:t/>
            </a:r>
            <a:endParaRPr sz="1800">
              <a:solidFill>
                <a:srgbClr val="0D0D0D"/>
              </a:solidFill>
              <a:highlight>
                <a:srgbClr val="FFFFFF"/>
              </a:highlight>
              <a:latin typeface="Saira"/>
              <a:ea typeface="Saira"/>
              <a:cs typeface="Saira"/>
              <a:sym typeface="Saira"/>
            </a:endParaRPr>
          </a:p>
          <a:p>
            <a:pPr indent="0" lvl="0" marL="0" rtl="0" algn="l">
              <a:spcBef>
                <a:spcPts val="0"/>
              </a:spcBef>
              <a:spcAft>
                <a:spcPts val="0"/>
              </a:spcAft>
              <a:buNone/>
            </a:pPr>
            <a:r>
              <a:t/>
            </a:r>
            <a:endParaRPr sz="1800">
              <a:solidFill>
                <a:srgbClr val="0D0D0D"/>
              </a:solidFill>
              <a:highlight>
                <a:srgbClr val="FFFFFF"/>
              </a:highlight>
              <a:latin typeface="Saira"/>
              <a:ea typeface="Saira"/>
              <a:cs typeface="Saira"/>
              <a:sym typeface="Saira"/>
            </a:endParaRPr>
          </a:p>
        </p:txBody>
      </p:sp>
      <p:sp>
        <p:nvSpPr>
          <p:cNvPr id="204" name="Google Shape;204;g1f55550cd8a_0_122"/>
          <p:cNvSpPr txBox="1"/>
          <p:nvPr/>
        </p:nvSpPr>
        <p:spPr>
          <a:xfrm>
            <a:off x="474375" y="3301650"/>
            <a:ext cx="7208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latin typeface="Saira"/>
                <a:ea typeface="Saira"/>
                <a:cs typeface="Saira"/>
                <a:sym typeface="Saira"/>
              </a:rPr>
              <a:t>Sintaxis</a:t>
            </a:r>
            <a:r>
              <a:rPr lang="es-AR" sz="1600">
                <a:latin typeface="Saira"/>
                <a:ea typeface="Saira"/>
                <a:cs typeface="Saira"/>
                <a:sym typeface="Saira"/>
              </a:rPr>
              <a:t>: </a:t>
            </a:r>
            <a:r>
              <a:rPr lang="es-AR" sz="1600">
                <a:solidFill>
                  <a:srgbClr val="FF0000"/>
                </a:solidFill>
                <a:latin typeface="Saira"/>
                <a:ea typeface="Saira"/>
                <a:cs typeface="Saira"/>
                <a:sym typeface="Saira"/>
              </a:rPr>
              <a:t>void </a:t>
            </a:r>
            <a:r>
              <a:rPr lang="es-AR" sz="1600">
                <a:solidFill>
                  <a:srgbClr val="FF00FF"/>
                </a:solidFill>
                <a:latin typeface="Saira"/>
                <a:ea typeface="Saira"/>
                <a:cs typeface="Saira"/>
                <a:sym typeface="Saira"/>
              </a:rPr>
              <a:t>free</a:t>
            </a:r>
            <a:r>
              <a:rPr lang="es-AR" sz="1600">
                <a:solidFill>
                  <a:schemeClr val="dk1"/>
                </a:solidFill>
                <a:latin typeface="Saira"/>
                <a:ea typeface="Saira"/>
                <a:cs typeface="Saira"/>
                <a:sym typeface="Saira"/>
              </a:rPr>
              <a:t>(</a:t>
            </a:r>
            <a:r>
              <a:rPr lang="es-AR" sz="1600">
                <a:solidFill>
                  <a:srgbClr val="FF0000"/>
                </a:solidFill>
                <a:latin typeface="Saira"/>
                <a:ea typeface="Saira"/>
                <a:cs typeface="Saira"/>
                <a:sym typeface="Saira"/>
              </a:rPr>
              <a:t>void</a:t>
            </a:r>
            <a:r>
              <a:rPr lang="es-AR" sz="1600">
                <a:solidFill>
                  <a:schemeClr val="dk1"/>
                </a:solidFill>
                <a:latin typeface="Saira"/>
                <a:ea typeface="Saira"/>
                <a:cs typeface="Saira"/>
                <a:sym typeface="Saira"/>
              </a:rPr>
              <a:t>* ptr);</a:t>
            </a:r>
            <a:endParaRPr sz="1600">
              <a:solidFill>
                <a:schemeClr val="dk1"/>
              </a:solidFill>
              <a:latin typeface="Saira"/>
              <a:ea typeface="Saira"/>
              <a:cs typeface="Saira"/>
              <a:sym typeface="Saira"/>
            </a:endParaRPr>
          </a:p>
        </p:txBody>
      </p:sp>
      <p:sp>
        <p:nvSpPr>
          <p:cNvPr id="205" name="Google Shape;205;g1f55550cd8a_0_122"/>
          <p:cNvSpPr txBox="1"/>
          <p:nvPr/>
        </p:nvSpPr>
        <p:spPr>
          <a:xfrm>
            <a:off x="474375" y="3722588"/>
            <a:ext cx="8673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solidFill>
                  <a:srgbClr val="0D0D0D"/>
                </a:solidFill>
                <a:highlight>
                  <a:srgbClr val="FFFFFF"/>
                </a:highlight>
                <a:latin typeface="Saira"/>
                <a:ea typeface="Saira"/>
                <a:cs typeface="Saira"/>
                <a:sym typeface="Saira"/>
              </a:rPr>
              <a:t>Argumentos</a:t>
            </a:r>
            <a:r>
              <a:rPr lang="es-AR" sz="1600">
                <a:solidFill>
                  <a:srgbClr val="0D0D0D"/>
                </a:solidFill>
                <a:highlight>
                  <a:srgbClr val="FFFFFF"/>
                </a:highlight>
                <a:latin typeface="Saira"/>
                <a:ea typeface="Saira"/>
                <a:cs typeface="Saira"/>
                <a:sym typeface="Saira"/>
              </a:rPr>
              <a:t>: </a:t>
            </a:r>
            <a:endParaRPr sz="1600">
              <a:solidFill>
                <a:srgbClr val="0D0D0D"/>
              </a:solidFill>
              <a:highlight>
                <a:srgbClr val="FFFFFF"/>
              </a:highlight>
              <a:latin typeface="Saira"/>
              <a:ea typeface="Saira"/>
              <a:cs typeface="Saira"/>
              <a:sym typeface="Saira"/>
            </a:endParaRPr>
          </a:p>
          <a:p>
            <a:pPr indent="0" lvl="0" marL="0" rtl="0" algn="l">
              <a:spcBef>
                <a:spcPts val="0"/>
              </a:spcBef>
              <a:spcAft>
                <a:spcPts val="0"/>
              </a:spcAft>
              <a:buNone/>
            </a:pPr>
            <a:r>
              <a:rPr lang="es-AR" sz="1600">
                <a:solidFill>
                  <a:srgbClr val="0D0D0D"/>
                </a:solidFill>
                <a:highlight>
                  <a:srgbClr val="FFFFFF"/>
                </a:highlight>
                <a:latin typeface="Saira"/>
                <a:ea typeface="Saira"/>
                <a:cs typeface="Saira"/>
                <a:sym typeface="Saira"/>
              </a:rPr>
              <a:t>Toma un argumento ptr, que es el puntero al bloque de memoria que se desea liberar.</a:t>
            </a:r>
            <a:endParaRPr sz="1600">
              <a:solidFill>
                <a:srgbClr val="0D0D0D"/>
              </a:solidFill>
              <a:highlight>
                <a:srgbClr val="FFFFFF"/>
              </a:highlight>
              <a:latin typeface="Saira"/>
              <a:ea typeface="Saira"/>
              <a:cs typeface="Saira"/>
              <a:sym typeface="Saira"/>
            </a:endParaRPr>
          </a:p>
        </p:txBody>
      </p:sp>
      <p:sp>
        <p:nvSpPr>
          <p:cNvPr id="206" name="Google Shape;206;g1f55550cd8a_0_122"/>
          <p:cNvSpPr txBox="1"/>
          <p:nvPr/>
        </p:nvSpPr>
        <p:spPr>
          <a:xfrm>
            <a:off x="474375" y="4399700"/>
            <a:ext cx="8807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solidFill>
                  <a:srgbClr val="0D0D0D"/>
                </a:solidFill>
                <a:highlight>
                  <a:srgbClr val="FFFFFF"/>
                </a:highlight>
                <a:latin typeface="Saira"/>
                <a:ea typeface="Saira"/>
                <a:cs typeface="Saira"/>
                <a:sym typeface="Saira"/>
              </a:rPr>
              <a:t>Valor de retorno</a:t>
            </a:r>
            <a:r>
              <a:rPr lang="es-AR" sz="1600">
                <a:solidFill>
                  <a:srgbClr val="0D0D0D"/>
                </a:solidFill>
                <a:highlight>
                  <a:srgbClr val="FFFFFF"/>
                </a:highlight>
                <a:latin typeface="Saira"/>
                <a:ea typeface="Saira"/>
                <a:cs typeface="Saira"/>
                <a:sym typeface="Saira"/>
              </a:rPr>
              <a:t>: </a:t>
            </a:r>
            <a:r>
              <a:rPr lang="es-AR" sz="1600">
                <a:solidFill>
                  <a:srgbClr val="0D0D0D"/>
                </a:solidFill>
                <a:highlight>
                  <a:srgbClr val="FFFFFF"/>
                </a:highlight>
                <a:latin typeface="Saira"/>
                <a:ea typeface="Saira"/>
                <a:cs typeface="Saira"/>
                <a:sym typeface="Saira"/>
              </a:rPr>
              <a:t>No devuelve ningún valor.</a:t>
            </a:r>
            <a:endParaRPr sz="1600">
              <a:latin typeface="Saira"/>
              <a:ea typeface="Saira"/>
              <a:cs typeface="Saira"/>
              <a:sym typeface="Saira"/>
            </a:endParaRPr>
          </a:p>
        </p:txBody>
      </p:sp>
      <p:sp>
        <p:nvSpPr>
          <p:cNvPr id="207" name="Google Shape;207;g1f55550cd8a_0_122"/>
          <p:cNvSpPr txBox="1"/>
          <p:nvPr/>
        </p:nvSpPr>
        <p:spPr>
          <a:xfrm>
            <a:off x="474375" y="4830800"/>
            <a:ext cx="7342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solidFill>
                  <a:srgbClr val="0D0D0D"/>
                </a:solidFill>
                <a:highlight>
                  <a:srgbClr val="FFFFFF"/>
                </a:highlight>
                <a:latin typeface="Saira"/>
                <a:ea typeface="Saira"/>
                <a:cs typeface="Saira"/>
                <a:sym typeface="Saira"/>
              </a:rPr>
              <a:t>Uso típico: </a:t>
            </a:r>
            <a:r>
              <a:rPr lang="es-AR" sz="1600">
                <a:solidFill>
                  <a:srgbClr val="0D0D0D"/>
                </a:solidFill>
                <a:highlight>
                  <a:srgbClr val="FFFFFF"/>
                </a:highlight>
                <a:latin typeface="Saira"/>
                <a:ea typeface="Saira"/>
                <a:cs typeface="Saira"/>
                <a:sym typeface="Saira"/>
              </a:rPr>
              <a:t>Después de que hayas terminado de usar un bloque de memoria asignado dinámicamente y no lo necesites más, hay que liberarlo.</a:t>
            </a:r>
            <a:endParaRPr sz="1600">
              <a:latin typeface="Saira"/>
              <a:ea typeface="Saira"/>
              <a:cs typeface="Saira"/>
              <a:sym typeface="Sai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1f55550cd8a_0_135"/>
          <p:cNvSpPr txBox="1"/>
          <p:nvPr/>
        </p:nvSpPr>
        <p:spPr>
          <a:xfrm>
            <a:off x="319439" y="990221"/>
            <a:ext cx="8472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Memoria Dinámica</a:t>
            </a:r>
            <a:endParaRPr b="0" i="0" sz="3600" u="none" cap="none" strike="noStrike">
              <a:solidFill>
                <a:schemeClr val="dk1"/>
              </a:solidFill>
              <a:latin typeface="Saira"/>
              <a:ea typeface="Saira"/>
              <a:cs typeface="Saira"/>
              <a:sym typeface="Saira"/>
            </a:endParaRPr>
          </a:p>
        </p:txBody>
      </p:sp>
      <p:pic>
        <p:nvPicPr>
          <p:cNvPr id="213" name="Google Shape;213;g1f55550cd8a_0_135"/>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214" name="Google Shape;214;g1f55550cd8a_0_135"/>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15" name="Google Shape;215;g1f55550cd8a_0_135"/>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216" name="Google Shape;216;g1f55550cd8a_0_135"/>
          <p:cNvSpPr txBox="1"/>
          <p:nvPr/>
        </p:nvSpPr>
        <p:spPr>
          <a:xfrm>
            <a:off x="383950" y="1760700"/>
            <a:ext cx="8343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500"/>
              </a:spcAft>
              <a:buNone/>
            </a:pPr>
            <a:r>
              <a:rPr lang="es-AR" sz="2400">
                <a:solidFill>
                  <a:srgbClr val="FF00FF"/>
                </a:solidFill>
                <a:highlight>
                  <a:srgbClr val="FFFFFF"/>
                </a:highlight>
                <a:latin typeface="Saira SemiBold"/>
                <a:ea typeface="Saira SemiBold"/>
                <a:cs typeface="Saira SemiBold"/>
                <a:sym typeface="Saira SemiBold"/>
              </a:rPr>
              <a:t>free</a:t>
            </a:r>
            <a:r>
              <a:rPr lang="es-AR" sz="2400">
                <a:highlight>
                  <a:srgbClr val="FFFFFF"/>
                </a:highlight>
                <a:latin typeface="Saira SemiBold"/>
                <a:ea typeface="Saira SemiBold"/>
                <a:cs typeface="Saira SemiBold"/>
                <a:sym typeface="Saira SemiBold"/>
              </a:rPr>
              <a:t>( )</a:t>
            </a:r>
            <a:endParaRPr sz="2400">
              <a:latin typeface="Saira"/>
              <a:ea typeface="Saira"/>
              <a:cs typeface="Saira"/>
              <a:sym typeface="Saira"/>
            </a:endParaRPr>
          </a:p>
        </p:txBody>
      </p:sp>
      <p:sp>
        <p:nvSpPr>
          <p:cNvPr id="217" name="Google Shape;217;g1f55550cd8a_0_135"/>
          <p:cNvSpPr txBox="1"/>
          <p:nvPr/>
        </p:nvSpPr>
        <p:spPr>
          <a:xfrm>
            <a:off x="383950" y="2371950"/>
            <a:ext cx="5940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400">
                <a:solidFill>
                  <a:srgbClr val="0D0D0D"/>
                </a:solidFill>
                <a:highlight>
                  <a:srgbClr val="FFFFFF"/>
                </a:highlight>
                <a:latin typeface="Saira"/>
                <a:ea typeface="Saira"/>
                <a:cs typeface="Saira"/>
                <a:sym typeface="Saira"/>
              </a:rPr>
              <a:t>ejemplo: </a:t>
            </a:r>
            <a:endParaRPr sz="2400">
              <a:solidFill>
                <a:srgbClr val="0D0D0D"/>
              </a:solidFill>
              <a:highlight>
                <a:srgbClr val="FFFFFF"/>
              </a:highlight>
              <a:latin typeface="Saira"/>
              <a:ea typeface="Saira"/>
              <a:cs typeface="Saira"/>
              <a:sym typeface="Saira"/>
            </a:endParaRPr>
          </a:p>
          <a:p>
            <a:pPr indent="0" lvl="0" marL="0" rtl="0" algn="l">
              <a:spcBef>
                <a:spcPts val="0"/>
              </a:spcBef>
              <a:spcAft>
                <a:spcPts val="0"/>
              </a:spcAft>
              <a:buNone/>
            </a:pPr>
            <a:r>
              <a:rPr lang="es-AR" sz="2400">
                <a:solidFill>
                  <a:srgbClr val="FF00FF"/>
                </a:solidFill>
                <a:latin typeface="Saira"/>
                <a:ea typeface="Saira"/>
                <a:cs typeface="Saira"/>
                <a:sym typeface="Saira"/>
              </a:rPr>
              <a:t>free</a:t>
            </a:r>
            <a:r>
              <a:rPr lang="es-AR" sz="2400">
                <a:solidFill>
                  <a:schemeClr val="dk1"/>
                </a:solidFill>
                <a:latin typeface="Saira"/>
                <a:ea typeface="Saira"/>
                <a:cs typeface="Saira"/>
                <a:sym typeface="Saira"/>
              </a:rPr>
              <a:t>(ptr);</a:t>
            </a:r>
            <a:endParaRPr sz="2400">
              <a:latin typeface="Saira"/>
              <a:ea typeface="Saira"/>
              <a:cs typeface="Saira"/>
              <a:sym typeface="Saira"/>
            </a:endParaRPr>
          </a:p>
        </p:txBody>
      </p:sp>
      <p:sp>
        <p:nvSpPr>
          <p:cNvPr id="218" name="Google Shape;218;g1f55550cd8a_0_135"/>
          <p:cNvSpPr txBox="1"/>
          <p:nvPr/>
        </p:nvSpPr>
        <p:spPr>
          <a:xfrm>
            <a:off x="319450" y="3439863"/>
            <a:ext cx="10694400" cy="177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AR" sz="1600">
                <a:solidFill>
                  <a:srgbClr val="0D0D0D"/>
                </a:solidFill>
                <a:highlight>
                  <a:srgbClr val="FFFFFF"/>
                </a:highlight>
                <a:latin typeface="Saira"/>
                <a:ea typeface="Saira"/>
                <a:cs typeface="Saira"/>
                <a:sym typeface="Saira"/>
              </a:rPr>
              <a:t>Consideraciones</a:t>
            </a:r>
            <a:r>
              <a:rPr lang="es-AR" sz="1600">
                <a:solidFill>
                  <a:srgbClr val="0D0D0D"/>
                </a:solidFill>
                <a:highlight>
                  <a:srgbClr val="FFFFFF"/>
                </a:highlight>
                <a:latin typeface="Saira"/>
                <a:ea typeface="Saira"/>
                <a:cs typeface="Saira"/>
                <a:sym typeface="Saira"/>
              </a:rPr>
              <a:t>:</a:t>
            </a:r>
            <a:endParaRPr sz="1600">
              <a:solidFill>
                <a:srgbClr val="0D0D0D"/>
              </a:solidFill>
              <a:highlight>
                <a:srgbClr val="FFFFFF"/>
              </a:highlight>
              <a:latin typeface="Saira"/>
              <a:ea typeface="Saira"/>
              <a:cs typeface="Saira"/>
              <a:sym typeface="Saira"/>
            </a:endParaRPr>
          </a:p>
          <a:p>
            <a:pPr indent="0" lvl="0" marL="0" rtl="0" algn="l">
              <a:spcBef>
                <a:spcPts val="0"/>
              </a:spcBef>
              <a:spcAft>
                <a:spcPts val="0"/>
              </a:spcAft>
              <a:buNone/>
            </a:pPr>
            <a:r>
              <a:t/>
            </a:r>
            <a:endParaRPr sz="1600">
              <a:solidFill>
                <a:srgbClr val="0D0D0D"/>
              </a:solidFill>
              <a:highlight>
                <a:srgbClr val="FFFFFF"/>
              </a:highlight>
              <a:latin typeface="Saira"/>
              <a:ea typeface="Saira"/>
              <a:cs typeface="Saira"/>
              <a:sym typeface="Saira"/>
            </a:endParaRPr>
          </a:p>
          <a:p>
            <a:pPr indent="-317500" lvl="0" marL="457200" rtl="0" algn="l">
              <a:lnSpc>
                <a:spcPct val="115000"/>
              </a:lnSpc>
              <a:spcBef>
                <a:spcPts val="0"/>
              </a:spcBef>
              <a:spcAft>
                <a:spcPts val="0"/>
              </a:spcAft>
              <a:buClr>
                <a:schemeClr val="dk1"/>
              </a:buClr>
              <a:buSzPts val="1400"/>
              <a:buFont typeface="Roboto"/>
              <a:buChar char="●"/>
            </a:pPr>
            <a:r>
              <a:rPr lang="es-AR" sz="1600">
                <a:solidFill>
                  <a:schemeClr val="dk1"/>
                </a:solidFill>
                <a:highlight>
                  <a:srgbClr val="FFFFFF"/>
                </a:highlight>
                <a:latin typeface="Saira"/>
                <a:ea typeface="Saira"/>
                <a:cs typeface="Saira"/>
                <a:sym typeface="Saira"/>
              </a:rPr>
              <a:t>Es importante liberar la memoria asignada dinámicamente cuando ya no la necesites para evitar fugas de memoria.</a:t>
            </a:r>
            <a:endParaRPr sz="1600">
              <a:solidFill>
                <a:schemeClr val="dk1"/>
              </a:solidFill>
              <a:highlight>
                <a:srgbClr val="FFFFFF"/>
              </a:highlight>
              <a:latin typeface="Saira"/>
              <a:ea typeface="Saira"/>
              <a:cs typeface="Saira"/>
              <a:sym typeface="Saira"/>
            </a:endParaRPr>
          </a:p>
          <a:p>
            <a:pPr indent="-317500" lvl="0" marL="457200" rtl="0" algn="l">
              <a:lnSpc>
                <a:spcPct val="115000"/>
              </a:lnSpc>
              <a:spcBef>
                <a:spcPts val="0"/>
              </a:spcBef>
              <a:spcAft>
                <a:spcPts val="0"/>
              </a:spcAft>
              <a:buClr>
                <a:schemeClr val="dk1"/>
              </a:buClr>
              <a:buSzPts val="1400"/>
              <a:buFont typeface="Roboto"/>
              <a:buChar char="●"/>
            </a:pPr>
            <a:r>
              <a:rPr lang="es-AR" sz="1600">
                <a:solidFill>
                  <a:schemeClr val="dk1"/>
                </a:solidFill>
                <a:highlight>
                  <a:srgbClr val="FFFFFF"/>
                </a:highlight>
                <a:latin typeface="Saira"/>
                <a:ea typeface="Saira"/>
                <a:cs typeface="Saira"/>
                <a:sym typeface="Saira"/>
              </a:rPr>
              <a:t>No intenten acceder a la memoria liberada utilizando el puntero que se pasó a free(), ya que el comportamiento será indefinido.</a:t>
            </a:r>
            <a:endParaRPr sz="1600">
              <a:solidFill>
                <a:schemeClr val="dk1"/>
              </a:solidFill>
              <a:highlight>
                <a:srgbClr val="FFFFFF"/>
              </a:highlight>
              <a:latin typeface="Saira"/>
              <a:ea typeface="Saira"/>
              <a:cs typeface="Saira"/>
              <a:sym typeface="Sair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2c1d2f75a92_0_314"/>
          <p:cNvSpPr txBox="1"/>
          <p:nvPr/>
        </p:nvSpPr>
        <p:spPr>
          <a:xfrm>
            <a:off x="319439" y="941496"/>
            <a:ext cx="84720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3600">
                <a:solidFill>
                  <a:schemeClr val="dk1"/>
                </a:solidFill>
                <a:latin typeface="Saira"/>
                <a:ea typeface="Saira"/>
                <a:cs typeface="Saira"/>
                <a:sym typeface="Saira"/>
              </a:rPr>
              <a:t>Memoria Dinámica</a:t>
            </a:r>
            <a:endParaRPr sz="4200">
              <a:solidFill>
                <a:schemeClr val="dk1"/>
              </a:solidFill>
              <a:latin typeface="Saira"/>
              <a:ea typeface="Saira"/>
              <a:cs typeface="Saira"/>
              <a:sym typeface="Saira"/>
            </a:endParaRPr>
          </a:p>
        </p:txBody>
      </p:sp>
      <p:pic>
        <p:nvPicPr>
          <p:cNvPr id="224" name="Google Shape;224;g2c1d2f75a92_0_314"/>
          <p:cNvPicPr preferRelativeResize="0"/>
          <p:nvPr/>
        </p:nvPicPr>
        <p:blipFill rotWithShape="1">
          <a:blip r:embed="rId3">
            <a:alphaModFix/>
          </a:blip>
          <a:srcRect b="30665" l="23552" r="22736" t="29912"/>
          <a:stretch/>
        </p:blipFill>
        <p:spPr>
          <a:xfrm>
            <a:off x="8791460" y="390327"/>
            <a:ext cx="2959467" cy="1085934"/>
          </a:xfrm>
          <a:prstGeom prst="rect">
            <a:avLst/>
          </a:prstGeom>
          <a:noFill/>
          <a:ln>
            <a:noFill/>
          </a:ln>
        </p:spPr>
      </p:pic>
      <p:sp>
        <p:nvSpPr>
          <p:cNvPr id="225" name="Google Shape;225;g2c1d2f75a92_0_314"/>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226" name="Google Shape;226;g2c1d2f75a92_0_314"/>
          <p:cNvPicPr preferRelativeResize="0"/>
          <p:nvPr/>
        </p:nvPicPr>
        <p:blipFill rotWithShape="1">
          <a:blip r:embed="rId4">
            <a:alphaModFix/>
          </a:blip>
          <a:srcRect b="0" l="27396" r="27817" t="0"/>
          <a:stretch/>
        </p:blipFill>
        <p:spPr>
          <a:xfrm>
            <a:off x="11036475" y="5617400"/>
            <a:ext cx="877574" cy="1085925"/>
          </a:xfrm>
          <a:prstGeom prst="rect">
            <a:avLst/>
          </a:prstGeom>
          <a:noFill/>
          <a:ln>
            <a:noFill/>
          </a:ln>
        </p:spPr>
      </p:pic>
      <p:sp>
        <p:nvSpPr>
          <p:cNvPr id="227" name="Google Shape;227;g2c1d2f75a92_0_314"/>
          <p:cNvSpPr txBox="1"/>
          <p:nvPr/>
        </p:nvSpPr>
        <p:spPr>
          <a:xfrm>
            <a:off x="4439400"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28" name="Google Shape;228;g2c1d2f75a92_0_314"/>
          <p:cNvSpPr txBox="1"/>
          <p:nvPr/>
        </p:nvSpPr>
        <p:spPr>
          <a:xfrm>
            <a:off x="8974900" y="4046850"/>
            <a:ext cx="40500" cy="2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29" name="Google Shape;229;g2c1d2f75a92_0_314"/>
          <p:cNvSpPr txBox="1"/>
          <p:nvPr/>
        </p:nvSpPr>
        <p:spPr>
          <a:xfrm>
            <a:off x="9559625" y="3900675"/>
            <a:ext cx="40500" cy="24300"/>
          </a:xfrm>
          <a:prstGeom prst="rect">
            <a:avLst/>
          </a:prstGeom>
          <a:noFill/>
          <a:ln>
            <a:noFill/>
          </a:ln>
          <a:effectLst>
            <a:outerShdw blurRad="57150" rotWithShape="0" algn="bl" dir="5400000" dist="19050">
              <a:srgbClr val="000000">
                <a:alpha val="49020"/>
              </a:srgbClr>
            </a:outerShdw>
            <a:reflection blurRad="0" dir="5400000" dist="38100" endA="0" fadeDir="5400012" kx="0" rotWithShape="0" algn="bl" stPos="0" sy="-100000" ky="0"/>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Saira"/>
              <a:ea typeface="Saira"/>
              <a:cs typeface="Saira"/>
              <a:sym typeface="Saira"/>
            </a:endParaRPr>
          </a:p>
        </p:txBody>
      </p:sp>
      <p:sp>
        <p:nvSpPr>
          <p:cNvPr id="230" name="Google Shape;230;g2c1d2f75a92_0_314"/>
          <p:cNvSpPr txBox="1"/>
          <p:nvPr/>
        </p:nvSpPr>
        <p:spPr>
          <a:xfrm>
            <a:off x="7724225" y="4899550"/>
            <a:ext cx="4493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31" name="Google Shape;231;g2c1d2f75a92_0_314"/>
          <p:cNvSpPr txBox="1"/>
          <p:nvPr/>
        </p:nvSpPr>
        <p:spPr>
          <a:xfrm>
            <a:off x="8974900" y="4046850"/>
            <a:ext cx="40500" cy="2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32" name="Google Shape;232;g2c1d2f75a92_0_314"/>
          <p:cNvSpPr txBox="1"/>
          <p:nvPr/>
        </p:nvSpPr>
        <p:spPr>
          <a:xfrm>
            <a:off x="9559625" y="3900675"/>
            <a:ext cx="40500" cy="24300"/>
          </a:xfrm>
          <a:prstGeom prst="rect">
            <a:avLst/>
          </a:prstGeom>
          <a:noFill/>
          <a:ln>
            <a:noFill/>
          </a:ln>
          <a:effectLst>
            <a:outerShdw blurRad="57150" rotWithShape="0" algn="bl" dir="5400000" dist="19050">
              <a:srgbClr val="000000">
                <a:alpha val="49020"/>
              </a:srgbClr>
            </a:outerShdw>
            <a:reflection blurRad="0" dir="5400000" dist="38100" endA="0" fadeDir="5400012" kx="0" rotWithShape="0" algn="bl" stPos="0" sy="-100000" ky="0"/>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Saira"/>
              <a:ea typeface="Saira"/>
              <a:cs typeface="Saira"/>
              <a:sym typeface="Saira"/>
            </a:endParaRPr>
          </a:p>
        </p:txBody>
      </p:sp>
      <p:sp>
        <p:nvSpPr>
          <p:cNvPr id="233" name="Google Shape;233;g2c1d2f75a92_0_314"/>
          <p:cNvSpPr txBox="1"/>
          <p:nvPr/>
        </p:nvSpPr>
        <p:spPr>
          <a:xfrm>
            <a:off x="424150" y="1776950"/>
            <a:ext cx="43623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1" i="0" lang="es-AR" sz="2900" u="none" cap="none" strike="noStrike">
                <a:solidFill>
                  <a:srgbClr val="4A86E8"/>
                </a:solidFill>
                <a:highlight>
                  <a:srgbClr val="FFFFFF"/>
                </a:highlight>
                <a:latin typeface="Saira"/>
                <a:ea typeface="Saira"/>
                <a:cs typeface="Saira"/>
                <a:sym typeface="Saira"/>
              </a:rPr>
              <a:t>Ejercicio integrador</a:t>
            </a:r>
            <a:endParaRPr b="1" i="0" sz="2900" u="none" cap="none" strike="noStrike">
              <a:solidFill>
                <a:srgbClr val="4A86E8"/>
              </a:solidFill>
              <a:latin typeface="Saira"/>
              <a:ea typeface="Saira"/>
              <a:cs typeface="Saira"/>
              <a:sym typeface="Saira"/>
            </a:endParaRPr>
          </a:p>
        </p:txBody>
      </p:sp>
      <p:sp>
        <p:nvSpPr>
          <p:cNvPr id="234" name="Google Shape;234;g2c1d2f75a92_0_314"/>
          <p:cNvSpPr txBox="1"/>
          <p:nvPr/>
        </p:nvSpPr>
        <p:spPr>
          <a:xfrm>
            <a:off x="424150" y="2504700"/>
            <a:ext cx="10776300" cy="2495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900"/>
              <a:buFont typeface="Arial"/>
              <a:buNone/>
            </a:pPr>
            <a:r>
              <a:rPr lang="es-AR" sz="1900">
                <a:solidFill>
                  <a:srgbClr val="0D0D0D"/>
                </a:solidFill>
                <a:highlight>
                  <a:schemeClr val="lt1"/>
                </a:highlight>
                <a:latin typeface="Saira"/>
                <a:ea typeface="Saira"/>
                <a:cs typeface="Saira"/>
                <a:sym typeface="Saira"/>
              </a:rPr>
              <a:t>Diseña un programa en C que inicialmente solicite al usuario el tamaño de un vector dinámico utilizando calloc(). Luego, permite al usuario ingresar valores enteros en dicho vector. Posteriormente, calcula la suma y el promedio de los elementos del vector y muestra los resultados. Después, solicita al usuario ingresar un tamaño adicional para el vector y utiliza realloc() para agregar más elementos. Posteriormente, solicita al usuario ingresar los nuevos valores para los elementos adicionales del vector y recalcula la suma y el promedio con el nuevo tamaño. Finalmente, libera la memoria asignada para el vector dinámico.</a:t>
            </a:r>
            <a:endParaRPr b="0" i="0" sz="1900" u="none" cap="none" strike="noStrike">
              <a:solidFill>
                <a:srgbClr val="0D0D0D"/>
              </a:solidFill>
              <a:highlight>
                <a:schemeClr val="lt1"/>
              </a:highlight>
              <a:latin typeface="Saira"/>
              <a:ea typeface="Saira"/>
              <a:cs typeface="Saira"/>
              <a:sym typeface="Sair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g1f3006538ad_0_205"/>
          <p:cNvPicPr preferRelativeResize="0"/>
          <p:nvPr/>
        </p:nvPicPr>
        <p:blipFill rotWithShape="1">
          <a:blip r:embed="rId3">
            <a:alphaModFix/>
          </a:blip>
          <a:srcRect b="30673" l="23551" r="22738" t="29909"/>
          <a:stretch/>
        </p:blipFill>
        <p:spPr>
          <a:xfrm>
            <a:off x="8791460" y="390327"/>
            <a:ext cx="2959467" cy="1085934"/>
          </a:xfrm>
          <a:prstGeom prst="rect">
            <a:avLst/>
          </a:prstGeom>
          <a:noFill/>
          <a:ln>
            <a:noFill/>
          </a:ln>
        </p:spPr>
      </p:pic>
      <p:sp>
        <p:nvSpPr>
          <p:cNvPr id="240" name="Google Shape;240;g1f3006538ad_0_205"/>
          <p:cNvSpPr txBox="1"/>
          <p:nvPr>
            <p:ph idx="11" type="ftr"/>
          </p:nvPr>
        </p:nvSpPr>
        <p:spPr>
          <a:xfrm>
            <a:off x="2846238" y="2374225"/>
            <a:ext cx="6499500" cy="1003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AR" sz="2000">
                <a:latin typeface="Saira"/>
                <a:ea typeface="Saira"/>
                <a:cs typeface="Saira"/>
                <a:sym typeface="Saira"/>
              </a:rPr>
              <a:t>Próxima unidad: Archivos</a:t>
            </a:r>
            <a:endParaRPr sz="2000"/>
          </a:p>
        </p:txBody>
      </p:sp>
      <p:pic>
        <p:nvPicPr>
          <p:cNvPr id="241" name="Google Shape;241;g1f3006538ad_0_205"/>
          <p:cNvPicPr preferRelativeResize="0"/>
          <p:nvPr/>
        </p:nvPicPr>
        <p:blipFill rotWithShape="1">
          <a:blip r:embed="rId4">
            <a:alphaModFix/>
          </a:blip>
          <a:srcRect b="0" l="27396" r="27817" t="0"/>
          <a:stretch/>
        </p:blipFill>
        <p:spPr>
          <a:xfrm>
            <a:off x="5219014" y="3378025"/>
            <a:ext cx="1753976" cy="2170400"/>
          </a:xfrm>
          <a:prstGeom prst="rect">
            <a:avLst/>
          </a:prstGeom>
          <a:noFill/>
          <a:ln>
            <a:noFill/>
          </a:ln>
        </p:spPr>
      </p:pic>
      <p:sp>
        <p:nvSpPr>
          <p:cNvPr id="242" name="Google Shape;242;g1f3006538ad_0_205"/>
          <p:cNvSpPr txBox="1"/>
          <p:nvPr>
            <p:ph idx="10" type="dt"/>
          </p:nvPr>
        </p:nvSpPr>
        <p:spPr>
          <a:xfrm>
            <a:off x="4439400" y="6313325"/>
            <a:ext cx="33132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r>
              <a:rPr lang="es-AR">
                <a:latin typeface="Saira"/>
                <a:ea typeface="Saira"/>
                <a:cs typeface="Saira"/>
                <a:sym typeface="Saira"/>
              </a:rPr>
              <a:t>Laboratorio de computación II  2024</a:t>
            </a:r>
            <a:endParaRPr>
              <a:latin typeface="Saira"/>
              <a:ea typeface="Saira"/>
              <a:cs typeface="Saira"/>
              <a:sym typeface="Saira"/>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2023-03-07T21:33:27Z</dcterms:created>
  <dc:creator>Carlos Sebastián Pedraza</dc:creator>
</cp:coreProperties>
</file>