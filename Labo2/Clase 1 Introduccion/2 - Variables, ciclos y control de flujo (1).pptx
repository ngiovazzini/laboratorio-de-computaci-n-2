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embeddedFontLst>
    <p:embeddedFont>
      <p:font typeface="Saira"/>
      <p:regular r:id="rId32"/>
      <p:bold r:id="rId33"/>
      <p:italic r:id="rId34"/>
      <p:boldItalic r:id="rId35"/>
    </p:embeddedFont>
    <p:embeddedFont>
      <p:font typeface="Saira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iIbDvXTckF4QW9hC03NysD4ljO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Saira-bold.fntdata"/><Relationship Id="rId10" Type="http://schemas.openxmlformats.org/officeDocument/2006/relationships/slide" Target="slides/slide6.xml"/><Relationship Id="rId32" Type="http://schemas.openxmlformats.org/officeDocument/2006/relationships/font" Target="fonts/Saira-regular.fntdata"/><Relationship Id="rId13" Type="http://schemas.openxmlformats.org/officeDocument/2006/relationships/slide" Target="slides/slide9.xml"/><Relationship Id="rId35" Type="http://schemas.openxmlformats.org/officeDocument/2006/relationships/font" Target="fonts/Saira-boldItalic.fntdata"/><Relationship Id="rId12" Type="http://schemas.openxmlformats.org/officeDocument/2006/relationships/slide" Target="slides/slide8.xml"/><Relationship Id="rId34" Type="http://schemas.openxmlformats.org/officeDocument/2006/relationships/font" Target="fonts/Saira-italic.fntdata"/><Relationship Id="rId15" Type="http://schemas.openxmlformats.org/officeDocument/2006/relationships/slide" Target="slides/slide11.xml"/><Relationship Id="rId37" Type="http://schemas.openxmlformats.org/officeDocument/2006/relationships/font" Target="fonts/SairaMedium-bold.fntdata"/><Relationship Id="rId14" Type="http://schemas.openxmlformats.org/officeDocument/2006/relationships/slide" Target="slides/slide10.xml"/><Relationship Id="rId36" Type="http://schemas.openxmlformats.org/officeDocument/2006/relationships/font" Target="fonts/SairaMedium-regular.fntdata"/><Relationship Id="rId17" Type="http://schemas.openxmlformats.org/officeDocument/2006/relationships/slide" Target="slides/slide13.xml"/><Relationship Id="rId39" Type="http://schemas.openxmlformats.org/officeDocument/2006/relationships/font" Target="fonts/SairaMedium-boldItalic.fntdata"/><Relationship Id="rId16" Type="http://schemas.openxmlformats.org/officeDocument/2006/relationships/slide" Target="slides/slide12.xml"/><Relationship Id="rId38" Type="http://schemas.openxmlformats.org/officeDocument/2006/relationships/font" Target="fonts/SairaMedium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f2ce82f4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1f2ce82f4e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f2ce82f4e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1f2ce82f4ef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f2ce82f4e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1f2ce82f4ef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f2ce82f4e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1f2ce82f4ef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f3006538a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1f3006538ad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f2ed7125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1f2ed7125a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f2ed7125a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1f2ed7125a1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f2ed7125a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1f2ed7125a1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f2ed7125a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1f2ed7125a1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f2ed7125a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1f2ed7125a1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f2ed7125a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1f2ed7125a1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f3006538a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g1f3006538ad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f2ed7125a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1f2ed7125a1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f2ed7125a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1f2ed7125a1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f2ed7125a1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g1f2ed7125a1_0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f2ed7125a1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g1f2ed7125a1_0_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f3006538a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g1f3006538a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f3006538ad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g1f3006538ad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f3006538a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g1f3006538ad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f3006538a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g1f3006538ad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f3006538a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g1f3006538ad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f3006538a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g1f3006538ad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f3006538ad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g1f3006538ad_0_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f3006538ad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4" name="Google Shape;394;g1f3006538ad_0_1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f3006538ad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5" name="Google Shape;405;g1f3006538ad_0_2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f3006538ad_0_2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g1f3006538ad_0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7.jpg"/><Relationship Id="rId6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14.png"/><Relationship Id="rId6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31.png"/><Relationship Id="rId6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29.png"/><Relationship Id="rId6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Relationship Id="rId4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Relationship Id="rId4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32.png"/><Relationship Id="rId6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28.png"/><Relationship Id="rId6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jpg"/><Relationship Id="rId4" Type="http://schemas.openxmlformats.org/officeDocument/2006/relationships/image" Target="../media/image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jpg"/><Relationship Id="rId4" Type="http://schemas.openxmlformats.org/officeDocument/2006/relationships/image" Target="../media/image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52814" y="1014596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Laboratorio de programación II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6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762125" y="2019899"/>
            <a:ext cx="8667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Unidad 1 - Variables, ciclos y control de flujo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</a:t>
            </a:r>
            <a:r>
              <a:rPr lang="es-AR" sz="1200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computación </a:t>
            </a: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7148" y="2828025"/>
            <a:ext cx="1519875" cy="28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6313" y="3033524"/>
            <a:ext cx="210502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f2ce82f4ef_0_5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Variables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96" name="Google Shape;96;g1f2ce82f4ef_0_5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1f2ce82f4ef_0_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 sz="1200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sz="1200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98" name="Google Shape;98;g1f2ce82f4ef_0_5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1f2ce82f4ef_0_5"/>
          <p:cNvSpPr txBox="1"/>
          <p:nvPr/>
        </p:nvSpPr>
        <p:spPr>
          <a:xfrm>
            <a:off x="490000" y="2411875"/>
            <a:ext cx="1024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Las variables son contenedores de datos que almacenan valores que pueden cambiar durante la ejecución del programa.</a:t>
            </a:r>
            <a:endParaRPr b="0" i="0" sz="20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00" name="Google Shape;100;g1f2ce82f4ef_0_5"/>
          <p:cNvSpPr txBox="1"/>
          <p:nvPr/>
        </p:nvSpPr>
        <p:spPr>
          <a:xfrm>
            <a:off x="319450" y="17472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¿ Qué son ?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01" name="Google Shape;101;g1f2ce82f4ef_0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04975" y="3205350"/>
            <a:ext cx="3782050" cy="21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2ce82f4ef_0_22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Variables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07" name="Google Shape;107;g1f2ce82f4ef_0_22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1f2ce82f4ef_0_22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 sz="1200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sz="1200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09" name="Google Shape;109;g1f2ce82f4ef_0_22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1f2ce82f4ef_0_22"/>
          <p:cNvSpPr txBox="1"/>
          <p:nvPr/>
        </p:nvSpPr>
        <p:spPr>
          <a:xfrm>
            <a:off x="319450" y="2393750"/>
            <a:ext cx="102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En C, las variables se declaran antes de ser utilizadas mediante las siguientes maneras</a:t>
            </a:r>
            <a:endParaRPr b="0" i="0" sz="20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11" name="Google Shape;111;g1f2ce82f4ef_0_22"/>
          <p:cNvSpPr txBox="1"/>
          <p:nvPr/>
        </p:nvSpPr>
        <p:spPr>
          <a:xfrm>
            <a:off x="319450" y="1747250"/>
            <a:ext cx="489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Declaración de Variables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12" name="Google Shape;112;g1f2ce82f4ef_0_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5363" y="3520075"/>
            <a:ext cx="709612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1f2ce82f4ef_0_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02150" y="3895887"/>
            <a:ext cx="325050" cy="2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1f2ce82f4ef_0_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83000" y="3895888"/>
            <a:ext cx="113500" cy="3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1f2ce82f4ef_0_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0050" y="4337463"/>
            <a:ext cx="263842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1f2ce82f4ef_0_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80550" y="4602888"/>
            <a:ext cx="214532" cy="7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1f2ce82f4ef_0_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475" y="3631925"/>
            <a:ext cx="4557675" cy="57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g1f2ce82f4ef_0_22"/>
          <p:cNvCxnSpPr/>
          <p:nvPr/>
        </p:nvCxnSpPr>
        <p:spPr>
          <a:xfrm>
            <a:off x="4935675" y="3037900"/>
            <a:ext cx="0" cy="2684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19" name="Google Shape;119;g1f2ce82f4ef_0_22"/>
          <p:cNvSpPr txBox="1"/>
          <p:nvPr/>
        </p:nvSpPr>
        <p:spPr>
          <a:xfrm>
            <a:off x="508850" y="3057825"/>
            <a:ext cx="3885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-AR" sz="2500" u="none" cap="none" strike="noStrike">
                <a:solidFill>
                  <a:srgbClr val="00A67D"/>
                </a:solidFill>
                <a:latin typeface="Saira Medium"/>
                <a:ea typeface="Saira Medium"/>
                <a:cs typeface="Saira Medium"/>
                <a:sym typeface="Saira Medium"/>
              </a:rPr>
              <a:t>Sin asignación de valor</a:t>
            </a:r>
            <a:endParaRPr b="0" i="0" sz="2500" u="none" cap="none" strike="noStrike">
              <a:solidFill>
                <a:srgbClr val="00A67D"/>
              </a:solidFill>
              <a:latin typeface="Saira Medium"/>
              <a:ea typeface="Saira Medium"/>
              <a:cs typeface="Saira Medium"/>
              <a:sym typeface="Saira Medium"/>
            </a:endParaRPr>
          </a:p>
        </p:txBody>
      </p:sp>
      <p:sp>
        <p:nvSpPr>
          <p:cNvPr id="120" name="Google Shape;120;g1f2ce82f4ef_0_22"/>
          <p:cNvSpPr txBox="1"/>
          <p:nvPr/>
        </p:nvSpPr>
        <p:spPr>
          <a:xfrm>
            <a:off x="6627975" y="3057800"/>
            <a:ext cx="3690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-AR" sz="2500" u="none" cap="none" strike="noStrike">
                <a:solidFill>
                  <a:srgbClr val="00A67D"/>
                </a:solidFill>
                <a:latin typeface="Saira Medium"/>
                <a:ea typeface="Saira Medium"/>
                <a:cs typeface="Saira Medium"/>
                <a:sym typeface="Saira Medium"/>
              </a:rPr>
              <a:t>Con asignación de valor</a:t>
            </a:r>
            <a:endParaRPr b="0" i="0" sz="2500" u="none" cap="none" strike="noStrike">
              <a:solidFill>
                <a:srgbClr val="00A67D"/>
              </a:solidFill>
              <a:latin typeface="Saira Medium"/>
              <a:ea typeface="Saira Medium"/>
              <a:cs typeface="Saira Medium"/>
              <a:sym typeface="Saira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f2ce82f4ef_0_34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Variables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6" name="Google Shape;126;g1f2ce82f4ef_0_34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1f2ce82f4ef_0_3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 sz="1200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sz="1200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8" name="Google Shape;128;g1f2ce82f4ef_0_34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1f2ce82f4ef_0_34"/>
          <p:cNvSpPr txBox="1"/>
          <p:nvPr/>
        </p:nvSpPr>
        <p:spPr>
          <a:xfrm>
            <a:off x="319450" y="1747250"/>
            <a:ext cx="489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Tipos de variables 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30" name="Google Shape;130;g1f2ce82f4ef_0_34"/>
          <p:cNvSpPr txBox="1"/>
          <p:nvPr/>
        </p:nvSpPr>
        <p:spPr>
          <a:xfrm>
            <a:off x="453450" y="2954275"/>
            <a:ext cx="6627900" cy="2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0"/>
              <a:buFont typeface="Saira"/>
              <a:buChar char="●"/>
            </a:pPr>
            <a:r>
              <a:rPr b="0" i="0" lang="es-AR" sz="19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b="0" i="0" lang="es-AR" sz="19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Enteros.</a:t>
            </a:r>
            <a:endParaRPr b="0" i="0" sz="19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0"/>
              <a:buFont typeface="Saira"/>
              <a:buChar char="●"/>
            </a:pPr>
            <a:r>
              <a:rPr b="0" i="0" lang="es-AR" sz="19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char</a:t>
            </a:r>
            <a:r>
              <a:rPr b="0" i="0" lang="es-AR" sz="19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Caracteres.</a:t>
            </a:r>
            <a:endParaRPr b="0" i="0" sz="19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0"/>
              <a:buFont typeface="Saira"/>
              <a:buChar char="●"/>
            </a:pPr>
            <a:r>
              <a:rPr b="0" i="0" lang="es-AR" sz="19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float</a:t>
            </a:r>
            <a:r>
              <a:rPr b="0" i="0" lang="es-AR" sz="19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Números de punto flotante.</a:t>
            </a:r>
            <a:endParaRPr b="0" i="0" sz="19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0"/>
              <a:buFont typeface="Saira"/>
              <a:buChar char="●"/>
            </a:pPr>
            <a:r>
              <a:rPr b="0" i="0" lang="es-AR" sz="19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double</a:t>
            </a:r>
            <a:r>
              <a:rPr b="0" i="0" lang="es-AR" sz="19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Números de punto flotante de doble precisión.</a:t>
            </a:r>
            <a:endParaRPr b="0" i="0" sz="19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0"/>
              <a:buFont typeface="Saira"/>
              <a:buChar char="●"/>
            </a:pPr>
            <a:r>
              <a:rPr b="0" i="0" lang="es-AR" sz="19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bool</a:t>
            </a:r>
            <a:r>
              <a:rPr b="0" i="0" lang="es-AR" sz="19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true o false.</a:t>
            </a:r>
            <a:endParaRPr b="0" i="0" sz="19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31" name="Google Shape;131;g1f2ce82f4ef_0_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92899" y="2721800"/>
            <a:ext cx="3231175" cy="262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f2ce82f4ef_0_49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Variables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37" name="Google Shape;137;g1f2ce82f4ef_0_49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1f2ce82f4ef_0_49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 sz="1200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sz="1200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39" name="Google Shape;139;g1f2ce82f4ef_0_49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1f2ce82f4ef_0_49"/>
          <p:cNvSpPr txBox="1"/>
          <p:nvPr/>
        </p:nvSpPr>
        <p:spPr>
          <a:xfrm>
            <a:off x="319450" y="1747250"/>
            <a:ext cx="489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Tipos de variables 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41" name="Google Shape;141;g1f2ce82f4ef_0_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0475" y="3195699"/>
            <a:ext cx="4531050" cy="221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1f2ce82f4ef_0_49"/>
          <p:cNvSpPr txBox="1"/>
          <p:nvPr/>
        </p:nvSpPr>
        <p:spPr>
          <a:xfrm>
            <a:off x="416350" y="2411875"/>
            <a:ext cx="861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AR" sz="19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Las variables también pueden ser inicializadas durante la declaración.</a:t>
            </a:r>
            <a:endParaRPr b="0" i="0" sz="19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f3006538ad_0_5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Variables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48" name="Google Shape;148;g1f3006538ad_0_5"/>
          <p:cNvPicPr preferRelativeResize="0"/>
          <p:nvPr/>
        </p:nvPicPr>
        <p:blipFill rotWithShape="1">
          <a:blip r:embed="rId3">
            <a:alphaModFix/>
          </a:blip>
          <a:srcRect b="30674" l="23551" r="22740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1f3006538ad_0_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 sz="1200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sz="1200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50" name="Google Shape;150;g1f3006538ad_0_5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1f3006538ad_0_5"/>
          <p:cNvSpPr txBox="1"/>
          <p:nvPr/>
        </p:nvSpPr>
        <p:spPr>
          <a:xfrm>
            <a:off x="319450" y="1747250"/>
            <a:ext cx="489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Tipos de variables 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52" name="Google Shape;152;g1f3006538ad_0_5"/>
          <p:cNvSpPr txBox="1"/>
          <p:nvPr/>
        </p:nvSpPr>
        <p:spPr>
          <a:xfrm>
            <a:off x="319450" y="3046600"/>
            <a:ext cx="27132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900"/>
              <a:buFont typeface="Saira"/>
              <a:buChar char="●"/>
            </a:pPr>
            <a:r>
              <a:rPr lang="es-AR" sz="1900">
                <a:solidFill>
                  <a:srgbClr val="FF000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19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4 bytes</a:t>
            </a:r>
            <a:endParaRPr sz="19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0"/>
              <a:buFont typeface="Saira"/>
              <a:buChar char="●"/>
            </a:pPr>
            <a:r>
              <a:rPr lang="es-AR" sz="1900">
                <a:solidFill>
                  <a:srgbClr val="FF000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char</a:t>
            </a:r>
            <a:r>
              <a:rPr lang="es-AR" sz="19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1 byte</a:t>
            </a:r>
            <a:endParaRPr sz="19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0"/>
              <a:buFont typeface="Saira"/>
              <a:buChar char="●"/>
            </a:pPr>
            <a:r>
              <a:rPr lang="es-AR" sz="1900">
                <a:solidFill>
                  <a:srgbClr val="FF000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float</a:t>
            </a:r>
            <a:r>
              <a:rPr lang="es-AR" sz="19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4 bytes</a:t>
            </a:r>
            <a:endParaRPr sz="19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0"/>
              <a:buFont typeface="Saira"/>
              <a:buChar char="●"/>
            </a:pPr>
            <a:r>
              <a:rPr lang="es-AR" sz="1900">
                <a:solidFill>
                  <a:srgbClr val="FF000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double</a:t>
            </a:r>
            <a:r>
              <a:rPr lang="es-AR" sz="19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8 bytes</a:t>
            </a:r>
            <a:endParaRPr sz="19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0"/>
              <a:buFont typeface="Saira"/>
              <a:buChar char="●"/>
            </a:pPr>
            <a:r>
              <a:rPr lang="es-AR" sz="1900">
                <a:solidFill>
                  <a:srgbClr val="FF000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bool</a:t>
            </a:r>
            <a:r>
              <a:rPr lang="es-AR" sz="19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1 byte</a:t>
            </a:r>
            <a:endParaRPr sz="19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53" name="Google Shape;153;g1f3006538ad_0_5"/>
          <p:cNvSpPr txBox="1"/>
          <p:nvPr/>
        </p:nvSpPr>
        <p:spPr>
          <a:xfrm>
            <a:off x="441250" y="2308500"/>
            <a:ext cx="52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El tamaño que ocupan las diferentes variables</a:t>
            </a:r>
            <a:endParaRPr b="0" i="0" sz="1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54" name="Google Shape;154;g1f3006538ad_0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2750" y="2770212"/>
            <a:ext cx="7856576" cy="18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1f3006538ad_0_5"/>
          <p:cNvPicPr preferRelativeResize="0"/>
          <p:nvPr/>
        </p:nvPicPr>
        <p:blipFill rotWithShape="1">
          <a:blip r:embed="rId6">
            <a:alphaModFix/>
          </a:blip>
          <a:srcRect b="0" l="0" r="0" t="6094"/>
          <a:stretch/>
        </p:blipFill>
        <p:spPr>
          <a:xfrm>
            <a:off x="3032750" y="4543975"/>
            <a:ext cx="7856574" cy="18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f2ed7125a1_0_0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Estructura principal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61" name="Google Shape;161;g1f2ed7125a1_0_0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1f2ed7125a1_0_0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 sz="1200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sz="1200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63" name="Google Shape;163;g1f2ed7125a1_0_0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1f2ed7125a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77400" y="1729121"/>
            <a:ext cx="4708348" cy="4304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f2ed7125a1_0_13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 predefinidas 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70" name="Google Shape;170;g1f2ed7125a1_0_13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1f2ed7125a1_0_13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 sz="1200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sz="1200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72" name="Google Shape;172;g1f2ed7125a1_0_13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1f2ed7125a1_0_13"/>
          <p:cNvSpPr txBox="1"/>
          <p:nvPr/>
        </p:nvSpPr>
        <p:spPr>
          <a:xfrm>
            <a:off x="319450" y="1747250"/>
            <a:ext cx="489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Printf() 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74" name="Google Shape;174;g1f2ed7125a1_0_13"/>
          <p:cNvSpPr txBox="1"/>
          <p:nvPr/>
        </p:nvSpPr>
        <p:spPr>
          <a:xfrm>
            <a:off x="416350" y="2411875"/>
            <a:ext cx="8610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AR" sz="19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"print formatted" significa "imprimir formateado". Se utiliza para imprimir valores en consola.</a:t>
            </a:r>
            <a:endParaRPr b="0" i="0" sz="19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75" name="Google Shape;175;g1f2ed7125a1_0_13"/>
          <p:cNvSpPr txBox="1"/>
          <p:nvPr/>
        </p:nvSpPr>
        <p:spPr>
          <a:xfrm>
            <a:off x="3611075" y="3425600"/>
            <a:ext cx="447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Printf(</a:t>
            </a:r>
            <a:r>
              <a:rPr b="0" i="0" lang="es-AR" sz="3000" u="none" cap="none" strike="noStrike">
                <a:solidFill>
                  <a:schemeClr val="accent1"/>
                </a:solidFill>
                <a:latin typeface="Saira"/>
                <a:ea typeface="Saira"/>
                <a:cs typeface="Saira"/>
                <a:sym typeface="Saira"/>
              </a:rPr>
              <a:t>Argumento</a:t>
            </a: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1f2ed7125a1_0_13"/>
          <p:cNvSpPr txBox="1"/>
          <p:nvPr/>
        </p:nvSpPr>
        <p:spPr>
          <a:xfrm>
            <a:off x="4488125" y="5062838"/>
            <a:ext cx="27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accent1"/>
                </a:solidFill>
                <a:latin typeface="Saira"/>
                <a:ea typeface="Saira"/>
                <a:cs typeface="Saira"/>
                <a:sym typeface="Saira"/>
              </a:rPr>
              <a:t>“Hola Mundo”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1f2ed7125a1_0_13"/>
          <p:cNvSpPr/>
          <p:nvPr/>
        </p:nvSpPr>
        <p:spPr>
          <a:xfrm rot="-5400000">
            <a:off x="5444825" y="4284125"/>
            <a:ext cx="810300" cy="56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70C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0C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78" name="Google Shape;178;g1f2ed7125a1_0_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59125" y="3528675"/>
            <a:ext cx="2959475" cy="184592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1f2ed7125a1_0_13"/>
          <p:cNvSpPr txBox="1"/>
          <p:nvPr/>
        </p:nvSpPr>
        <p:spPr>
          <a:xfrm>
            <a:off x="8477550" y="3596300"/>
            <a:ext cx="182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AR" sz="2200" u="none" cap="none" strike="noStrike">
                <a:solidFill>
                  <a:schemeClr val="lt1"/>
                </a:solidFill>
                <a:latin typeface="Saira"/>
                <a:ea typeface="Saira"/>
                <a:cs typeface="Saira"/>
                <a:sym typeface="Saira"/>
              </a:rPr>
              <a:t>Hola Mundo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f2ed7125a1_0_32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 predefinidas 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85" name="Google Shape;185;g1f2ed7125a1_0_32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1f2ed7125a1_0_32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 sz="1200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sz="1200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87" name="Google Shape;187;g1f2ed7125a1_0_32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1f2ed7125a1_0_32"/>
          <p:cNvSpPr txBox="1"/>
          <p:nvPr/>
        </p:nvSpPr>
        <p:spPr>
          <a:xfrm>
            <a:off x="319450" y="1747250"/>
            <a:ext cx="489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Printf() 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89" name="Google Shape;189;g1f2ed7125a1_0_32"/>
          <p:cNvSpPr txBox="1"/>
          <p:nvPr/>
        </p:nvSpPr>
        <p:spPr>
          <a:xfrm>
            <a:off x="416350" y="2411875"/>
            <a:ext cx="10620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AR" sz="19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Dentro de </a:t>
            </a:r>
            <a:r>
              <a:rPr b="0" i="0" lang="es-AR" sz="1900" u="none" cap="none" strike="noStrike">
                <a:solidFill>
                  <a:schemeClr val="accent6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printf</a:t>
            </a:r>
            <a:r>
              <a:rPr b="0" i="0" lang="es-AR" sz="19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() se pueden incluir los marcadores de posición, que comienzan con un signo de porcentaje (%) seguido de un especificador de formato. Estos marcadores de posición indican dónde y cómo se deben imprimir los datos adicionales.</a:t>
            </a:r>
            <a:endParaRPr b="0" i="0" sz="19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90" name="Google Shape;190;g1f2ed7125a1_0_32"/>
          <p:cNvSpPr txBox="1"/>
          <p:nvPr/>
        </p:nvSpPr>
        <p:spPr>
          <a:xfrm>
            <a:off x="5823550" y="3710425"/>
            <a:ext cx="56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Printf(“</a:t>
            </a:r>
            <a:r>
              <a:rPr b="0" i="0" lang="es-AR" sz="3000" u="none" cap="none" strike="noStrike">
                <a:solidFill>
                  <a:schemeClr val="accent1"/>
                </a:solidFill>
                <a:latin typeface="Saira"/>
                <a:ea typeface="Saira"/>
                <a:cs typeface="Saira"/>
                <a:sym typeface="Saira"/>
              </a:rPr>
              <a:t>%d </a:t>
            </a:r>
            <a:r>
              <a:rPr b="0" i="0" lang="es-AR" sz="30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%f </a:t>
            </a:r>
            <a:r>
              <a:rPr b="0" i="0" lang="es-AR" sz="3000" u="none" cap="none" strike="noStrike">
                <a:solidFill>
                  <a:srgbClr val="028009"/>
                </a:solidFill>
                <a:latin typeface="Saira"/>
                <a:ea typeface="Saira"/>
                <a:cs typeface="Saira"/>
                <a:sym typeface="Saira"/>
              </a:rPr>
              <a:t>%c </a:t>
            </a: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\n”,</a:t>
            </a:r>
            <a:r>
              <a:rPr b="0" i="0" lang="es-AR" sz="3000" u="none" cap="none" strike="noStrike">
                <a:solidFill>
                  <a:schemeClr val="accent1"/>
                </a:solidFill>
                <a:latin typeface="Saira"/>
                <a:ea typeface="Saira"/>
                <a:cs typeface="Saira"/>
                <a:sym typeface="Saira"/>
              </a:rPr>
              <a:t>10</a:t>
            </a: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,</a:t>
            </a:r>
            <a:r>
              <a:rPr b="0" i="0" lang="es-AR" sz="30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3.14</a:t>
            </a: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,</a:t>
            </a:r>
            <a:r>
              <a:rPr b="0" i="0" lang="es-AR" sz="3000" u="none" cap="none" strike="noStrike">
                <a:solidFill>
                  <a:srgbClr val="028009"/>
                </a:solidFill>
                <a:latin typeface="Saira"/>
                <a:ea typeface="Saira"/>
                <a:cs typeface="Saira"/>
                <a:sym typeface="Saira"/>
              </a:rPr>
              <a:t>'a'</a:t>
            </a: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1f2ed7125a1_0_32"/>
          <p:cNvSpPr txBox="1"/>
          <p:nvPr/>
        </p:nvSpPr>
        <p:spPr>
          <a:xfrm>
            <a:off x="416350" y="3747800"/>
            <a:ext cx="54072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Roboto"/>
              <a:buChar char="●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%</a:t>
            </a:r>
            <a:r>
              <a:rPr b="0" i="0" lang="es-AR" sz="18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d</a:t>
            </a: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para imprimir un entero decimal.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Roboto"/>
              <a:buChar char="●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%</a:t>
            </a:r>
            <a:r>
              <a:rPr b="0" i="0" lang="es-AR" sz="18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f</a:t>
            </a: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para imprimir un número de punto flotante.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Roboto"/>
              <a:buChar char="●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%</a:t>
            </a:r>
            <a:r>
              <a:rPr b="0" i="0" lang="es-AR" sz="18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c</a:t>
            </a: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para imprimir un carácter.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Roboto"/>
              <a:buChar char="●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%</a:t>
            </a:r>
            <a:r>
              <a:rPr b="0" i="0" lang="es-AR" sz="18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s</a:t>
            </a: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para imprimir una cadena de caracteres 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Roboto"/>
              <a:buChar char="●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%</a:t>
            </a:r>
            <a:r>
              <a:rPr b="0" i="0" lang="es-AR" sz="18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x</a:t>
            </a: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para imprimir un entero en hexadecimal.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92" name="Google Shape;192;g1f2ed7125a1_0_32"/>
          <p:cNvSpPr/>
          <p:nvPr/>
        </p:nvSpPr>
        <p:spPr>
          <a:xfrm>
            <a:off x="8954525" y="4300850"/>
            <a:ext cx="341100" cy="6465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70C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1f2ed7125a1_0_32"/>
          <p:cNvSpPr txBox="1"/>
          <p:nvPr/>
        </p:nvSpPr>
        <p:spPr>
          <a:xfrm>
            <a:off x="8117225" y="4947350"/>
            <a:ext cx="201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Salto de página</a:t>
            </a:r>
            <a:endParaRPr b="0" i="0" sz="2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f2ed7125a1_0_55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 predefinidas 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99" name="Google Shape;199;g1f2ed7125a1_0_55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1f2ed7125a1_0_5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 sz="1200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sz="1200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01" name="Google Shape;201;g1f2ed7125a1_0_55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1f2ed7125a1_0_55"/>
          <p:cNvSpPr txBox="1"/>
          <p:nvPr/>
        </p:nvSpPr>
        <p:spPr>
          <a:xfrm>
            <a:off x="416350" y="2477525"/>
            <a:ext cx="1062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AR" sz="2100" u="none" cap="none" strike="noStrike">
                <a:solidFill>
                  <a:srgbClr val="00B05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Ejemplo </a:t>
            </a:r>
            <a:endParaRPr b="1" i="0" sz="2100" u="none" cap="none" strike="noStrike">
              <a:solidFill>
                <a:srgbClr val="00B05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03" name="Google Shape;203;g1f2ed7125a1_0_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6338" y="3069188"/>
            <a:ext cx="7396574" cy="2593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1f2ed7125a1_0_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65999" y="4107038"/>
            <a:ext cx="34480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1f2ed7125a1_0_55"/>
          <p:cNvSpPr txBox="1"/>
          <p:nvPr/>
        </p:nvSpPr>
        <p:spPr>
          <a:xfrm>
            <a:off x="9607576" y="3454000"/>
            <a:ext cx="1164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AR" sz="21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Consola</a:t>
            </a:r>
            <a:endParaRPr b="0" i="0" sz="21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f2ed7125a1_0_73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 predefinidas 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11" name="Google Shape;211;g1f2ed7125a1_0_73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31935" y="2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1f2ed7125a1_0_73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g1f2ed7125a1_0_73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1f2ed7125a1_0_73"/>
          <p:cNvSpPr txBox="1"/>
          <p:nvPr/>
        </p:nvSpPr>
        <p:spPr>
          <a:xfrm>
            <a:off x="319450" y="1747250"/>
            <a:ext cx="489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Printf() 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15" name="Google Shape;215;g1f2ed7125a1_0_73"/>
          <p:cNvSpPr txBox="1"/>
          <p:nvPr/>
        </p:nvSpPr>
        <p:spPr>
          <a:xfrm>
            <a:off x="319450" y="2411875"/>
            <a:ext cx="1815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s-AR" sz="2900" u="none" cap="none" strike="noStrike">
                <a:solidFill>
                  <a:srgbClr val="4A86E8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Ejercicio</a:t>
            </a:r>
            <a:endParaRPr b="1" i="0" sz="2900" u="none" cap="none" strike="noStrike">
              <a:solidFill>
                <a:srgbClr val="4A86E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16" name="Google Shape;216;g1f2ed7125a1_0_73"/>
          <p:cNvSpPr txBox="1"/>
          <p:nvPr/>
        </p:nvSpPr>
        <p:spPr>
          <a:xfrm>
            <a:off x="319450" y="2964463"/>
            <a:ext cx="10620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Guille es un estudiante que está cursando introducción a la informática y no sabe cómo transformar un numero decimal a hexadecimal. Afortunadamente Guille recuerda que Lean le había dicho que podía hacer un programa muy sencillo con C para imprimir un número entero en su forma hexadecimal con tan solo un printf(). 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AutoNum type="arabicPeriod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Realice un programa que transforme el número 9 y 10 a hexadecimal con solo un printf().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AutoNum type="arabicPeriod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Los resultados obtenidos tienen sentido? 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Guille se entretuvo probando más código en C. Ahora recordó que al presionar </a:t>
            </a:r>
            <a:r>
              <a:rPr b="1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Alt + 64</a:t>
            </a: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  uno obtiene el @.  Entonces decidió hacer printf(“%c”,64);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AutoNum type="arabicPeriod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Qué obtuvo ?  De dónde sale esta relación? 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17" name="Google Shape;217;g1f2ed7125a1_0_73"/>
          <p:cNvSpPr txBox="1"/>
          <p:nvPr/>
        </p:nvSpPr>
        <p:spPr>
          <a:xfrm>
            <a:off x="6618100" y="1517925"/>
            <a:ext cx="54072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Roboto"/>
              <a:buChar char="●"/>
            </a:pPr>
            <a:r>
              <a:rPr b="0" i="0" lang="es-AR" sz="13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%</a:t>
            </a:r>
            <a:r>
              <a:rPr b="0" i="0" lang="es-AR" sz="13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d</a:t>
            </a:r>
            <a:r>
              <a:rPr b="0" i="0" lang="es-AR" sz="13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para imprimir un entero decimal.</a:t>
            </a:r>
            <a:endParaRPr b="0" i="0" sz="13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Roboto"/>
              <a:buChar char="●"/>
            </a:pPr>
            <a:r>
              <a:rPr b="0" i="0" lang="es-AR" sz="13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%</a:t>
            </a:r>
            <a:r>
              <a:rPr b="0" i="0" lang="es-AR" sz="13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f</a:t>
            </a:r>
            <a:r>
              <a:rPr b="0" i="0" lang="es-AR" sz="13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para imprimir un número de punto flotante.</a:t>
            </a:r>
            <a:endParaRPr b="0" i="0" sz="13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Roboto"/>
              <a:buChar char="●"/>
            </a:pPr>
            <a:r>
              <a:rPr b="0" i="0" lang="es-AR" sz="13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%</a:t>
            </a:r>
            <a:r>
              <a:rPr b="0" i="0" lang="es-AR" sz="13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c</a:t>
            </a:r>
            <a:r>
              <a:rPr b="0" i="0" lang="es-AR" sz="13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para imprimir un carácter.</a:t>
            </a:r>
            <a:endParaRPr b="0" i="0" sz="13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Roboto"/>
              <a:buChar char="●"/>
            </a:pPr>
            <a:r>
              <a:rPr b="0" i="0" lang="es-AR" sz="13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%</a:t>
            </a:r>
            <a:r>
              <a:rPr b="0" i="0" lang="es-AR" sz="13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s</a:t>
            </a:r>
            <a:r>
              <a:rPr b="0" i="0" lang="es-AR" sz="13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para imprimir una cadena de caracteres </a:t>
            </a:r>
            <a:endParaRPr b="0" i="0" sz="13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Roboto"/>
              <a:buChar char="●"/>
            </a:pPr>
            <a:r>
              <a:rPr b="0" i="0" lang="es-AR" sz="13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%</a:t>
            </a:r>
            <a:r>
              <a:rPr b="0" i="0" lang="es-AR" sz="13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x</a:t>
            </a:r>
            <a:r>
              <a:rPr b="0" i="0" lang="es-AR" sz="13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para imprimir un entero en hexadecimal.</a:t>
            </a:r>
            <a:endParaRPr b="0" i="0" sz="13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f2ed7125a1_0_86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 predefinidas 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23" name="Google Shape;223;g1f2ed7125a1_0_86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1f2ed7125a1_0_86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 sz="1200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sz="1200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25" name="Google Shape;225;g1f2ed7125a1_0_86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1f2ed7125a1_0_86"/>
          <p:cNvSpPr txBox="1"/>
          <p:nvPr/>
        </p:nvSpPr>
        <p:spPr>
          <a:xfrm>
            <a:off x="319450" y="1747250"/>
            <a:ext cx="489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Scanf() 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7" name="Google Shape;227;g1f2ed7125a1_0_86"/>
          <p:cNvSpPr txBox="1"/>
          <p:nvPr/>
        </p:nvSpPr>
        <p:spPr>
          <a:xfrm>
            <a:off x="416350" y="2411875"/>
            <a:ext cx="8610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AR" sz="19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es una función en C que se utiliza para leer datos de la entrada estándar (como el teclado) y asignar esos datos a variables.</a:t>
            </a:r>
            <a:endParaRPr b="0" i="0" sz="19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8" name="Google Shape;228;g1f2ed7125a1_0_86"/>
          <p:cNvSpPr txBox="1"/>
          <p:nvPr/>
        </p:nvSpPr>
        <p:spPr>
          <a:xfrm>
            <a:off x="460025" y="3344650"/>
            <a:ext cx="861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scanf(“</a:t>
            </a:r>
            <a:r>
              <a:rPr b="0" i="0" lang="es-AR" sz="2800" u="none" cap="none" strike="noStrike">
                <a:solidFill>
                  <a:schemeClr val="accent1"/>
                </a:solidFill>
                <a:latin typeface="Saira"/>
                <a:ea typeface="Saira"/>
                <a:cs typeface="Saira"/>
                <a:sym typeface="Saira"/>
              </a:rPr>
              <a:t>formato a leer</a:t>
            </a: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”,</a:t>
            </a:r>
            <a:r>
              <a:rPr b="0" i="0" lang="es-AR" sz="28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dirección de memoria</a:t>
            </a: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1f2ed7125a1_0_86"/>
          <p:cNvSpPr txBox="1"/>
          <p:nvPr/>
        </p:nvSpPr>
        <p:spPr>
          <a:xfrm>
            <a:off x="362750" y="4483800"/>
            <a:ext cx="55698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Roboto"/>
              <a:buChar char="●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%</a:t>
            </a:r>
            <a:r>
              <a:rPr b="0" i="0" lang="es-AR" sz="18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d</a:t>
            </a: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para asignar un entero decimal.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Roboto"/>
              <a:buChar char="●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%</a:t>
            </a:r>
            <a:r>
              <a:rPr b="0" i="0" lang="es-AR" sz="18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f</a:t>
            </a: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para asignar un número de punto flotante.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Roboto"/>
              <a:buChar char="●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%</a:t>
            </a:r>
            <a:r>
              <a:rPr b="0" i="0" lang="es-AR" sz="18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c</a:t>
            </a: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para asignar un carácter.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Roboto"/>
              <a:buChar char="●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%</a:t>
            </a:r>
            <a:r>
              <a:rPr b="0" i="0" lang="es-AR" sz="18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s</a:t>
            </a: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para asignar una cadena de caracteres 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Roboto"/>
              <a:buChar char="●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%</a:t>
            </a:r>
            <a:r>
              <a:rPr b="0" i="0" lang="es-AR" sz="18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x</a:t>
            </a: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: para asignar un entero en hexadecimal.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30" name="Google Shape;230;g1f2ed7125a1_0_86"/>
          <p:cNvSpPr/>
          <p:nvPr/>
        </p:nvSpPr>
        <p:spPr>
          <a:xfrm rot="-5400000">
            <a:off x="2493125" y="3131875"/>
            <a:ext cx="544800" cy="2201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g1f2ed7125a1_0_86"/>
          <p:cNvCxnSpPr/>
          <p:nvPr/>
        </p:nvCxnSpPr>
        <p:spPr>
          <a:xfrm>
            <a:off x="6485900" y="4115475"/>
            <a:ext cx="735900" cy="411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2" name="Google Shape;232;g1f2ed7125a1_0_86"/>
          <p:cNvSpPr txBox="1"/>
          <p:nvPr/>
        </p:nvSpPr>
        <p:spPr>
          <a:xfrm>
            <a:off x="7344000" y="4436538"/>
            <a:ext cx="27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0" i="0" lang="es-AR" sz="30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variable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1f2ed7125a1_0_86"/>
          <p:cNvSpPr txBox="1"/>
          <p:nvPr/>
        </p:nvSpPr>
        <p:spPr>
          <a:xfrm>
            <a:off x="6738375" y="5078500"/>
            <a:ext cx="371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AR" sz="17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el operador </a:t>
            </a:r>
            <a:r>
              <a:rPr b="0" i="0" lang="es-AR" sz="17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0" i="0" lang="es-AR" sz="17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 devuelve la dirección de la variable que acompañe</a:t>
            </a:r>
            <a:endParaRPr b="0" i="0" sz="17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f3006538ad_0_30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 predefinidas 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39" name="Google Shape;239;g1f3006538ad_0_30"/>
          <p:cNvPicPr preferRelativeResize="0"/>
          <p:nvPr/>
        </p:nvPicPr>
        <p:blipFill rotWithShape="1">
          <a:blip r:embed="rId3">
            <a:alphaModFix/>
          </a:blip>
          <a:srcRect b="30674" l="23551" r="22740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1f3006538ad_0_30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 sz="1200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sz="1200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41" name="Google Shape;241;g1f3006538ad_0_30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1f3006538ad_0_30"/>
          <p:cNvSpPr txBox="1"/>
          <p:nvPr/>
        </p:nvSpPr>
        <p:spPr>
          <a:xfrm>
            <a:off x="319450" y="1747250"/>
            <a:ext cx="489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Scanf() 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43" name="Google Shape;243;g1f3006538ad_0_30"/>
          <p:cNvSpPr txBox="1"/>
          <p:nvPr/>
        </p:nvSpPr>
        <p:spPr>
          <a:xfrm>
            <a:off x="980775" y="2754013"/>
            <a:ext cx="27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0" i="0" lang="es-AR" sz="30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variable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1f3006538ad_0_30"/>
          <p:cNvSpPr txBox="1"/>
          <p:nvPr/>
        </p:nvSpPr>
        <p:spPr>
          <a:xfrm>
            <a:off x="375150" y="3395975"/>
            <a:ext cx="371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AR" sz="17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el operador </a:t>
            </a:r>
            <a:r>
              <a:rPr b="0" i="0" lang="es-AR" sz="17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0" i="0" lang="es-AR" sz="17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 devuelve la dirección de la variable que acompañe</a:t>
            </a:r>
            <a:endParaRPr b="0" i="0" sz="17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45" name="Google Shape;245;g1f3006538ad_0_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6762" y="2517762"/>
            <a:ext cx="7856576" cy="182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1f3006538ad_0_30"/>
          <p:cNvSpPr txBox="1"/>
          <p:nvPr/>
        </p:nvSpPr>
        <p:spPr>
          <a:xfrm>
            <a:off x="4148138" y="5285738"/>
            <a:ext cx="27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lang="es-AR" sz="30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inicial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1f3006538ad_0_30"/>
          <p:cNvSpPr/>
          <p:nvPr/>
        </p:nvSpPr>
        <p:spPr>
          <a:xfrm>
            <a:off x="5677288" y="5408300"/>
            <a:ext cx="877500" cy="40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1f3006538ad_0_30"/>
          <p:cNvSpPr txBox="1"/>
          <p:nvPr/>
        </p:nvSpPr>
        <p:spPr>
          <a:xfrm>
            <a:off x="6711388" y="5285750"/>
            <a:ext cx="1292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>
                <a:solidFill>
                  <a:schemeClr val="accent6"/>
                </a:solidFill>
                <a:latin typeface="Saira"/>
                <a:ea typeface="Saira"/>
                <a:cs typeface="Saira"/>
                <a:sym typeface="Saira"/>
              </a:rPr>
              <a:t>0x06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49" name="Google Shape;249;g1f3006538ad_0_30"/>
          <p:cNvSpPr txBox="1"/>
          <p:nvPr/>
        </p:nvSpPr>
        <p:spPr>
          <a:xfrm>
            <a:off x="4188213" y="4464238"/>
            <a:ext cx="27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lang="es-AR" sz="30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edad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1f3006538ad_0_30"/>
          <p:cNvSpPr/>
          <p:nvPr/>
        </p:nvSpPr>
        <p:spPr>
          <a:xfrm>
            <a:off x="5717363" y="4586800"/>
            <a:ext cx="877500" cy="40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1f3006538ad_0_30"/>
          <p:cNvSpPr txBox="1"/>
          <p:nvPr/>
        </p:nvSpPr>
        <p:spPr>
          <a:xfrm>
            <a:off x="6751463" y="4464250"/>
            <a:ext cx="1292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>
                <a:solidFill>
                  <a:schemeClr val="accent6"/>
                </a:solidFill>
                <a:latin typeface="Saira"/>
                <a:ea typeface="Saira"/>
                <a:cs typeface="Saira"/>
                <a:sym typeface="Saira"/>
              </a:rPr>
              <a:t>0x01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f2ed7125a1_0_126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 predefinidas 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57" name="Google Shape;257;g1f2ed7125a1_0_126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1f2ed7125a1_0_126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 sz="1200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sz="1200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59" name="Google Shape;259;g1f2ed7125a1_0_126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1f2ed7125a1_0_126"/>
          <p:cNvSpPr txBox="1"/>
          <p:nvPr/>
        </p:nvSpPr>
        <p:spPr>
          <a:xfrm>
            <a:off x="319450" y="1747250"/>
            <a:ext cx="489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Scanf() 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61" name="Google Shape;261;g1f2ed7125a1_0_126"/>
          <p:cNvSpPr txBox="1"/>
          <p:nvPr/>
        </p:nvSpPr>
        <p:spPr>
          <a:xfrm>
            <a:off x="416350" y="2411875"/>
            <a:ext cx="8610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AR" sz="19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es una función en C que se utiliza para leer datos de la entrada estándar (como el teclado) y asignar esos datos a variables.</a:t>
            </a:r>
            <a:endParaRPr b="0" i="0" sz="19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62" name="Google Shape;262;g1f2ed7125a1_0_126"/>
          <p:cNvSpPr txBox="1"/>
          <p:nvPr/>
        </p:nvSpPr>
        <p:spPr>
          <a:xfrm>
            <a:off x="189425" y="4481150"/>
            <a:ext cx="388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Scanf(</a:t>
            </a:r>
            <a:r>
              <a:rPr b="0" i="0" lang="es-AR" sz="3000" u="none" cap="none" strike="noStrike">
                <a:solidFill>
                  <a:schemeClr val="accent1"/>
                </a:solidFill>
                <a:latin typeface="Saira"/>
                <a:ea typeface="Saira"/>
                <a:cs typeface="Saira"/>
                <a:sym typeface="Saira"/>
              </a:rPr>
              <a:t>“%d”</a:t>
            </a: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,</a:t>
            </a:r>
            <a:r>
              <a:rPr b="0" i="0" lang="es-AR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0" i="0" lang="es-AR" sz="30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entero</a:t>
            </a: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1f2ed7125a1_0_126"/>
          <p:cNvSpPr txBox="1"/>
          <p:nvPr/>
        </p:nvSpPr>
        <p:spPr>
          <a:xfrm>
            <a:off x="9287125" y="4207088"/>
            <a:ext cx="27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b="0" i="0" lang="es-AR" sz="30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 entero</a:t>
            </a: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=</a:t>
            </a:r>
            <a:r>
              <a:rPr b="0" i="0" lang="es-AR" sz="30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10</a:t>
            </a: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g1f2ed7125a1_0_1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9275" y="3771463"/>
            <a:ext cx="2959475" cy="184592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1f2ed7125a1_0_126"/>
          <p:cNvSpPr txBox="1"/>
          <p:nvPr/>
        </p:nvSpPr>
        <p:spPr>
          <a:xfrm>
            <a:off x="5588788" y="3864125"/>
            <a:ext cx="182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AR" sz="2200" u="none" cap="none" strike="noStrike">
                <a:solidFill>
                  <a:schemeClr val="lt1"/>
                </a:solidFill>
                <a:latin typeface="Saira"/>
                <a:ea typeface="Saira"/>
                <a:cs typeface="Saira"/>
                <a:sym typeface="Saira"/>
              </a:rPr>
              <a:t>10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1f2ed7125a1_0_126"/>
          <p:cNvSpPr/>
          <p:nvPr/>
        </p:nvSpPr>
        <p:spPr>
          <a:xfrm>
            <a:off x="4075025" y="4305500"/>
            <a:ext cx="530400" cy="44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1f2ed7125a1_0_126"/>
          <p:cNvSpPr/>
          <p:nvPr/>
        </p:nvSpPr>
        <p:spPr>
          <a:xfrm>
            <a:off x="7880975" y="4207100"/>
            <a:ext cx="1093200" cy="6465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1f2ed7125a1_0_126"/>
          <p:cNvSpPr txBox="1"/>
          <p:nvPr/>
        </p:nvSpPr>
        <p:spPr>
          <a:xfrm>
            <a:off x="189425" y="3933038"/>
            <a:ext cx="27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b="0" i="0" lang="es-AR" sz="30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 entero</a:t>
            </a: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f2ed7125a1_0_106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 predefinidas 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74" name="Google Shape;274;g1f2ed7125a1_0_106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1f2ed7125a1_0_106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 sz="1200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sz="1200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76" name="Google Shape;276;g1f2ed7125a1_0_106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1f2ed7125a1_0_106"/>
          <p:cNvSpPr txBox="1"/>
          <p:nvPr/>
        </p:nvSpPr>
        <p:spPr>
          <a:xfrm>
            <a:off x="319450" y="1747250"/>
            <a:ext cx="489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Scanf() 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78" name="Google Shape;278;g1f2ed7125a1_0_106"/>
          <p:cNvSpPr txBox="1"/>
          <p:nvPr/>
        </p:nvSpPr>
        <p:spPr>
          <a:xfrm>
            <a:off x="416350" y="2477525"/>
            <a:ext cx="1062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AR" sz="2100" u="none" cap="none" strike="noStrike">
                <a:solidFill>
                  <a:srgbClr val="00B05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Ejemplo </a:t>
            </a:r>
            <a:endParaRPr b="1" i="0" sz="2100" u="none" cap="none" strike="noStrike">
              <a:solidFill>
                <a:srgbClr val="00B05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79" name="Google Shape;279;g1f2ed7125a1_0_1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6350" y="3069200"/>
            <a:ext cx="6478085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1f2ed7125a1_0_106"/>
          <p:cNvSpPr txBox="1"/>
          <p:nvPr/>
        </p:nvSpPr>
        <p:spPr>
          <a:xfrm>
            <a:off x="9234001" y="2985425"/>
            <a:ext cx="1164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AR" sz="21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Consola</a:t>
            </a:r>
            <a:endParaRPr b="0" i="0" sz="21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81" name="Google Shape;281;g1f2ed7125a1_0_1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0060" y="3627225"/>
            <a:ext cx="335280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f2ed7125a1_0_159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 predefinidas 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87" name="Google Shape;287;g1f2ed7125a1_0_159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1f2ed7125a1_0_159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g1f2ed7125a1_0_159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1f2ed7125a1_0_159"/>
          <p:cNvSpPr txBox="1"/>
          <p:nvPr/>
        </p:nvSpPr>
        <p:spPr>
          <a:xfrm>
            <a:off x="319450" y="1747250"/>
            <a:ext cx="489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Scanf() 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91" name="Google Shape;291;g1f2ed7125a1_0_159"/>
          <p:cNvSpPr txBox="1"/>
          <p:nvPr/>
        </p:nvSpPr>
        <p:spPr>
          <a:xfrm>
            <a:off x="319450" y="2411875"/>
            <a:ext cx="1815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s-AR" sz="2900" u="none" cap="none" strike="noStrike">
                <a:solidFill>
                  <a:srgbClr val="4A86E8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Ejercicio</a:t>
            </a:r>
            <a:endParaRPr b="1" i="0" sz="2900" u="none" cap="none" strike="noStrike">
              <a:solidFill>
                <a:srgbClr val="4A86E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92" name="Google Shape;292;g1f2ed7125a1_0_159"/>
          <p:cNvSpPr txBox="1"/>
          <p:nvPr/>
        </p:nvSpPr>
        <p:spPr>
          <a:xfrm>
            <a:off x="319450" y="2964463"/>
            <a:ext cx="10620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Guille sorprendido por lo que hizo con un printf, ahora quiere impresionar a su amigo Lean. Así que decide hacer lo siguiente.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AutoNum type="arabicPeriod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Realice un programa que lea un carácter y lo imprima como número entero 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AutoNum type="arabicPeriod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Lo que ve en consola tiene sentido?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AutoNum type="arabicPeriod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Realice un programa que lea un numero flotante “3.1415” con el siguiente formato “%.2f y luego imprímalo con el formato “%f” en pantalla.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AutoNum type="arabicPeriod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Ahora cambie el número anterior por “3.1455”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AutoNum type="arabicPeriod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Qué puede observar ? 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f2ed7125a1_0_178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Operaciones </a:t>
            </a: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básicas</a:t>
            </a: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98" name="Google Shape;298;g1f2ed7125a1_0_178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1f2ed7125a1_0_178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g1f2ed7125a1_0_178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1f2ed7125a1_0_178"/>
          <p:cNvSpPr txBox="1"/>
          <p:nvPr/>
        </p:nvSpPr>
        <p:spPr>
          <a:xfrm>
            <a:off x="385600" y="1729125"/>
            <a:ext cx="66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Operaciones con </a:t>
            </a: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números</a:t>
            </a: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enteros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2" name="Google Shape;302;g1f2ed7125a1_0_178"/>
          <p:cNvSpPr txBox="1"/>
          <p:nvPr/>
        </p:nvSpPr>
        <p:spPr>
          <a:xfrm>
            <a:off x="582100" y="30442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1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2100">
                <a:latin typeface="Saira"/>
                <a:ea typeface="Saira"/>
                <a:cs typeface="Saira"/>
                <a:sym typeface="Saira"/>
              </a:rPr>
              <a:t> a = 10, b = 5;</a:t>
            </a:r>
            <a:endParaRPr sz="21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1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 </a:t>
            </a:r>
            <a:r>
              <a:rPr lang="es-AR" sz="2100">
                <a:latin typeface="Saira"/>
                <a:ea typeface="Saira"/>
                <a:cs typeface="Saira"/>
                <a:sym typeface="Saira"/>
              </a:rPr>
              <a:t>suma = a + b; </a:t>
            </a:r>
            <a:endParaRPr sz="21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3" name="Google Shape;303;g1f2ed7125a1_0_178"/>
          <p:cNvSpPr txBox="1"/>
          <p:nvPr/>
        </p:nvSpPr>
        <p:spPr>
          <a:xfrm>
            <a:off x="517875" y="2375625"/>
            <a:ext cx="1815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lang="es-AR" sz="2900">
                <a:solidFill>
                  <a:srgbClr val="00B05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Suma</a:t>
            </a:r>
            <a:endParaRPr b="1" i="0" sz="2900" u="none" cap="none" strike="noStrike">
              <a:solidFill>
                <a:srgbClr val="00B05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4" name="Google Shape;304;g1f2ed7125a1_0_178"/>
          <p:cNvSpPr txBox="1"/>
          <p:nvPr/>
        </p:nvSpPr>
        <p:spPr>
          <a:xfrm>
            <a:off x="4559650" y="2375625"/>
            <a:ext cx="1815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lang="es-AR" sz="2900">
                <a:solidFill>
                  <a:srgbClr val="00B05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Resta</a:t>
            </a:r>
            <a:endParaRPr b="1" i="0" sz="2900" u="none" cap="none" strike="noStrike">
              <a:solidFill>
                <a:srgbClr val="00B05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5" name="Google Shape;305;g1f2ed7125a1_0_178"/>
          <p:cNvSpPr txBox="1"/>
          <p:nvPr/>
        </p:nvSpPr>
        <p:spPr>
          <a:xfrm>
            <a:off x="4596000" y="30442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1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2100">
                <a:latin typeface="Saira"/>
                <a:ea typeface="Saira"/>
                <a:cs typeface="Saira"/>
                <a:sym typeface="Saira"/>
              </a:rPr>
              <a:t> a = 10, b = 5;</a:t>
            </a:r>
            <a:endParaRPr sz="21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1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 </a:t>
            </a:r>
            <a:r>
              <a:rPr lang="es-AR" sz="2100">
                <a:latin typeface="Saira"/>
                <a:ea typeface="Saira"/>
                <a:cs typeface="Saira"/>
                <a:sym typeface="Saira"/>
              </a:rPr>
              <a:t>resta</a:t>
            </a:r>
            <a:r>
              <a:rPr lang="es-AR" sz="2100">
                <a:latin typeface="Saira"/>
                <a:ea typeface="Saira"/>
                <a:cs typeface="Saira"/>
                <a:sym typeface="Saira"/>
              </a:rPr>
              <a:t>= a - b; </a:t>
            </a:r>
            <a:endParaRPr sz="21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6" name="Google Shape;306;g1f2ed7125a1_0_178"/>
          <p:cNvSpPr txBox="1"/>
          <p:nvPr/>
        </p:nvSpPr>
        <p:spPr>
          <a:xfrm>
            <a:off x="582100" y="4636800"/>
            <a:ext cx="315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1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2100">
                <a:latin typeface="Saira"/>
                <a:ea typeface="Saira"/>
                <a:cs typeface="Saira"/>
                <a:sym typeface="Saira"/>
              </a:rPr>
              <a:t> a = 10, b = 5;</a:t>
            </a:r>
            <a:endParaRPr sz="21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1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 </a:t>
            </a:r>
            <a:r>
              <a:rPr lang="es-AR" sz="2100">
                <a:latin typeface="Saira"/>
                <a:ea typeface="Saira"/>
                <a:cs typeface="Saira"/>
                <a:sym typeface="Saira"/>
              </a:rPr>
              <a:t>multiplicacion</a:t>
            </a:r>
            <a:r>
              <a:rPr lang="es-AR" sz="2100">
                <a:latin typeface="Saira"/>
                <a:ea typeface="Saira"/>
                <a:cs typeface="Saira"/>
                <a:sym typeface="Saira"/>
              </a:rPr>
              <a:t>= a * b; </a:t>
            </a:r>
            <a:endParaRPr sz="21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7" name="Google Shape;307;g1f2ed7125a1_0_178"/>
          <p:cNvSpPr txBox="1"/>
          <p:nvPr/>
        </p:nvSpPr>
        <p:spPr>
          <a:xfrm>
            <a:off x="582100" y="3940575"/>
            <a:ext cx="28458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lang="es-AR" sz="2900">
                <a:solidFill>
                  <a:srgbClr val="00B05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Multiplicación</a:t>
            </a:r>
            <a:endParaRPr b="1" i="0" sz="2900" u="none" cap="none" strike="noStrike">
              <a:solidFill>
                <a:srgbClr val="00B05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8" name="Google Shape;308;g1f2ed7125a1_0_178"/>
          <p:cNvSpPr txBox="1"/>
          <p:nvPr/>
        </p:nvSpPr>
        <p:spPr>
          <a:xfrm>
            <a:off x="4596000" y="3912975"/>
            <a:ext cx="28458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lang="es-AR" sz="2900">
                <a:solidFill>
                  <a:srgbClr val="00B05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División</a:t>
            </a:r>
            <a:endParaRPr b="1" i="0" sz="2900" u="none" cap="none" strike="noStrike">
              <a:solidFill>
                <a:srgbClr val="00B05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9" name="Google Shape;309;g1f2ed7125a1_0_178"/>
          <p:cNvSpPr txBox="1"/>
          <p:nvPr/>
        </p:nvSpPr>
        <p:spPr>
          <a:xfrm>
            <a:off x="4518900" y="4581600"/>
            <a:ext cx="342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1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21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a = 10, b = 5;</a:t>
            </a:r>
            <a:endParaRPr sz="21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1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float </a:t>
            </a:r>
            <a:r>
              <a:rPr lang="es-AR" sz="21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division</a:t>
            </a:r>
            <a:r>
              <a:rPr lang="es-AR" sz="21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=</a:t>
            </a:r>
            <a:r>
              <a:rPr lang="es-AR" sz="21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(</a:t>
            </a:r>
            <a:r>
              <a:rPr lang="es-AR" sz="21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float</a:t>
            </a:r>
            <a:r>
              <a:rPr lang="es-AR" sz="21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)</a:t>
            </a:r>
            <a:r>
              <a:rPr lang="es-AR" sz="21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a/ b; </a:t>
            </a:r>
            <a:endParaRPr sz="21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10" name="Google Shape;310;g1f2ed7125a1_0_178"/>
          <p:cNvSpPr txBox="1"/>
          <p:nvPr/>
        </p:nvSpPr>
        <p:spPr>
          <a:xfrm>
            <a:off x="7596000" y="2413050"/>
            <a:ext cx="1815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lang="es-AR" sz="2900">
                <a:solidFill>
                  <a:srgbClr val="00B050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Resto</a:t>
            </a:r>
            <a:endParaRPr b="1" i="0" sz="2900" u="none" cap="none" strike="noStrike">
              <a:solidFill>
                <a:srgbClr val="00B05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11" name="Google Shape;311;g1f2ed7125a1_0_178"/>
          <p:cNvSpPr txBox="1"/>
          <p:nvPr/>
        </p:nvSpPr>
        <p:spPr>
          <a:xfrm>
            <a:off x="7752600" y="3198150"/>
            <a:ext cx="342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latin typeface="Saira Medium"/>
                <a:ea typeface="Saira Medium"/>
                <a:cs typeface="Saira Medium"/>
                <a:sym typeface="Saira Medium"/>
              </a:rPr>
              <a:t>resto = dividendo % divisor;</a:t>
            </a:r>
            <a:endParaRPr sz="1800">
              <a:latin typeface="Saira Medium"/>
              <a:ea typeface="Saira Medium"/>
              <a:cs typeface="Saira Medium"/>
              <a:sym typeface="Saira Medium"/>
            </a:endParaRPr>
          </a:p>
        </p:txBody>
      </p:sp>
      <p:pic>
        <p:nvPicPr>
          <p:cNvPr id="312" name="Google Shape;312;g1f2ed7125a1_0_1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5213" y="3728175"/>
            <a:ext cx="3495675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f3006538ad_0_72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Ciclos</a:t>
            </a: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en </a:t>
            </a: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18" name="Google Shape;318;g1f3006538ad_0_72"/>
          <p:cNvPicPr preferRelativeResize="0"/>
          <p:nvPr/>
        </p:nvPicPr>
        <p:blipFill rotWithShape="1">
          <a:blip r:embed="rId3">
            <a:alphaModFix/>
          </a:blip>
          <a:srcRect b="30674" l="23551" r="22740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1f3006538ad_0_72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g1f3006538ad_0_72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1f3006538ad_0_72"/>
          <p:cNvSpPr txBox="1"/>
          <p:nvPr/>
        </p:nvSpPr>
        <p:spPr>
          <a:xfrm>
            <a:off x="385600" y="1729125"/>
            <a:ext cx="11164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2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Los ciclos, también conocidos como bucles, son estructuras de control que permiten repetir un bloque de código varias veces.</a:t>
            </a:r>
            <a:endParaRPr b="0" i="0" sz="2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22" name="Google Shape;322;g1f3006538ad_0_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8263" y="2742875"/>
            <a:ext cx="2959476" cy="3443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f3006538ad_0_92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Ciclos en </a:t>
            </a: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28" name="Google Shape;328;g1f3006538ad_0_92"/>
          <p:cNvPicPr preferRelativeResize="0"/>
          <p:nvPr/>
        </p:nvPicPr>
        <p:blipFill rotWithShape="1">
          <a:blip r:embed="rId3">
            <a:alphaModFix/>
          </a:blip>
          <a:srcRect b="30674" l="23551" r="22740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1f3006538ad_0_92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g1f3006538ad_0_92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1f3006538ad_0_92"/>
          <p:cNvSpPr txBox="1"/>
          <p:nvPr/>
        </p:nvSpPr>
        <p:spPr>
          <a:xfrm>
            <a:off x="1653613" y="3026600"/>
            <a:ext cx="138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While</a:t>
            </a:r>
            <a:endParaRPr b="1" sz="28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32" name="Google Shape;332;g1f3006538ad_0_92"/>
          <p:cNvSpPr txBox="1"/>
          <p:nvPr/>
        </p:nvSpPr>
        <p:spPr>
          <a:xfrm>
            <a:off x="4914848" y="3026600"/>
            <a:ext cx="174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chemeClr val="accent6"/>
                </a:solidFill>
                <a:latin typeface="Saira"/>
                <a:ea typeface="Saira"/>
                <a:cs typeface="Saira"/>
                <a:sym typeface="Saira"/>
              </a:rPr>
              <a:t>Do While</a:t>
            </a:r>
            <a:endParaRPr b="1" sz="2800">
              <a:solidFill>
                <a:schemeClr val="accent6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33" name="Google Shape;333;g1f3006538ad_0_92"/>
          <p:cNvSpPr txBox="1"/>
          <p:nvPr/>
        </p:nvSpPr>
        <p:spPr>
          <a:xfrm>
            <a:off x="8420693" y="3026600"/>
            <a:ext cx="94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rgbClr val="0D0D0D"/>
                </a:solidFill>
                <a:latin typeface="Saira"/>
                <a:ea typeface="Saira"/>
                <a:cs typeface="Saira"/>
                <a:sym typeface="Saira"/>
              </a:rPr>
              <a:t>For</a:t>
            </a:r>
            <a:endParaRPr b="1" sz="2800">
              <a:solidFill>
                <a:srgbClr val="0D0D0D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f3006538ad_0_108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Ciclos en </a:t>
            </a: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39" name="Google Shape;339;g1f3006538ad_0_108"/>
          <p:cNvPicPr preferRelativeResize="0"/>
          <p:nvPr/>
        </p:nvPicPr>
        <p:blipFill rotWithShape="1">
          <a:blip r:embed="rId3">
            <a:alphaModFix/>
          </a:blip>
          <a:srcRect b="30674" l="23551" r="22740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1f3006538ad_0_108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g1f3006538ad_0_108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g1f3006538ad_0_108"/>
          <p:cNvSpPr txBox="1"/>
          <p:nvPr/>
        </p:nvSpPr>
        <p:spPr>
          <a:xfrm>
            <a:off x="440538" y="2014550"/>
            <a:ext cx="138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While</a:t>
            </a:r>
            <a:endParaRPr b="1" sz="28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43" name="Google Shape;343;g1f3006538ad_0_108"/>
          <p:cNvSpPr txBox="1"/>
          <p:nvPr/>
        </p:nvSpPr>
        <p:spPr>
          <a:xfrm>
            <a:off x="369125" y="2720250"/>
            <a:ext cx="47400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Repite un bloque de código mientras una condición sea verdadera.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La condición se evalúa antes de ejecutar el bloque de código.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44" name="Google Shape;344;g1f3006538ad_0_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5000" y="2014550"/>
            <a:ext cx="2979075" cy="37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1f3006538ad_0_10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63875" y="2310150"/>
            <a:ext cx="2959475" cy="2755383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1f3006538ad_0_108"/>
          <p:cNvSpPr txBox="1"/>
          <p:nvPr/>
        </p:nvSpPr>
        <p:spPr>
          <a:xfrm>
            <a:off x="5331700" y="4449925"/>
            <a:ext cx="594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f3006538ad_0_131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Ciclos en </a:t>
            </a: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52" name="Google Shape;352;g1f3006538ad_0_131"/>
          <p:cNvPicPr preferRelativeResize="0"/>
          <p:nvPr/>
        </p:nvPicPr>
        <p:blipFill rotWithShape="1">
          <a:blip r:embed="rId3">
            <a:alphaModFix/>
          </a:blip>
          <a:srcRect b="30674" l="23551" r="22740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1f3006538ad_0_13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g1f3006538ad_0_131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g1f3006538ad_0_131"/>
          <p:cNvSpPr txBox="1"/>
          <p:nvPr/>
        </p:nvSpPr>
        <p:spPr>
          <a:xfrm>
            <a:off x="440558" y="2014550"/>
            <a:ext cx="2215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AR" sz="2800">
                <a:solidFill>
                  <a:schemeClr val="accent6"/>
                </a:solidFill>
                <a:latin typeface="Saira"/>
                <a:ea typeface="Saira"/>
                <a:cs typeface="Saira"/>
                <a:sym typeface="Saira"/>
              </a:rPr>
              <a:t>Do While</a:t>
            </a:r>
            <a:endParaRPr b="1" sz="2800">
              <a:solidFill>
                <a:schemeClr val="accent6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56" name="Google Shape;356;g1f3006538ad_0_131"/>
          <p:cNvSpPr txBox="1"/>
          <p:nvPr/>
        </p:nvSpPr>
        <p:spPr>
          <a:xfrm>
            <a:off x="369125" y="2720250"/>
            <a:ext cx="47400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Similar a while, pero garantiza que el bloque de código se ejecute al menos una vez.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La condición se evalúa después de ejecutar el bloque de código.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57" name="Google Shape;357;g1f3006538ad_0_1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9125" y="2451113"/>
            <a:ext cx="2959475" cy="2838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g1f3006538ad_0_1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6475" y="1846688"/>
            <a:ext cx="2472125" cy="404737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g1f3006538ad_0_131"/>
          <p:cNvSpPr txBox="1"/>
          <p:nvPr/>
        </p:nvSpPr>
        <p:spPr>
          <a:xfrm>
            <a:off x="7920200" y="3934300"/>
            <a:ext cx="594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f3006538ad_0_145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Ciclos en </a:t>
            </a: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65" name="Google Shape;365;g1f3006538ad_0_145"/>
          <p:cNvPicPr preferRelativeResize="0"/>
          <p:nvPr/>
        </p:nvPicPr>
        <p:blipFill rotWithShape="1">
          <a:blip r:embed="rId3">
            <a:alphaModFix/>
          </a:blip>
          <a:srcRect b="30674" l="23551" r="22740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1f3006538ad_0_14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g1f3006538ad_0_145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1f3006538ad_0_145"/>
          <p:cNvSpPr txBox="1"/>
          <p:nvPr/>
        </p:nvSpPr>
        <p:spPr>
          <a:xfrm>
            <a:off x="440558" y="2014550"/>
            <a:ext cx="2215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For</a:t>
            </a:r>
            <a:endParaRPr b="1"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69" name="Google Shape;369;g1f3006538ad_0_145"/>
          <p:cNvSpPr txBox="1"/>
          <p:nvPr/>
        </p:nvSpPr>
        <p:spPr>
          <a:xfrm>
            <a:off x="369125" y="2720250"/>
            <a:ext cx="47400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Estructura de ciclo más compacta y común.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Permite inicializar, verificar una condición y actualizar una variable de control en una sola línea.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70" name="Google Shape;370;g1f3006538ad_0_1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3425" y="2220574"/>
            <a:ext cx="5693375" cy="273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f3006538ad_0_160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Condicionales </a:t>
            </a: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en </a:t>
            </a: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76" name="Google Shape;376;g1f3006538ad_0_160"/>
          <p:cNvPicPr preferRelativeResize="0"/>
          <p:nvPr/>
        </p:nvPicPr>
        <p:blipFill rotWithShape="1">
          <a:blip r:embed="rId3">
            <a:alphaModFix/>
          </a:blip>
          <a:srcRect b="30674" l="23551" r="22740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1f3006538ad_0_160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8" name="Google Shape;378;g1f3006538ad_0_160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1f3006538ad_0_160"/>
          <p:cNvSpPr txBox="1"/>
          <p:nvPr/>
        </p:nvSpPr>
        <p:spPr>
          <a:xfrm>
            <a:off x="3427642" y="3038500"/>
            <a:ext cx="50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If</a:t>
            </a:r>
            <a:endParaRPr b="1" sz="28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80" name="Google Shape;380;g1f3006538ad_0_160"/>
          <p:cNvSpPr txBox="1"/>
          <p:nvPr/>
        </p:nvSpPr>
        <p:spPr>
          <a:xfrm>
            <a:off x="6950800" y="3038500"/>
            <a:ext cx="228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chemeClr val="accent6"/>
                </a:solidFill>
                <a:latin typeface="Saira"/>
                <a:ea typeface="Saira"/>
                <a:cs typeface="Saira"/>
                <a:sym typeface="Saira"/>
              </a:rPr>
              <a:t>Switch Case</a:t>
            </a:r>
            <a:endParaRPr b="1" sz="2800">
              <a:solidFill>
                <a:schemeClr val="accent6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f3006538ad_0_181"/>
          <p:cNvSpPr txBox="1"/>
          <p:nvPr/>
        </p:nvSpPr>
        <p:spPr>
          <a:xfrm>
            <a:off x="319450" y="990224"/>
            <a:ext cx="8325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Condicionales en C</a:t>
            </a:r>
            <a:endParaRPr sz="54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t/>
            </a:r>
            <a:endParaRPr sz="4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86" name="Google Shape;386;g1f3006538ad_0_181"/>
          <p:cNvPicPr preferRelativeResize="0"/>
          <p:nvPr/>
        </p:nvPicPr>
        <p:blipFill rotWithShape="1">
          <a:blip r:embed="rId3">
            <a:alphaModFix/>
          </a:blip>
          <a:srcRect b="30674" l="23551" r="22740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1f3006538ad_0_18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g1f3006538ad_0_181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1f3006538ad_0_181"/>
          <p:cNvSpPr txBox="1"/>
          <p:nvPr/>
        </p:nvSpPr>
        <p:spPr>
          <a:xfrm>
            <a:off x="440538" y="2014550"/>
            <a:ext cx="138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If</a:t>
            </a:r>
            <a:endParaRPr b="1" sz="28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90" name="Google Shape;390;g1f3006538ad_0_181"/>
          <p:cNvSpPr txBox="1"/>
          <p:nvPr/>
        </p:nvSpPr>
        <p:spPr>
          <a:xfrm>
            <a:off x="369125" y="2720250"/>
            <a:ext cx="47400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El condicional if se utiliza para ejecutar un bloque de código si una condición dada es verdadera.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Permite realizar decisiones basadas en condiciones.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91" name="Google Shape;391;g1f3006538ad_0_181"/>
          <p:cNvPicPr preferRelativeResize="0"/>
          <p:nvPr/>
        </p:nvPicPr>
        <p:blipFill rotWithShape="1">
          <a:blip r:embed="rId5">
            <a:alphaModFix/>
          </a:blip>
          <a:srcRect b="0" l="17736" r="0" t="3306"/>
          <a:stretch/>
        </p:blipFill>
        <p:spPr>
          <a:xfrm>
            <a:off x="6572525" y="2014550"/>
            <a:ext cx="2959475" cy="3468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f3006538ad_0_193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Condicionales en C</a:t>
            </a:r>
            <a:endParaRPr sz="4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97" name="Google Shape;397;g1f3006538ad_0_193"/>
          <p:cNvPicPr preferRelativeResize="0"/>
          <p:nvPr/>
        </p:nvPicPr>
        <p:blipFill rotWithShape="1">
          <a:blip r:embed="rId3">
            <a:alphaModFix/>
          </a:blip>
          <a:srcRect b="30674" l="23551" r="22740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g1f3006538ad_0_193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g1f3006538ad_0_193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1f3006538ad_0_193"/>
          <p:cNvSpPr txBox="1"/>
          <p:nvPr/>
        </p:nvSpPr>
        <p:spPr>
          <a:xfrm>
            <a:off x="440549" y="2014550"/>
            <a:ext cx="2394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chemeClr val="accent6"/>
                </a:solidFill>
                <a:latin typeface="Saira"/>
                <a:ea typeface="Saira"/>
                <a:cs typeface="Saira"/>
                <a:sym typeface="Saira"/>
              </a:rPr>
              <a:t>Switch Case</a:t>
            </a:r>
            <a:endParaRPr b="1" sz="2800">
              <a:solidFill>
                <a:schemeClr val="accent6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6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401" name="Google Shape;401;g1f3006538ad_0_193"/>
          <p:cNvSpPr txBox="1"/>
          <p:nvPr/>
        </p:nvSpPr>
        <p:spPr>
          <a:xfrm>
            <a:off x="369125" y="2720250"/>
            <a:ext cx="47400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La estructura switch-case se utiliza para ejecutar un bloque de código basado en el valor de una expresión.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Es una forma más eficiente de manejar múltiples opciones que una serie de if-else.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402" name="Google Shape;402;g1f3006538ad_0_1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1925" y="1660837"/>
            <a:ext cx="2335700" cy="4340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f3006538ad_0_287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Práctica</a:t>
            </a: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408" name="Google Shape;408;g1f3006538ad_0_287"/>
          <p:cNvPicPr preferRelativeResize="0"/>
          <p:nvPr/>
        </p:nvPicPr>
        <p:blipFill rotWithShape="1">
          <a:blip r:embed="rId3">
            <a:alphaModFix/>
          </a:blip>
          <a:srcRect b="30674" l="23551" r="22740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1f3006538ad_0_287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g1f3006538ad_0_287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1f3006538ad_0_287"/>
          <p:cNvSpPr txBox="1"/>
          <p:nvPr/>
        </p:nvSpPr>
        <p:spPr>
          <a:xfrm>
            <a:off x="472875" y="1827525"/>
            <a:ext cx="4362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lang="es-AR" sz="2900">
                <a:solidFill>
                  <a:srgbClr val="4A86E8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Ejercicio integrador</a:t>
            </a:r>
            <a:endParaRPr b="1" i="0" sz="2900" u="none" cap="none" strike="noStrike">
              <a:solidFill>
                <a:srgbClr val="4A86E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412" name="Google Shape;412;g1f3006538ad_0_287"/>
          <p:cNvSpPr txBox="1"/>
          <p:nvPr/>
        </p:nvSpPr>
        <p:spPr>
          <a:xfrm>
            <a:off x="1547800" y="2919700"/>
            <a:ext cx="7990500" cy="3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Realice un programa que</a:t>
            </a: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 permita al usuario ingresar un número y luego elegir entre cuatro opciones: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Imprimir los números del 1 al número ingresado.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Calcular el cuadrado del número ingresado.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Verificar si el número ingresado es par o impar.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Salir del programa.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Después de cada operación, se le pregunta al usuario si desea continuar o salir del programa. El programa seguirá ejecutándose hasta que el usuario decida salir.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g1f3006538ad_0_205"/>
          <p:cNvPicPr preferRelativeResize="0"/>
          <p:nvPr/>
        </p:nvPicPr>
        <p:blipFill rotWithShape="1">
          <a:blip r:embed="rId3">
            <a:alphaModFix/>
          </a:blip>
          <a:srcRect b="30674" l="23551" r="22740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g1f3006538ad_0_205"/>
          <p:cNvSpPr txBox="1"/>
          <p:nvPr>
            <p:ph idx="11" type="ftr"/>
          </p:nvPr>
        </p:nvSpPr>
        <p:spPr>
          <a:xfrm>
            <a:off x="2846238" y="2374225"/>
            <a:ext cx="6499500" cy="10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Próxima unidad: Punteros</a:t>
            </a:r>
            <a:endParaRPr sz="2000"/>
          </a:p>
        </p:txBody>
      </p:sp>
      <p:pic>
        <p:nvPicPr>
          <p:cNvPr id="419" name="Google Shape;419;g1f3006538ad_0_205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5219014" y="3378025"/>
            <a:ext cx="1753976" cy="21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g1f3006538ad_0_205"/>
          <p:cNvSpPr txBox="1"/>
          <p:nvPr>
            <p:ph idx="10" type="dt"/>
          </p:nvPr>
        </p:nvSpPr>
        <p:spPr>
          <a:xfrm>
            <a:off x="4439400" y="63133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2023-03-07T21:33:27Z</dcterms:created>
  <dc:creator>Carlos Sebastián Pedraza</dc:creator>
</cp:coreProperties>
</file>