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Saira"/>
      <p:regular r:id="rId25"/>
      <p:bold r:id="rId26"/>
      <p:italic r:id="rId27"/>
      <p:boldItalic r:id="rId28"/>
    </p:embeddedFont>
    <p:embeddedFont>
      <p:font typeface="Saira SemiBold"/>
      <p:regular r:id="rId29"/>
      <p:bold r:id="rId30"/>
      <p:italic r:id="rId31"/>
      <p:boldItalic r:id="rId32"/>
    </p:embeddedFont>
    <p:embeddedFont>
      <p:font typeface="Saira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Bo7kQih5LFVZ7tWmVdwuECeL3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aira-bold.fntdata"/><Relationship Id="rId25" Type="http://schemas.openxmlformats.org/officeDocument/2006/relationships/font" Target="fonts/Saira-regular.fntdata"/><Relationship Id="rId28" Type="http://schemas.openxmlformats.org/officeDocument/2006/relationships/font" Target="fonts/Saira-boldItalic.fntdata"/><Relationship Id="rId27" Type="http://schemas.openxmlformats.org/officeDocument/2006/relationships/font" Target="fonts/Sair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aira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airaSemiBold-italic.fntdata"/><Relationship Id="rId30" Type="http://schemas.openxmlformats.org/officeDocument/2006/relationships/font" Target="fonts/SairaSemiBold-bold.fntdata"/><Relationship Id="rId11" Type="http://schemas.openxmlformats.org/officeDocument/2006/relationships/slide" Target="slides/slide7.xml"/><Relationship Id="rId33" Type="http://schemas.openxmlformats.org/officeDocument/2006/relationships/font" Target="fonts/SairaMedium-regular.fntdata"/><Relationship Id="rId10" Type="http://schemas.openxmlformats.org/officeDocument/2006/relationships/slide" Target="slides/slide6.xml"/><Relationship Id="rId32" Type="http://schemas.openxmlformats.org/officeDocument/2006/relationships/font" Target="fonts/Saira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SairaMedium-italic.fntdata"/><Relationship Id="rId12" Type="http://schemas.openxmlformats.org/officeDocument/2006/relationships/slide" Target="slides/slide8.xml"/><Relationship Id="rId34" Type="http://schemas.openxmlformats.org/officeDocument/2006/relationships/font" Target="fonts/SairaMedium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SairaMedium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3174458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1f3174458e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3174458e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1f3174458e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c1d2f75a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2c1d2f75a9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1d2f75a9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2c1d2f75a9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1d2f75a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2c1d2f75a9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1d2f75a9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2c1d2f75a92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1d2f75a9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2c1d2f75a92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1d2f75a9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2c1d2f75a92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1d2f75a9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2c1d2f75a92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c1d2f75a9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2c1d2f75a92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1d2f75a9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2c1d2f75a9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c1d2f75a9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2c1d2f75a92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c1d2f75a9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2c1d2f75a92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1d2f75a9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2c1d2f75a92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c1d2f75a9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2c1d2f75a92_0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c1d2f75a9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2c1d2f75a92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c1d2f75a9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2c1d2f75a92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272150" y="2019900"/>
            <a:ext cx="364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3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-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6913" y="3061375"/>
            <a:ext cx="6078175" cy="19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e82f4ef_0_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Memoria en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f2ce82f4ef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7" name="Google Shape;97;g1f2ce82f4ef_0_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f2ce82f4ef_0_5"/>
          <p:cNvSpPr txBox="1"/>
          <p:nvPr/>
        </p:nvSpPr>
        <p:spPr>
          <a:xfrm>
            <a:off x="319450" y="1747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Particiones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9" name="Google Shape;99;g1f2ce82f4ef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6050" y="2699650"/>
            <a:ext cx="8219900" cy="254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3174458ef_0_2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Memoria en C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5" name="Google Shape;105;g1f3174458ef_0_26"/>
          <p:cNvPicPr preferRelativeResize="0"/>
          <p:nvPr/>
        </p:nvPicPr>
        <p:blipFill rotWithShape="1">
          <a:blip r:embed="rId3">
            <a:alphaModFix/>
          </a:blip>
          <a:srcRect b="30671" l="23551" r="22739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1f3174458ef_0_2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7" name="Google Shape;107;g1f3174458ef_0_2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f3174458ef_0_26"/>
          <p:cNvSpPr txBox="1"/>
          <p:nvPr/>
        </p:nvSpPr>
        <p:spPr>
          <a:xfrm>
            <a:off x="319450" y="1747250"/>
            <a:ext cx="1041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Zona de la Pila (Stack)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9" name="Google Shape;109;g1f3174458ef_0_26"/>
          <p:cNvSpPr txBox="1"/>
          <p:nvPr/>
        </p:nvSpPr>
        <p:spPr>
          <a:xfrm>
            <a:off x="2564475" y="3365475"/>
            <a:ext cx="87288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Esta zona almacena las variables locales de las funciones, así como también los registros de activación (stack frames) y la información necesaria para el control de la ejecución de las funciones.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Las variables almacenadas en la pila se crean y destruyen automáticamente cuando se entra y se sale de las funciones.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 pila es de tamaño fijo y suele ser limitada en tamaño, por lo que el desbordamiento de pila (stack overflow) puede ocurrir si se agota el espacio asignado para ella.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0" name="Google Shape;110;g1f3174458ef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900" y="3433338"/>
            <a:ext cx="1699462" cy="1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3174458ef_0_5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6" name="Google Shape;116;g1f3174458ef_0_51"/>
          <p:cNvPicPr preferRelativeResize="0"/>
          <p:nvPr/>
        </p:nvPicPr>
        <p:blipFill rotWithShape="1">
          <a:blip r:embed="rId3">
            <a:alphaModFix/>
          </a:blip>
          <a:srcRect b="30671" l="23551" r="22739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1f3174458ef_0_5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8" name="Google Shape;118;g1f3174458ef_0_5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1f3174458ef_0_5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20" name="Google Shape;120;g1f3174458ef_0_51"/>
          <p:cNvSpPr txBox="1"/>
          <p:nvPr/>
        </p:nvSpPr>
        <p:spPr>
          <a:xfrm>
            <a:off x="319450" y="2046400"/>
            <a:ext cx="854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Una función es un fragmento de código que realiza una tarea bien definida.</a:t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1" name="Google Shape;121;g1f3174458ef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0975" y="2954863"/>
            <a:ext cx="6210047" cy="190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1d2f75a92_0_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7" name="Google Shape;127;g2c1d2f75a92_0_5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c1d2f75a92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9" name="Google Shape;129;g2c1d2f75a92_0_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c1d2f75a92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1" name="Google Shape;131;g2c1d2f75a92_0_5"/>
          <p:cNvSpPr txBox="1"/>
          <p:nvPr/>
        </p:nvSpPr>
        <p:spPr>
          <a:xfrm>
            <a:off x="426325" y="1835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Declaración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2" name="Google Shape;132;g2c1d2f75a92_0_5"/>
          <p:cNvSpPr txBox="1"/>
          <p:nvPr/>
        </p:nvSpPr>
        <p:spPr>
          <a:xfrm>
            <a:off x="586000" y="2901800"/>
            <a:ext cx="83889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Tipo de dato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Nombre_de_la_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función(</a:t>
            </a:r>
            <a:r>
              <a:rPr lang="es-AR" sz="28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){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return </a:t>
            </a:r>
            <a:r>
              <a:rPr lang="es-AR" sz="2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valor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3" name="Google Shape;133;g2c1d2f75a92_0_5"/>
          <p:cNvSpPr/>
          <p:nvPr/>
        </p:nvSpPr>
        <p:spPr>
          <a:xfrm>
            <a:off x="8515150" y="3547425"/>
            <a:ext cx="276300" cy="1657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2c1d2f75a92_0_5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2c1d2f75a92_0_5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6" name="Google Shape;136;g2c1d2f75a92_0_5"/>
          <p:cNvSpPr txBox="1"/>
          <p:nvPr/>
        </p:nvSpPr>
        <p:spPr>
          <a:xfrm>
            <a:off x="6895900" y="1988250"/>
            <a:ext cx="532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2c1d2f75a92_0_5"/>
          <p:cNvSpPr txBox="1"/>
          <p:nvPr/>
        </p:nvSpPr>
        <p:spPr>
          <a:xfrm>
            <a:off x="9015400" y="4046850"/>
            <a:ext cx="286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Cuerpo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1d2f75a92_0_5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3" name="Google Shape;143;g2c1d2f75a92_0_56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c1d2f75a92_0_5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5" name="Google Shape;145;g2c1d2f75a92_0_5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c1d2f75a92_0_5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7" name="Google Shape;147;g2c1d2f75a92_0_56"/>
          <p:cNvSpPr txBox="1"/>
          <p:nvPr/>
        </p:nvSpPr>
        <p:spPr>
          <a:xfrm>
            <a:off x="426325" y="1835600"/>
            <a:ext cx="626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Formas de escribir funciones en c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8" name="Google Shape;148;g2c1d2f75a92_0_56"/>
          <p:cNvSpPr txBox="1"/>
          <p:nvPr/>
        </p:nvSpPr>
        <p:spPr>
          <a:xfrm>
            <a:off x="1993200" y="2685575"/>
            <a:ext cx="8205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 sz="1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Tipo de dato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Nombre_de_la_función(</a:t>
            </a:r>
            <a:r>
              <a:rPr lang="es-AR" sz="18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main()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	Nombre_de_la_función(</a:t>
            </a:r>
            <a:r>
              <a:rPr lang="es-AR" sz="18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	return 0;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Tipo de dato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Nombre de la función(</a:t>
            </a:r>
            <a:r>
              <a:rPr lang="es-AR" sz="18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return </a:t>
            </a:r>
            <a:r>
              <a:rPr lang="es-AR" sz="18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valor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2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9" name="Google Shape;149;g2c1d2f75a92_0_56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2c1d2f75a92_0_56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1" name="Google Shape;151;g2c1d2f75a92_0_56"/>
          <p:cNvSpPr txBox="1"/>
          <p:nvPr/>
        </p:nvSpPr>
        <p:spPr>
          <a:xfrm>
            <a:off x="426325" y="2685575"/>
            <a:ext cx="87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1</a:t>
            </a: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.</a:t>
            </a:r>
            <a:endParaRPr sz="21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2" name="Google Shape;152;g2c1d2f75a92_0_56"/>
          <p:cNvSpPr/>
          <p:nvPr/>
        </p:nvSpPr>
        <p:spPr>
          <a:xfrm>
            <a:off x="7200425" y="3182700"/>
            <a:ext cx="207000" cy="569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2c1d2f75a92_0_56"/>
          <p:cNvSpPr txBox="1"/>
          <p:nvPr/>
        </p:nvSpPr>
        <p:spPr>
          <a:xfrm>
            <a:off x="7590225" y="3182700"/>
            <a:ext cx="302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Prototipo de la función</a:t>
            </a:r>
            <a:endParaRPr sz="20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1d2f75a92_0_4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9" name="Google Shape;159;g2c1d2f75a92_0_40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c1d2f75a92_0_4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1" name="Google Shape;161;g2c1d2f75a92_0_4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2c1d2f75a92_0_4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3" name="Google Shape;163;g2c1d2f75a92_0_40"/>
          <p:cNvSpPr txBox="1"/>
          <p:nvPr/>
        </p:nvSpPr>
        <p:spPr>
          <a:xfrm>
            <a:off x="426325" y="1835600"/>
            <a:ext cx="626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Formas de escribir funciones en c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4" name="Google Shape;164;g2c1d2f75a92_0_40"/>
          <p:cNvSpPr txBox="1"/>
          <p:nvPr/>
        </p:nvSpPr>
        <p:spPr>
          <a:xfrm>
            <a:off x="1993200" y="2685575"/>
            <a:ext cx="8205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 sz="1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Tipo de dato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Nombre de la función(</a:t>
            </a:r>
            <a:r>
              <a:rPr lang="es-AR" sz="19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){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return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valor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main(){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	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Nombre_de_la_función(</a:t>
            </a:r>
            <a:r>
              <a:rPr lang="es-AR" sz="19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);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	return 0;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5" name="Google Shape;165;g2c1d2f75a92_0_40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c1d2f75a92_0_40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7" name="Google Shape;167;g2c1d2f75a92_0_40"/>
          <p:cNvSpPr txBox="1"/>
          <p:nvPr/>
        </p:nvSpPr>
        <p:spPr>
          <a:xfrm>
            <a:off x="426325" y="2685575"/>
            <a:ext cx="102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1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2.</a:t>
            </a:r>
            <a:endParaRPr sz="21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8" name="Google Shape;168;g2c1d2f75a92_0_40"/>
          <p:cNvSpPr/>
          <p:nvPr/>
        </p:nvSpPr>
        <p:spPr>
          <a:xfrm>
            <a:off x="6688825" y="4765550"/>
            <a:ext cx="779700" cy="389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2c1d2f75a92_0_40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2c1d2f75a92_0_40"/>
          <p:cNvSpPr txBox="1"/>
          <p:nvPr/>
        </p:nvSpPr>
        <p:spPr>
          <a:xfrm>
            <a:off x="7578150" y="465260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Llamada a la función</a:t>
            </a:r>
            <a:endParaRPr sz="28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1d2f75a92_0_25"/>
          <p:cNvSpPr/>
          <p:nvPr/>
        </p:nvSpPr>
        <p:spPr>
          <a:xfrm>
            <a:off x="6623975" y="2431550"/>
            <a:ext cx="2570100" cy="3741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c1d2f75a92_0_25"/>
          <p:cNvSpPr/>
          <p:nvPr/>
        </p:nvSpPr>
        <p:spPr>
          <a:xfrm>
            <a:off x="1390025" y="2422825"/>
            <a:ext cx="2570100" cy="3741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2c1d2f75a92_0_25"/>
          <p:cNvSpPr txBox="1"/>
          <p:nvPr/>
        </p:nvSpPr>
        <p:spPr>
          <a:xfrm>
            <a:off x="319439" y="97804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8" name="Google Shape;178;g2c1d2f75a92_0_25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c1d2f75a92_0_2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0" name="Google Shape;180;g2c1d2f75a92_0_2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2c1d2f75a92_0_2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2" name="Google Shape;182;g2c1d2f75a92_0_25"/>
          <p:cNvSpPr txBox="1"/>
          <p:nvPr/>
        </p:nvSpPr>
        <p:spPr>
          <a:xfrm>
            <a:off x="426325" y="1716950"/>
            <a:ext cx="17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E</a:t>
            </a:r>
            <a:r>
              <a:rPr lang="es-AR" sz="30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jemplo</a:t>
            </a:r>
            <a:endParaRPr sz="30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3" name="Google Shape;183;g2c1d2f75a92_0_25"/>
          <p:cNvSpPr txBox="1"/>
          <p:nvPr/>
        </p:nvSpPr>
        <p:spPr>
          <a:xfrm>
            <a:off x="1463075" y="2414100"/>
            <a:ext cx="2814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// Prototipo de la función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saludarATodos();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main()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{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    // Llamada a la función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saludarATodos();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return 0;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// Definición de la función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saludarATodos()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{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printf("¡Hola a todos!\n");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4" name="Google Shape;184;g2c1d2f75a92_0_25"/>
          <p:cNvSpPr txBox="1"/>
          <p:nvPr/>
        </p:nvSpPr>
        <p:spPr>
          <a:xfrm>
            <a:off x="8974900" y="420810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2c1d2f75a92_0_25"/>
          <p:cNvSpPr txBox="1"/>
          <p:nvPr/>
        </p:nvSpPr>
        <p:spPr>
          <a:xfrm>
            <a:off x="9559625" y="406192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6" name="Google Shape;186;g2c1d2f75a92_0_25"/>
          <p:cNvSpPr/>
          <p:nvPr/>
        </p:nvSpPr>
        <p:spPr>
          <a:xfrm>
            <a:off x="4762713" y="3953250"/>
            <a:ext cx="844500" cy="5340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00B0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2c1d2f75a92_0_25"/>
          <p:cNvSpPr txBox="1"/>
          <p:nvPr/>
        </p:nvSpPr>
        <p:spPr>
          <a:xfrm>
            <a:off x="817500" y="2402400"/>
            <a:ext cx="51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1.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8" name="Google Shape;188;g2c1d2f75a92_0_25"/>
          <p:cNvSpPr txBox="1"/>
          <p:nvPr/>
        </p:nvSpPr>
        <p:spPr>
          <a:xfrm>
            <a:off x="6037275" y="2431550"/>
            <a:ext cx="51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.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9" name="Google Shape;189;g2c1d2f75a92_0_25"/>
          <p:cNvSpPr txBox="1"/>
          <p:nvPr/>
        </p:nvSpPr>
        <p:spPr>
          <a:xfrm>
            <a:off x="6647200" y="2414100"/>
            <a:ext cx="2814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// Definición de la función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saludarATodos()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printf("¡Hola a todos!\n");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main()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{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    // Llamada a la función</a:t>
            </a:r>
            <a:endParaRPr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saludarATodos();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return 0;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1d2f75a92_0_10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5" name="Google Shape;195;g2c1d2f75a92_0_104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c1d2f75a92_0_10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7" name="Google Shape;197;g2c1d2f75a92_0_10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2c1d2f75a92_0_10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9" name="Google Shape;199;g2c1d2f75a92_0_104"/>
          <p:cNvSpPr txBox="1"/>
          <p:nvPr/>
        </p:nvSpPr>
        <p:spPr>
          <a:xfrm>
            <a:off x="426325" y="1835600"/>
            <a:ext cx="626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de parámetros</a:t>
            </a:r>
            <a:endParaRPr sz="3000">
              <a:solidFill>
                <a:schemeClr val="dk1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00" name="Google Shape;200;g2c1d2f75a92_0_10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2c1d2f75a92_0_10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2" name="Google Shape;202;g2c1d2f75a92_0_104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2c1d2f75a92_0_104"/>
          <p:cNvSpPr txBox="1"/>
          <p:nvPr/>
        </p:nvSpPr>
        <p:spPr>
          <a:xfrm>
            <a:off x="1424200" y="3486150"/>
            <a:ext cx="323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Pasaje por valor</a:t>
            </a:r>
            <a:endParaRPr sz="26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4" name="Google Shape;204;g2c1d2f75a92_0_104"/>
          <p:cNvSpPr txBox="1"/>
          <p:nvPr/>
        </p:nvSpPr>
        <p:spPr>
          <a:xfrm>
            <a:off x="6509950" y="3541638"/>
            <a:ext cx="323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Pasaje por dirección</a:t>
            </a:r>
            <a:endParaRPr sz="26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1d2f75a92_0_153"/>
          <p:cNvSpPr/>
          <p:nvPr/>
        </p:nvSpPr>
        <p:spPr>
          <a:xfrm>
            <a:off x="1122025" y="3128800"/>
            <a:ext cx="3000000" cy="2067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2c1d2f75a92_0_153"/>
          <p:cNvSpPr/>
          <p:nvPr/>
        </p:nvSpPr>
        <p:spPr>
          <a:xfrm>
            <a:off x="5201225" y="3153052"/>
            <a:ext cx="3313200" cy="1668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2c1d2f75a92_0_15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2" name="Google Shape;212;g2c1d2f75a92_0_153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c1d2f75a92_0_15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4" name="Google Shape;214;g2c1d2f75a92_0_15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c1d2f75a92_0_15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6" name="Google Shape;216;g2c1d2f75a92_0_153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2c1d2f75a92_0_153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8" name="Google Shape;218;g2c1d2f75a92_0_153"/>
          <p:cNvSpPr txBox="1"/>
          <p:nvPr/>
        </p:nvSpPr>
        <p:spPr>
          <a:xfrm>
            <a:off x="368175" y="1729125"/>
            <a:ext cx="546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00FF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de parámetros por valor</a:t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19" name="Google Shape;219;g2c1d2f75a92_0_153"/>
          <p:cNvSpPr txBox="1"/>
          <p:nvPr/>
        </p:nvSpPr>
        <p:spPr>
          <a:xfrm>
            <a:off x="1439400" y="3128800"/>
            <a:ext cx="3000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 a,b;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a=5;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b=1;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suma(a,b);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0" name="Google Shape;220;g2c1d2f75a92_0_153"/>
          <p:cNvSpPr txBox="1"/>
          <p:nvPr/>
        </p:nvSpPr>
        <p:spPr>
          <a:xfrm>
            <a:off x="1122025" y="2513200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Int main(){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1" name="Google Shape;221;g2c1d2f75a92_0_153"/>
          <p:cNvSpPr txBox="1"/>
          <p:nvPr/>
        </p:nvSpPr>
        <p:spPr>
          <a:xfrm>
            <a:off x="5518600" y="3153038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 result;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result= c+d;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printf…….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2" name="Google Shape;222;g2c1d2f75a92_0_153"/>
          <p:cNvSpPr txBox="1"/>
          <p:nvPr/>
        </p:nvSpPr>
        <p:spPr>
          <a:xfrm>
            <a:off x="5201225" y="2537438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3" name="Google Shape;223;g2c1d2f75a92_0_153"/>
          <p:cNvSpPr txBox="1"/>
          <p:nvPr/>
        </p:nvSpPr>
        <p:spPr>
          <a:xfrm>
            <a:off x="5201225" y="2507100"/>
            <a:ext cx="415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22C3D"/>
                </a:solidFill>
                <a:latin typeface="Saira"/>
                <a:ea typeface="Saira"/>
                <a:cs typeface="Saira"/>
                <a:sym typeface="Saira"/>
              </a:rPr>
              <a:t>void suma(int c,int d){</a:t>
            </a:r>
            <a:endParaRPr b="1" sz="2800">
              <a:solidFill>
                <a:srgbClr val="F22C3D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4" name="Google Shape;224;g2c1d2f75a92_0_153"/>
          <p:cNvSpPr txBox="1"/>
          <p:nvPr/>
        </p:nvSpPr>
        <p:spPr>
          <a:xfrm>
            <a:off x="5201225" y="4911875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22C3D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b="1" sz="2800">
              <a:solidFill>
                <a:srgbClr val="F22C3D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5" name="Google Shape;225;g2c1d2f75a92_0_153"/>
          <p:cNvSpPr txBox="1"/>
          <p:nvPr/>
        </p:nvSpPr>
        <p:spPr>
          <a:xfrm>
            <a:off x="1122025" y="5196700"/>
            <a:ext cx="701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return 0;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c1d2f75a92_0_25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1" name="Google Shape;231;g2c1d2f75a92_0_250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c1d2f75a92_0_25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3" name="Google Shape;233;g2c1d2f75a92_0_25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c1d2f75a92_0_25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5" name="Google Shape;235;g2c1d2f75a92_0_250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6" name="Google Shape;236;g2c1d2f75a92_0_250"/>
          <p:cNvSpPr txBox="1"/>
          <p:nvPr/>
        </p:nvSpPr>
        <p:spPr>
          <a:xfrm>
            <a:off x="368175" y="1729125"/>
            <a:ext cx="546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00FF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de parámetros por valor</a:t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pic>
        <p:nvPicPr>
          <p:cNvPr id="237" name="Google Shape;237;g2c1d2f75a92_0_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675" y="2903900"/>
            <a:ext cx="10620799" cy="22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1d2f75a92_0_12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3" name="Google Shape;243;g2c1d2f75a92_0_122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2c1d2f75a92_0_12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5" name="Google Shape;245;g2c1d2f75a92_0_12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2c1d2f75a92_0_12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7" name="Google Shape;247;g2c1d2f75a92_0_122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2c1d2f75a92_0_122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9" name="Google Shape;249;g2c1d2f75a92_0_122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2c1d2f75a92_0_122"/>
          <p:cNvSpPr txBox="1"/>
          <p:nvPr/>
        </p:nvSpPr>
        <p:spPr>
          <a:xfrm>
            <a:off x="368175" y="1729125"/>
            <a:ext cx="546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00FF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de parámetros por valor</a:t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51" name="Google Shape;251;g2c1d2f75a92_0_122"/>
          <p:cNvSpPr txBox="1"/>
          <p:nvPr/>
        </p:nvSpPr>
        <p:spPr>
          <a:xfrm>
            <a:off x="587475" y="2253225"/>
            <a:ext cx="51270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 sz="13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// Definición de la función</a:t>
            </a:r>
            <a:endParaRPr sz="13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suma</a:t>
            </a: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(int a, int b)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int result;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result=a+b;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return result;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1300">
                <a:latin typeface="Saira"/>
                <a:ea typeface="Saira"/>
                <a:cs typeface="Saira"/>
                <a:sym typeface="Saira"/>
              </a:rPr>
              <a:t>main()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{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int a,b,c;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a=5;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b=1;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    // Llamada a la función</a:t>
            </a:r>
            <a:endParaRPr sz="13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c=suma(a,b);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return 0;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}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c1d2f75a92_0_136"/>
          <p:cNvSpPr/>
          <p:nvPr/>
        </p:nvSpPr>
        <p:spPr>
          <a:xfrm>
            <a:off x="1122025" y="3128800"/>
            <a:ext cx="3000000" cy="2026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2c1d2f75a92_0_13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8" name="Google Shape;258;g2c1d2f75a92_0_136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2c1d2f75a92_0_13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60" name="Google Shape;260;g2c1d2f75a92_0_13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c1d2f75a92_0_13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2" name="Google Shape;262;g2c1d2f75a92_0_136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2c1d2f75a92_0_136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4" name="Google Shape;264;g2c1d2f75a92_0_136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2c1d2f75a92_0_136"/>
          <p:cNvSpPr txBox="1"/>
          <p:nvPr/>
        </p:nvSpPr>
        <p:spPr>
          <a:xfrm>
            <a:off x="368175" y="1729125"/>
            <a:ext cx="384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2600">
                <a:solidFill>
                  <a:srgbClr val="FF0000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por dirección</a:t>
            </a:r>
            <a:endParaRPr sz="2600">
              <a:solidFill>
                <a:srgbClr val="FF0000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66" name="Google Shape;266;g2c1d2f75a92_0_136"/>
          <p:cNvSpPr/>
          <p:nvPr/>
        </p:nvSpPr>
        <p:spPr>
          <a:xfrm>
            <a:off x="5201225" y="3153052"/>
            <a:ext cx="3313200" cy="1668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2c1d2f75a92_0_136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2c1d2f75a92_0_136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9" name="Google Shape;269;g2c1d2f75a92_0_136"/>
          <p:cNvSpPr txBox="1"/>
          <p:nvPr/>
        </p:nvSpPr>
        <p:spPr>
          <a:xfrm>
            <a:off x="1390675" y="3000800"/>
            <a:ext cx="3000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 a,b;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a=5;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b=1;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suma(</a:t>
            </a:r>
            <a:r>
              <a:rPr lang="es-A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a,</a:t>
            </a:r>
            <a:r>
              <a:rPr lang="es-A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b);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0" name="Google Shape;270;g2c1d2f75a92_0_136"/>
          <p:cNvSpPr txBox="1"/>
          <p:nvPr/>
        </p:nvSpPr>
        <p:spPr>
          <a:xfrm>
            <a:off x="1122025" y="2513200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Int main(){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1" name="Google Shape;271;g2c1d2f75a92_0_136"/>
          <p:cNvSpPr txBox="1"/>
          <p:nvPr/>
        </p:nvSpPr>
        <p:spPr>
          <a:xfrm>
            <a:off x="5518600" y="3153038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 result;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result= *c+*d;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printf…….</a:t>
            </a:r>
            <a:endParaRPr sz="3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2" name="Google Shape;272;g2c1d2f75a92_0_136"/>
          <p:cNvSpPr txBox="1"/>
          <p:nvPr/>
        </p:nvSpPr>
        <p:spPr>
          <a:xfrm>
            <a:off x="5201225" y="2537438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3" name="Google Shape;273;g2c1d2f75a92_0_136"/>
          <p:cNvSpPr txBox="1"/>
          <p:nvPr/>
        </p:nvSpPr>
        <p:spPr>
          <a:xfrm>
            <a:off x="5201225" y="2507100"/>
            <a:ext cx="415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22C3D"/>
                </a:solidFill>
                <a:latin typeface="Saira"/>
                <a:ea typeface="Saira"/>
                <a:cs typeface="Saira"/>
                <a:sym typeface="Saira"/>
              </a:rPr>
              <a:t>void suma(int *c,int *d){</a:t>
            </a:r>
            <a:endParaRPr b="1" sz="2800">
              <a:solidFill>
                <a:srgbClr val="F22C3D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4" name="Google Shape;274;g2c1d2f75a92_0_136"/>
          <p:cNvSpPr txBox="1"/>
          <p:nvPr/>
        </p:nvSpPr>
        <p:spPr>
          <a:xfrm>
            <a:off x="5201225" y="4911875"/>
            <a:ext cx="70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22C3D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b="1" sz="2800">
              <a:solidFill>
                <a:srgbClr val="F22C3D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5" name="Google Shape;275;g2c1d2f75a92_0_136"/>
          <p:cNvSpPr txBox="1"/>
          <p:nvPr/>
        </p:nvSpPr>
        <p:spPr>
          <a:xfrm>
            <a:off x="1122025" y="5001800"/>
            <a:ext cx="701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return 0;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b="1" sz="28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1d2f75a92_0_27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1" name="Google Shape;281;g2c1d2f75a92_0_271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c1d2f75a92_0_27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3" name="Google Shape;283;g2c1d2f75a92_0_27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2c1d2f75a92_0_27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5" name="Google Shape;285;g2c1d2f75a92_0_271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2c1d2f75a92_0_271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7" name="Google Shape;287;g2c1d2f75a92_0_271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2c1d2f75a92_0_271"/>
          <p:cNvSpPr txBox="1"/>
          <p:nvPr/>
        </p:nvSpPr>
        <p:spPr>
          <a:xfrm>
            <a:off x="368175" y="1729125"/>
            <a:ext cx="5833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FF0000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por dirección</a:t>
            </a:r>
            <a:endParaRPr sz="2600">
              <a:solidFill>
                <a:srgbClr val="FF0000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89" name="Google Shape;289;g2c1d2f75a92_0_271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2c1d2f75a92_0_271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1" name="Google Shape;291;g2c1d2f75a92_0_2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175" y="2730300"/>
            <a:ext cx="10897288" cy="235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c1d2f75a92_0_18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7" name="Google Shape;297;g2c1d2f75a92_0_189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c1d2f75a92_0_18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9" name="Google Shape;299;g2c1d2f75a92_0_18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c1d2f75a92_0_18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1" name="Google Shape;301;g2c1d2f75a92_0_189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2c1d2f75a92_0_189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3" name="Google Shape;303;g2c1d2f75a92_0_189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2c1d2f75a92_0_189"/>
          <p:cNvSpPr txBox="1"/>
          <p:nvPr/>
        </p:nvSpPr>
        <p:spPr>
          <a:xfrm>
            <a:off x="368175" y="1729125"/>
            <a:ext cx="384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FF0000"/>
                </a:solidFill>
                <a:latin typeface="Saira Medium"/>
                <a:ea typeface="Saira Medium"/>
                <a:cs typeface="Saira Medium"/>
                <a:sym typeface="Saira Medium"/>
              </a:rPr>
              <a:t>Pasaje por dirección</a:t>
            </a:r>
            <a:endParaRPr sz="2600">
              <a:solidFill>
                <a:srgbClr val="FF0000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FF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305" name="Google Shape;305;g2c1d2f75a92_0_189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2c1d2f75a92_0_189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7" name="Google Shape;307;g2c1d2f75a92_0_189"/>
          <p:cNvSpPr txBox="1"/>
          <p:nvPr/>
        </p:nvSpPr>
        <p:spPr>
          <a:xfrm>
            <a:off x="587475" y="2253225"/>
            <a:ext cx="51270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028009"/>
                </a:solidFill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 sz="1300">
              <a:solidFill>
                <a:srgbClr val="028009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// Definición de la función</a:t>
            </a:r>
            <a:endParaRPr sz="13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suma(int *a, int *b)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int result;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result=*a+*b;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printf("El resultado es: %d\n",result);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 </a:t>
            </a:r>
            <a:r>
              <a:rPr lang="es-AR" sz="1300">
                <a:latin typeface="Saira"/>
                <a:ea typeface="Saira"/>
                <a:cs typeface="Saira"/>
                <a:sym typeface="Saira"/>
              </a:rPr>
              <a:t>main()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{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int a,b;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a=5;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b=1;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9900FF"/>
                </a:solidFill>
                <a:latin typeface="Saira"/>
                <a:ea typeface="Saira"/>
                <a:cs typeface="Saira"/>
                <a:sym typeface="Saira"/>
              </a:rPr>
              <a:t>    // Llamada a la función</a:t>
            </a:r>
            <a:endParaRPr sz="1300">
              <a:solidFill>
                <a:srgbClr val="99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suma(</a:t>
            </a:r>
            <a:r>
              <a:rPr lang="es-AR" sz="1300"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 sz="1300">
                <a:latin typeface="Saira"/>
                <a:ea typeface="Saira"/>
                <a:cs typeface="Saira"/>
                <a:sym typeface="Saira"/>
              </a:rPr>
              <a:t>a,</a:t>
            </a:r>
            <a:r>
              <a:rPr lang="es-AR" sz="1300"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 sz="1300">
                <a:latin typeface="Saira"/>
                <a:ea typeface="Saira"/>
                <a:cs typeface="Saira"/>
                <a:sym typeface="Saira"/>
              </a:rPr>
              <a:t>b);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    return 0;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300">
                <a:latin typeface="Saira"/>
                <a:ea typeface="Saira"/>
                <a:cs typeface="Saira"/>
                <a:sym typeface="Saira"/>
              </a:rPr>
              <a:t>}</a:t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d2f75a92_0_218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3" name="Google Shape;313;g2c1d2f75a92_0_218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c1d2f75a92_0_21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5" name="Google Shape;315;g2c1d2f75a92_0_21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2c1d2f75a92_0_21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7" name="Google Shape;317;g2c1d2f75a92_0_218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2c1d2f75a92_0_218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9" name="Google Shape;319;g2c1d2f75a92_0_218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c1d2f75a92_0_218"/>
          <p:cNvSpPr txBox="1"/>
          <p:nvPr/>
        </p:nvSpPr>
        <p:spPr>
          <a:xfrm>
            <a:off x="2593950" y="2736300"/>
            <a:ext cx="7004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70C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¿Por qué pasaria </a:t>
            </a:r>
            <a:r>
              <a:rPr lang="es-AR" sz="2600">
                <a:solidFill>
                  <a:srgbClr val="0070C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parámetros</a:t>
            </a:r>
            <a:r>
              <a:rPr lang="es-AR" sz="2600">
                <a:solidFill>
                  <a:srgbClr val="0070C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 por dirección si puedo pasarlos por valor ?</a:t>
            </a:r>
            <a:endParaRPr sz="2600">
              <a:solidFill>
                <a:srgbClr val="0070C0"/>
              </a:solidFill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FF"/>
              </a:solidFill>
              <a:latin typeface="Saira SemiBold"/>
              <a:ea typeface="Saira SemiBold"/>
              <a:cs typeface="Saira SemiBold"/>
              <a:sym typeface="Saira SemiBold"/>
            </a:endParaRPr>
          </a:p>
        </p:txBody>
      </p:sp>
      <p:sp>
        <p:nvSpPr>
          <p:cNvPr id="321" name="Google Shape;321;g2c1d2f75a92_0_218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c1d2f75a92_0_218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1d2f75a92_0_233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28" name="Google Shape;328;g2c1d2f75a92_0_233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c1d2f75a92_0_23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30" name="Google Shape;330;g2c1d2f75a92_0_23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2c1d2f75a92_0_23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2" name="Google Shape;332;g2c1d2f75a92_0_233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2c1d2f75a92_0_233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4" name="Google Shape;334;g2c1d2f75a92_0_233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2c1d2f75a92_0_233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2c1d2f75a92_0_233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7" name="Google Shape;337;g2c1d2f75a92_0_233"/>
          <p:cNvSpPr txBox="1"/>
          <p:nvPr/>
        </p:nvSpPr>
        <p:spPr>
          <a:xfrm>
            <a:off x="1461000" y="2592500"/>
            <a:ext cx="9270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28009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Modificar múltiples valores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: Si una función necesita modificar más de un valor y deseas que esos cambios sean visibles fuera de la función, pasar los parámetros por dirección es una opción práctica.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F22C3D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Eficiencia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: Pasar grandes estructuras de datos o matrices por valor puede ser ineficiente en términos de memoria y tiempo de ejecución. Pasarlos por dirección puede evitar la copia de grandes cantidades de datos.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000FF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Funciones de retorno múltiple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: Cuando una función necesita devolver más de un valor, puedes pasar punteros a las variables fuera de la función para que puedan ser modificadas.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8" name="Google Shape;338;g2c1d2f75a92_0_233"/>
          <p:cNvSpPr txBox="1"/>
          <p:nvPr/>
        </p:nvSpPr>
        <p:spPr>
          <a:xfrm>
            <a:off x="319450" y="1680400"/>
            <a:ext cx="767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70C0"/>
                </a:solidFill>
                <a:latin typeface="Saira Medium"/>
                <a:ea typeface="Saira Medium"/>
                <a:cs typeface="Saira Medium"/>
                <a:sym typeface="Saira Medium"/>
              </a:rPr>
              <a:t>Ventajas de pasar </a:t>
            </a:r>
            <a:r>
              <a:rPr lang="es-AR" sz="2600">
                <a:solidFill>
                  <a:srgbClr val="0070C0"/>
                </a:solidFill>
                <a:latin typeface="Saira Medium"/>
                <a:ea typeface="Saira Medium"/>
                <a:cs typeface="Saira Medium"/>
                <a:sym typeface="Saira Medium"/>
              </a:rPr>
              <a:t>parámetros</a:t>
            </a:r>
            <a:r>
              <a:rPr lang="es-AR" sz="2600">
                <a:solidFill>
                  <a:srgbClr val="0070C0"/>
                </a:solidFill>
                <a:latin typeface="Saira Medium"/>
                <a:ea typeface="Saira Medium"/>
                <a:cs typeface="Saira Medium"/>
                <a:sym typeface="Saira Medium"/>
              </a:rPr>
              <a:t> por dirección</a:t>
            </a:r>
            <a:endParaRPr sz="2600">
              <a:solidFill>
                <a:srgbClr val="0070C0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70C0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c1d2f75a92_0_295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44" name="Google Shape;344;g2c1d2f75a92_0_295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2c1d2f75a92_0_29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46" name="Google Shape;346;g2c1d2f75a92_0_29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2c1d2f75a92_0_29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48" name="Google Shape;348;g2c1d2f75a92_0_295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2c1d2f75a92_0_295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50" name="Google Shape;350;g2c1d2f75a92_0_295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2c1d2f75a92_0_295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2c1d2f75a92_0_295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53" name="Google Shape;353;g2c1d2f75a92_0_295"/>
          <p:cNvSpPr txBox="1"/>
          <p:nvPr/>
        </p:nvSpPr>
        <p:spPr>
          <a:xfrm>
            <a:off x="319450" y="1680400"/>
            <a:ext cx="767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0070C0"/>
                </a:solidFill>
                <a:latin typeface="Saira Medium"/>
                <a:ea typeface="Saira Medium"/>
                <a:cs typeface="Saira Medium"/>
                <a:sym typeface="Saira Medium"/>
              </a:rPr>
              <a:t>Ejemplo</a:t>
            </a:r>
            <a:endParaRPr sz="2600">
              <a:solidFill>
                <a:srgbClr val="0070C0"/>
              </a:solidFill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70C0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354" name="Google Shape;354;g2c1d2f75a92_0_295"/>
          <p:cNvSpPr txBox="1"/>
          <p:nvPr/>
        </p:nvSpPr>
        <p:spPr>
          <a:xfrm>
            <a:off x="657800" y="2414125"/>
            <a:ext cx="8791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#include &lt;stdio.h&gt;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void intercambiar_direc(int *a, int *b) {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int temp = *a;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*a = *b;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*b = temp;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void intercambiar_valor(int a, int b) {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int temp =a;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a = b;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    b = temp;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}</a:t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2c1d2f75a92_0_295"/>
          <p:cNvSpPr txBox="1"/>
          <p:nvPr/>
        </p:nvSpPr>
        <p:spPr>
          <a:xfrm>
            <a:off x="5121225" y="2408513"/>
            <a:ext cx="5562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int main() {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int a = 5, b = 1;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printf("Valores originales: a = %d, b = %d\n", a, b);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printf("corremos intercambiar_valor \n");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intercambiar_valor(a, b);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getchar();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printf("Valores originales: a = %d, b = %d\n", a, b);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getchar();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printf("corremos intercambiar_direc \n");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intercambiar_direc(</a:t>
            </a:r>
            <a:r>
              <a:rPr lang="es-A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a,</a:t>
            </a:r>
            <a:r>
              <a:rPr lang="es-A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b);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getchar();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printf("Valores originales: a = %d, b = %d\n", a, b);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   return 0;</a:t>
            </a:r>
            <a:endParaRPr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c1d2f75a92_0_314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61" name="Google Shape;361;g2c1d2f75a92_0_314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63" name="Google Shape;363;g2c1d2f75a92_0_3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5" name="Google Shape;365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7" name="Google Shape;367;g2c1d2f75a92_0_314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70" name="Google Shape;370;g2c1d2f75a92_0_314"/>
          <p:cNvSpPr txBox="1"/>
          <p:nvPr/>
        </p:nvSpPr>
        <p:spPr>
          <a:xfrm>
            <a:off x="472875" y="1680400"/>
            <a:ext cx="436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 integrador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71" name="Google Shape;371;g2c1d2f75a92_0_314"/>
          <p:cNvSpPr txBox="1"/>
          <p:nvPr/>
        </p:nvSpPr>
        <p:spPr>
          <a:xfrm>
            <a:off x="424150" y="2311600"/>
            <a:ext cx="97749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Escribe un programa en C que permita calcular el área y el perímetro de diferentes formas geométricas. El programa debe presentar un menú con las siguientes opciones: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1. Calcular área y perímetro de un cuadrado.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2. Calcular área y perímetro de un rectángulo.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3. Calcular área y perímetro de un círculo.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4. Salir.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Para cada opción seleccionada por el usuario, el programa debe solicitar los datos necesarios para realizar los cálculos y luego mostrar los resultados.El cálculo de las áreas y perímetros debe ser realizado mediante funciones separadas para cada tipo de forma geométrica. Estas funciones deben recibir los datos necesarios como parámetros y devolver los resultados mediante parámetros por referencia. El programa debe continuar ejecutándose hasta que el usuario seleccione la opción para salir.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Utiliza  el valor de π como 3.14159 para los cálculos del círculo.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1f3006538ad_0_20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Vectores</a:t>
            </a:r>
            <a:endParaRPr sz="2000"/>
          </a:p>
        </p:txBody>
      </p:sp>
      <p:pic>
        <p:nvPicPr>
          <p:cNvPr id="378" name="Google Shape;378;g1f3006538ad_0_20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5219014" y="3378025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