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embeddedFontLst>
    <p:embeddedFont>
      <p:font typeface="Saira"/>
      <p:regular r:id="rId23"/>
      <p:bold r:id="rId24"/>
      <p:italic r:id="rId25"/>
      <p:boldItalic r:id="rId26"/>
    </p:embeddedFont>
    <p:embeddedFont>
      <p:font typeface="Saira Light"/>
      <p:regular r:id="rId27"/>
      <p:bold r:id="rId28"/>
      <p:italic r:id="rId29"/>
      <p:boldItalic r:id="rId30"/>
    </p:embeddedFont>
    <p:embeddedFont>
      <p:font typeface="Saira SemiBold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jJ5As5GPIG0jIpXq5XpbmicJ+l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Saira-bold.fntdata"/><Relationship Id="rId23" Type="http://schemas.openxmlformats.org/officeDocument/2006/relationships/font" Target="fonts/Saira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Saira-boldItalic.fntdata"/><Relationship Id="rId25" Type="http://schemas.openxmlformats.org/officeDocument/2006/relationships/font" Target="fonts/Saira-italic.fntdata"/><Relationship Id="rId28" Type="http://schemas.openxmlformats.org/officeDocument/2006/relationships/font" Target="fonts/SairaLight-bold.fntdata"/><Relationship Id="rId27" Type="http://schemas.openxmlformats.org/officeDocument/2006/relationships/font" Target="fonts/SairaLight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SairaLigh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SairaSemiBold-regular.fntdata"/><Relationship Id="rId30" Type="http://schemas.openxmlformats.org/officeDocument/2006/relationships/font" Target="fonts/SairaLight-boldItalic.fntdata"/><Relationship Id="rId11" Type="http://schemas.openxmlformats.org/officeDocument/2006/relationships/slide" Target="slides/slide7.xml"/><Relationship Id="rId33" Type="http://schemas.openxmlformats.org/officeDocument/2006/relationships/font" Target="fonts/SairaSemiBold-italic.fntdata"/><Relationship Id="rId10" Type="http://schemas.openxmlformats.org/officeDocument/2006/relationships/slide" Target="slides/slide6.xml"/><Relationship Id="rId32" Type="http://schemas.openxmlformats.org/officeDocument/2006/relationships/font" Target="fonts/SairaSemiBold-bold.fntdata"/><Relationship Id="rId13" Type="http://schemas.openxmlformats.org/officeDocument/2006/relationships/slide" Target="slides/slide9.xml"/><Relationship Id="rId35" Type="http://customschemas.google.com/relationships/presentationmetadata" Target="metadata"/><Relationship Id="rId12" Type="http://schemas.openxmlformats.org/officeDocument/2006/relationships/slide" Target="slides/slide8.xml"/><Relationship Id="rId34" Type="http://schemas.openxmlformats.org/officeDocument/2006/relationships/font" Target="fonts/SairaSemiBold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f2ce82f4e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1f2ce82f4ef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f54769c84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1f54769c84a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f575dcc7c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1f575dcc7c2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f575dcc7c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1f575dcc7c2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f575dcc7c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1f575dcc7c2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f575dcc7c2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1f575dcc7c2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f575dcc7c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1f575dcc7c2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f575dcc7c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g1f575dcc7c2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f54769c84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1f54769c84a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f55550cd8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1f55550cd8a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f55550cd8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g1f55550cd8a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f55550cd8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g1f55550cd8a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f575dcc7c2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g1f575dcc7c2_0_1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f55550cd8a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g1f55550cd8a_0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f55550cd8a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g1f55550cd8a_0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c1d2f75a92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g2c1d2f75a92_0_3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f3006538ad_0_2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g1f3006538ad_0_2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6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5.jp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5.jpg"/><Relationship Id="rId5" Type="http://schemas.openxmlformats.org/officeDocument/2006/relationships/image" Target="../media/image10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5.jp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5.jp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5.jp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5.jp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52814" y="1014596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Laboratorio de computación II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30673" l="23551" r="22738" t="29909"/>
          <a:stretch/>
        </p:blipFill>
        <p:spPr>
          <a:xfrm>
            <a:off x="8791460" y="390327"/>
            <a:ext cx="2959466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3354138" y="2383500"/>
            <a:ext cx="5483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Unidad 9 - </a:t>
            </a:r>
            <a:r>
              <a:rPr lang="es-AR" sz="2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Archivos de texto</a:t>
            </a: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</a:t>
            </a:r>
            <a:endParaRPr b="0" i="0" sz="2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 b="0" l="27394" r="27820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1624" y="3216050"/>
            <a:ext cx="2468775" cy="255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2ce82f4ef_0_5"/>
          <p:cNvSpPr txBox="1"/>
          <p:nvPr/>
        </p:nvSpPr>
        <p:spPr>
          <a:xfrm>
            <a:off x="319439" y="990221"/>
            <a:ext cx="847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b="0" i="0" lang="es-AR" sz="36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¿Qué es </a:t>
            </a:r>
            <a:r>
              <a:rPr lang="es-AR" sz="36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un archivo</a:t>
            </a:r>
            <a:r>
              <a:rPr b="0" i="0" lang="es-AR" sz="36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?</a:t>
            </a:r>
            <a:endParaRPr b="0" i="0" sz="36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95" name="Google Shape;95;g1f2ce82f4ef_0_5"/>
          <p:cNvPicPr preferRelativeResize="0"/>
          <p:nvPr/>
        </p:nvPicPr>
        <p:blipFill rotWithShape="1">
          <a:blip r:embed="rId3">
            <a:alphaModFix/>
          </a:blip>
          <a:srcRect b="30673" l="23551" r="22738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g1f2ce82f4ef_0_5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97" name="Google Shape;97;g1f2ce82f4ef_0_5"/>
          <p:cNvPicPr preferRelativeResize="0"/>
          <p:nvPr/>
        </p:nvPicPr>
        <p:blipFill rotWithShape="1">
          <a:blip r:embed="rId4">
            <a:alphaModFix/>
          </a:blip>
          <a:srcRect b="0" l="27394" r="27820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1f2ce82f4ef_0_5"/>
          <p:cNvSpPr txBox="1"/>
          <p:nvPr/>
        </p:nvSpPr>
        <p:spPr>
          <a:xfrm>
            <a:off x="466775" y="1934563"/>
            <a:ext cx="9938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AR" sz="2300">
                <a:solidFill>
                  <a:schemeClr val="dk1"/>
                </a:solidFill>
                <a:latin typeface="Saira Light"/>
                <a:ea typeface="Saira Light"/>
                <a:cs typeface="Saira Light"/>
                <a:sym typeface="Saira Light"/>
              </a:rPr>
              <a:t>Es una colección de datos que se guarda en un dispositivo de almacenamiento</a:t>
            </a:r>
            <a:endParaRPr b="0" i="0" sz="2300" u="none" cap="none" strike="noStrike">
              <a:solidFill>
                <a:schemeClr val="dk1"/>
              </a:solidFill>
              <a:latin typeface="Saira Light"/>
              <a:ea typeface="Saira Light"/>
              <a:cs typeface="Saira Light"/>
              <a:sym typeface="Saira Light"/>
            </a:endParaRPr>
          </a:p>
        </p:txBody>
      </p:sp>
      <p:pic>
        <p:nvPicPr>
          <p:cNvPr id="99" name="Google Shape;99;g1f2ce82f4ef_0_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93724" y="3205750"/>
            <a:ext cx="2468775" cy="255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1f2ce82f4ef_0_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58325" y="3205751"/>
            <a:ext cx="2033116" cy="230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1f2ce82f4ef_0_5"/>
          <p:cNvSpPr/>
          <p:nvPr/>
        </p:nvSpPr>
        <p:spPr>
          <a:xfrm>
            <a:off x="5166700" y="4158913"/>
            <a:ext cx="1293000" cy="646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FC5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f54769c84a_0_8"/>
          <p:cNvSpPr txBox="1"/>
          <p:nvPr/>
        </p:nvSpPr>
        <p:spPr>
          <a:xfrm>
            <a:off x="319439" y="990221"/>
            <a:ext cx="847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36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Extensiones de archivos</a:t>
            </a:r>
            <a:endParaRPr b="0" i="0" sz="36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07" name="Google Shape;107;g1f54769c84a_0_8"/>
          <p:cNvPicPr preferRelativeResize="0"/>
          <p:nvPr/>
        </p:nvPicPr>
        <p:blipFill rotWithShape="1">
          <a:blip r:embed="rId3">
            <a:alphaModFix/>
          </a:blip>
          <a:srcRect b="30671" l="23552" r="22734" t="29910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1f54769c84a_0_8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09" name="Google Shape;109;g1f54769c84a_0_8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1f54769c84a_0_8"/>
          <p:cNvSpPr txBox="1"/>
          <p:nvPr/>
        </p:nvSpPr>
        <p:spPr>
          <a:xfrm>
            <a:off x="319450" y="1862363"/>
            <a:ext cx="9938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AR" sz="2300">
                <a:solidFill>
                  <a:schemeClr val="dk1"/>
                </a:solidFill>
                <a:latin typeface="Saira Light"/>
                <a:ea typeface="Saira Light"/>
                <a:cs typeface="Saira Light"/>
                <a:sym typeface="Saira Light"/>
              </a:rPr>
              <a:t>Existen varias extensiones…</a:t>
            </a:r>
            <a:endParaRPr sz="2300">
              <a:solidFill>
                <a:schemeClr val="dk1"/>
              </a:solidFill>
              <a:latin typeface="Saira Light"/>
              <a:ea typeface="Saira Light"/>
              <a:cs typeface="Saira Light"/>
              <a:sym typeface="Saira Light"/>
            </a:endParaRPr>
          </a:p>
        </p:txBody>
      </p:sp>
      <p:pic>
        <p:nvPicPr>
          <p:cNvPr id="111" name="Google Shape;111;g1f54769c84a_0_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1749" y="2575225"/>
            <a:ext cx="7028500" cy="322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f575dcc7c2_0_6"/>
          <p:cNvSpPr txBox="1"/>
          <p:nvPr/>
        </p:nvSpPr>
        <p:spPr>
          <a:xfrm>
            <a:off x="319439" y="990221"/>
            <a:ext cx="847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36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A</a:t>
            </a:r>
            <a:r>
              <a:rPr lang="es-AR" sz="36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rchivos</a:t>
            </a:r>
            <a:endParaRPr b="0" i="0" sz="36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17" name="Google Shape;117;g1f575dcc7c2_0_6"/>
          <p:cNvPicPr preferRelativeResize="0"/>
          <p:nvPr/>
        </p:nvPicPr>
        <p:blipFill rotWithShape="1">
          <a:blip r:embed="rId3">
            <a:alphaModFix/>
          </a:blip>
          <a:srcRect b="30668" l="23553" r="22731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1f575dcc7c2_0_6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19" name="Google Shape;119;g1f575dcc7c2_0_6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1f575dcc7c2_0_6"/>
          <p:cNvSpPr txBox="1"/>
          <p:nvPr/>
        </p:nvSpPr>
        <p:spPr>
          <a:xfrm>
            <a:off x="3111000" y="2376050"/>
            <a:ext cx="5970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AR" sz="3100">
                <a:solidFill>
                  <a:schemeClr val="dk1"/>
                </a:solidFill>
                <a:latin typeface="Saira Light"/>
                <a:ea typeface="Saira Light"/>
                <a:cs typeface="Saira Light"/>
                <a:sym typeface="Saira Light"/>
              </a:rPr>
              <a:t>¿ Por qué utilizamos archivos ? </a:t>
            </a:r>
            <a:endParaRPr sz="3100">
              <a:solidFill>
                <a:schemeClr val="dk1"/>
              </a:solidFill>
              <a:latin typeface="Saira Light"/>
              <a:ea typeface="Saira Light"/>
              <a:cs typeface="Saira Light"/>
              <a:sym typeface="Saira Light"/>
            </a:endParaRPr>
          </a:p>
        </p:txBody>
      </p:sp>
      <p:pic>
        <p:nvPicPr>
          <p:cNvPr id="121" name="Google Shape;121;g1f575dcc7c2_0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1611" y="3350125"/>
            <a:ext cx="2468775" cy="255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f575dcc7c2_0_16"/>
          <p:cNvSpPr txBox="1"/>
          <p:nvPr/>
        </p:nvSpPr>
        <p:spPr>
          <a:xfrm>
            <a:off x="319439" y="990221"/>
            <a:ext cx="847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36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Streams</a:t>
            </a:r>
            <a:endParaRPr b="0" i="0" sz="36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27" name="Google Shape;127;g1f575dcc7c2_0_16"/>
          <p:cNvPicPr preferRelativeResize="0"/>
          <p:nvPr/>
        </p:nvPicPr>
        <p:blipFill rotWithShape="1">
          <a:blip r:embed="rId3">
            <a:alphaModFix/>
          </a:blip>
          <a:srcRect b="30668" l="23553" r="22731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1f575dcc7c2_0_16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29" name="Google Shape;129;g1f575dcc7c2_0_16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1f575dcc7c2_0_16"/>
          <p:cNvSpPr txBox="1"/>
          <p:nvPr/>
        </p:nvSpPr>
        <p:spPr>
          <a:xfrm>
            <a:off x="319450" y="1695400"/>
            <a:ext cx="111072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AR" sz="2800">
                <a:solidFill>
                  <a:schemeClr val="dk1"/>
                </a:solidFill>
                <a:latin typeface="Saira Light"/>
                <a:ea typeface="Saira Light"/>
                <a:cs typeface="Saira Light"/>
                <a:sym typeface="Saira Light"/>
              </a:rPr>
              <a:t>Stream permite desentendernos de cómo se gestionan los  datos a bajo nivel y a concentrarnos en trabajar con dichos datos. El identificador de stream en C  es una variable tipo FILE* o sea un puntero tipo FILE</a:t>
            </a:r>
            <a:endParaRPr sz="2800">
              <a:solidFill>
                <a:schemeClr val="dk1"/>
              </a:solidFill>
              <a:latin typeface="Saira Light"/>
              <a:ea typeface="Saira Light"/>
              <a:cs typeface="Saira Light"/>
              <a:sym typeface="Saira Light"/>
            </a:endParaRPr>
          </a:p>
        </p:txBody>
      </p:sp>
      <p:pic>
        <p:nvPicPr>
          <p:cNvPr id="131" name="Google Shape;131;g1f575dcc7c2_0_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94400" y="3540950"/>
            <a:ext cx="6957302" cy="286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f575dcc7c2_0_27"/>
          <p:cNvSpPr txBox="1"/>
          <p:nvPr/>
        </p:nvSpPr>
        <p:spPr>
          <a:xfrm>
            <a:off x="319439" y="990221"/>
            <a:ext cx="847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36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Streams</a:t>
            </a:r>
            <a:endParaRPr b="0" i="0" sz="36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37" name="Google Shape;137;g1f575dcc7c2_0_27"/>
          <p:cNvPicPr preferRelativeResize="0"/>
          <p:nvPr/>
        </p:nvPicPr>
        <p:blipFill rotWithShape="1">
          <a:blip r:embed="rId3">
            <a:alphaModFix/>
          </a:blip>
          <a:srcRect b="30668" l="23553" r="22731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1f575dcc7c2_0_27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39" name="Google Shape;139;g1f575dcc7c2_0_27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1f575dcc7c2_0_27"/>
          <p:cNvSpPr txBox="1"/>
          <p:nvPr/>
        </p:nvSpPr>
        <p:spPr>
          <a:xfrm>
            <a:off x="319450" y="1695400"/>
            <a:ext cx="11107200" cy="48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AR" sz="2800">
                <a:solidFill>
                  <a:schemeClr val="dk1"/>
                </a:solidFill>
                <a:latin typeface="Saira Light"/>
                <a:ea typeface="Saira Light"/>
                <a:cs typeface="Saira Light"/>
                <a:sym typeface="Saira Light"/>
              </a:rPr>
              <a:t>stdio.h nos ofrecen funciones para la entrada y salida estándar:</a:t>
            </a:r>
            <a:endParaRPr sz="2800">
              <a:solidFill>
                <a:schemeClr val="dk1"/>
              </a:solidFill>
              <a:latin typeface="Saira Light"/>
              <a:ea typeface="Saira Light"/>
              <a:cs typeface="Saira Light"/>
              <a:sym typeface="Saira Ligh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Saira Light"/>
              <a:ea typeface="Saira Light"/>
              <a:cs typeface="Saira Light"/>
              <a:sym typeface="Saira Light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Saira Light"/>
              <a:buChar char="●"/>
            </a:pPr>
            <a:r>
              <a:rPr lang="es-AR" sz="2200">
                <a:solidFill>
                  <a:schemeClr val="dk1"/>
                </a:solidFill>
                <a:latin typeface="Saira Light"/>
                <a:ea typeface="Saira Light"/>
                <a:cs typeface="Saira Light"/>
                <a:sym typeface="Saira Light"/>
              </a:rPr>
              <a:t>Usando los dispositivos.</a:t>
            </a:r>
            <a:endParaRPr sz="2200">
              <a:solidFill>
                <a:schemeClr val="dk1"/>
              </a:solidFill>
              <a:latin typeface="Saira Light"/>
              <a:ea typeface="Saira Light"/>
              <a:cs typeface="Saira Light"/>
              <a:sym typeface="Saira Light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Saira Light"/>
              <a:buChar char="●"/>
            </a:pPr>
            <a:r>
              <a:rPr lang="es-AR" sz="2200">
                <a:solidFill>
                  <a:schemeClr val="dk1"/>
                </a:solidFill>
                <a:latin typeface="Saira Light"/>
                <a:ea typeface="Saira Light"/>
                <a:cs typeface="Saira Light"/>
                <a:sym typeface="Saira Light"/>
              </a:rPr>
              <a:t>Usando archivos.</a:t>
            </a:r>
            <a:endParaRPr sz="2200">
              <a:solidFill>
                <a:schemeClr val="dk1"/>
              </a:solidFill>
              <a:latin typeface="Saira Light"/>
              <a:ea typeface="Saira Light"/>
              <a:cs typeface="Saira Light"/>
              <a:sym typeface="Saira Ligh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Saira Light"/>
              <a:ea typeface="Saira Light"/>
              <a:cs typeface="Saira Light"/>
              <a:sym typeface="Saira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AR" sz="2300">
                <a:solidFill>
                  <a:schemeClr val="dk1"/>
                </a:solidFill>
                <a:latin typeface="Saira Light"/>
                <a:ea typeface="Saira Light"/>
                <a:cs typeface="Saira Light"/>
                <a:sym typeface="Saira Light"/>
              </a:rPr>
              <a:t>Para evitar la diferencia en las operaciones, stdio.h trata a ambos como archivos.</a:t>
            </a:r>
            <a:endParaRPr sz="2300">
              <a:solidFill>
                <a:schemeClr val="dk1"/>
              </a:solidFill>
              <a:latin typeface="Saira Light"/>
              <a:ea typeface="Saira Light"/>
              <a:cs typeface="Saira Light"/>
              <a:sym typeface="Saira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AR" sz="2300">
                <a:solidFill>
                  <a:schemeClr val="dk1"/>
                </a:solidFill>
                <a:latin typeface="Saira Light"/>
                <a:ea typeface="Saira Light"/>
                <a:cs typeface="Saira Light"/>
                <a:sym typeface="Saira Light"/>
              </a:rPr>
              <a:t>Existen 3 identificadores especiales de tipo FILE *:</a:t>
            </a:r>
            <a:endParaRPr sz="2300">
              <a:solidFill>
                <a:schemeClr val="dk1"/>
              </a:solidFill>
              <a:latin typeface="Saira Light"/>
              <a:ea typeface="Saira Light"/>
              <a:cs typeface="Saira Light"/>
              <a:sym typeface="Saira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2300">
              <a:solidFill>
                <a:schemeClr val="dk1"/>
              </a:solidFill>
              <a:latin typeface="Saira Light"/>
              <a:ea typeface="Saira Light"/>
              <a:cs typeface="Saira Light"/>
              <a:sym typeface="Saira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AR" sz="2300">
                <a:solidFill>
                  <a:schemeClr val="dk1"/>
                </a:solidFill>
                <a:latin typeface="Saira Light"/>
                <a:ea typeface="Saira Light"/>
                <a:cs typeface="Saira Light"/>
                <a:sym typeface="Saira Light"/>
              </a:rPr>
              <a:t>- </a:t>
            </a:r>
            <a:r>
              <a:rPr lang="es-AR" sz="2300">
                <a:solidFill>
                  <a:srgbClr val="FF0000"/>
                </a:solidFill>
                <a:latin typeface="Saira Light"/>
                <a:ea typeface="Saira Light"/>
                <a:cs typeface="Saira Light"/>
                <a:sym typeface="Saira Light"/>
              </a:rPr>
              <a:t>stdin </a:t>
            </a:r>
            <a:r>
              <a:rPr lang="es-AR" sz="2300">
                <a:solidFill>
                  <a:schemeClr val="dk1"/>
                </a:solidFill>
                <a:latin typeface="Saira Light"/>
                <a:ea typeface="Saira Light"/>
                <a:cs typeface="Saira Light"/>
                <a:sym typeface="Saira Light"/>
              </a:rPr>
              <a:t>(dispositivo de entrada, teclado)</a:t>
            </a:r>
            <a:endParaRPr sz="2300">
              <a:solidFill>
                <a:schemeClr val="dk1"/>
              </a:solidFill>
              <a:latin typeface="Saira Light"/>
              <a:ea typeface="Saira Light"/>
              <a:cs typeface="Saira Light"/>
              <a:sym typeface="Saira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AR" sz="2300">
                <a:solidFill>
                  <a:schemeClr val="dk1"/>
                </a:solidFill>
                <a:latin typeface="Saira Light"/>
                <a:ea typeface="Saira Light"/>
                <a:cs typeface="Saira Light"/>
                <a:sym typeface="Saira Light"/>
              </a:rPr>
              <a:t>- </a:t>
            </a:r>
            <a:r>
              <a:rPr lang="es-AR" sz="2300">
                <a:solidFill>
                  <a:srgbClr val="0000FF"/>
                </a:solidFill>
                <a:latin typeface="Saira Light"/>
                <a:ea typeface="Saira Light"/>
                <a:cs typeface="Saira Light"/>
                <a:sym typeface="Saira Light"/>
              </a:rPr>
              <a:t>stdout </a:t>
            </a:r>
            <a:r>
              <a:rPr lang="es-AR" sz="2300">
                <a:solidFill>
                  <a:schemeClr val="dk1"/>
                </a:solidFill>
                <a:latin typeface="Saira Light"/>
                <a:ea typeface="Saira Light"/>
                <a:cs typeface="Saira Light"/>
                <a:sym typeface="Saira Light"/>
              </a:rPr>
              <a:t>(dispositivo de salida, monitor)</a:t>
            </a:r>
            <a:endParaRPr sz="2300">
              <a:solidFill>
                <a:schemeClr val="dk1"/>
              </a:solidFill>
              <a:latin typeface="Saira Light"/>
              <a:ea typeface="Saira Light"/>
              <a:cs typeface="Saira Light"/>
              <a:sym typeface="Saira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AR" sz="2300">
                <a:solidFill>
                  <a:schemeClr val="dk1"/>
                </a:solidFill>
                <a:latin typeface="Saira Light"/>
                <a:ea typeface="Saira Light"/>
                <a:cs typeface="Saira Light"/>
                <a:sym typeface="Saira Light"/>
              </a:rPr>
              <a:t>- </a:t>
            </a:r>
            <a:r>
              <a:rPr lang="es-AR" sz="2300">
                <a:solidFill>
                  <a:srgbClr val="F1C232"/>
                </a:solidFill>
                <a:latin typeface="Saira Light"/>
                <a:ea typeface="Saira Light"/>
                <a:cs typeface="Saira Light"/>
                <a:sym typeface="Saira Light"/>
              </a:rPr>
              <a:t>stderr </a:t>
            </a:r>
            <a:r>
              <a:rPr lang="es-AR" sz="2300">
                <a:solidFill>
                  <a:schemeClr val="dk1"/>
                </a:solidFill>
                <a:latin typeface="Saira Light"/>
                <a:ea typeface="Saira Light"/>
                <a:cs typeface="Saira Light"/>
                <a:sym typeface="Saira Light"/>
              </a:rPr>
              <a:t>(dispositivo de salida de errores,monitor)</a:t>
            </a:r>
            <a:endParaRPr sz="2300">
              <a:solidFill>
                <a:schemeClr val="dk1"/>
              </a:solidFill>
              <a:latin typeface="Saira Light"/>
              <a:ea typeface="Saira Light"/>
              <a:cs typeface="Saira Light"/>
              <a:sym typeface="Saira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2300">
              <a:solidFill>
                <a:schemeClr val="dk1"/>
              </a:solidFill>
              <a:latin typeface="Saira Light"/>
              <a:ea typeface="Saira Light"/>
              <a:cs typeface="Saira Light"/>
              <a:sym typeface="Saira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2300">
              <a:solidFill>
                <a:schemeClr val="dk1"/>
              </a:solidFill>
              <a:latin typeface="Saira Light"/>
              <a:ea typeface="Saira Light"/>
              <a:cs typeface="Saira Light"/>
              <a:sym typeface="Saira Light"/>
            </a:endParaRPr>
          </a:p>
        </p:txBody>
      </p:sp>
      <p:sp>
        <p:nvSpPr>
          <p:cNvPr id="141" name="Google Shape;141;g1f575dcc7c2_0_27"/>
          <p:cNvSpPr txBox="1"/>
          <p:nvPr/>
        </p:nvSpPr>
        <p:spPr>
          <a:xfrm>
            <a:off x="1959425" y="3650725"/>
            <a:ext cx="30900" cy="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f575dcc7c2_0_43"/>
          <p:cNvSpPr txBox="1"/>
          <p:nvPr/>
        </p:nvSpPr>
        <p:spPr>
          <a:xfrm>
            <a:off x="319439" y="990221"/>
            <a:ext cx="847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36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Streams</a:t>
            </a:r>
            <a:endParaRPr b="0" i="0" sz="36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47" name="Google Shape;147;g1f575dcc7c2_0_43"/>
          <p:cNvPicPr preferRelativeResize="0"/>
          <p:nvPr/>
        </p:nvPicPr>
        <p:blipFill rotWithShape="1">
          <a:blip r:embed="rId3">
            <a:alphaModFix/>
          </a:blip>
          <a:srcRect b="30668" l="23553" r="22731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1f575dcc7c2_0_43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49" name="Google Shape;149;g1f575dcc7c2_0_43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1f575dcc7c2_0_43"/>
          <p:cNvSpPr txBox="1"/>
          <p:nvPr/>
        </p:nvSpPr>
        <p:spPr>
          <a:xfrm>
            <a:off x="319450" y="1695400"/>
            <a:ext cx="1110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AR" sz="2800">
                <a:solidFill>
                  <a:schemeClr val="dk1"/>
                </a:solidFill>
                <a:latin typeface="Saira Light"/>
                <a:ea typeface="Saira Light"/>
                <a:cs typeface="Saira Light"/>
                <a:sym typeface="Saira Light"/>
              </a:rPr>
              <a:t>Consideraciones</a:t>
            </a:r>
            <a:endParaRPr sz="2300">
              <a:solidFill>
                <a:schemeClr val="dk1"/>
              </a:solidFill>
              <a:latin typeface="Saira Light"/>
              <a:ea typeface="Saira Light"/>
              <a:cs typeface="Saira Light"/>
              <a:sym typeface="Saira Light"/>
            </a:endParaRPr>
          </a:p>
        </p:txBody>
      </p:sp>
      <p:sp>
        <p:nvSpPr>
          <p:cNvPr id="151" name="Google Shape;151;g1f575dcc7c2_0_43"/>
          <p:cNvSpPr txBox="1"/>
          <p:nvPr/>
        </p:nvSpPr>
        <p:spPr>
          <a:xfrm>
            <a:off x="1959425" y="3650725"/>
            <a:ext cx="30900" cy="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g1f575dcc7c2_0_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80625" y="2774350"/>
            <a:ext cx="6655850" cy="222513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1f575dcc7c2_0_43"/>
          <p:cNvSpPr txBox="1"/>
          <p:nvPr/>
        </p:nvSpPr>
        <p:spPr>
          <a:xfrm>
            <a:off x="154675" y="2369675"/>
            <a:ext cx="4156200" cy="4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ts val="1300"/>
              <a:buFont typeface="Saira"/>
              <a:buChar char="●"/>
            </a:pPr>
            <a:r>
              <a:rPr lang="es-AR" sz="13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El buffer es un espacio de almacenamiento temporal en la memoria RAM reservado para el programa que está interactuando con un archivo.</a:t>
            </a:r>
            <a:endParaRPr sz="13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300"/>
              <a:buFont typeface="Saira"/>
              <a:buChar char="●"/>
            </a:pPr>
            <a:r>
              <a:rPr lang="es-AR" sz="13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Cualquier intercambio de datos entre el programa y el archivo en el medio de almacenamiento se lleva a cabo a través de este buffer.</a:t>
            </a:r>
            <a:endParaRPr sz="13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300"/>
              <a:buFont typeface="Saira"/>
              <a:buChar char="●"/>
            </a:pPr>
            <a:r>
              <a:rPr lang="es-AR" sz="13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Acceder a la memoria RAM es más rápido que acceder directamente a un dispositivo físico.</a:t>
            </a:r>
            <a:endParaRPr sz="13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300"/>
              <a:buFont typeface="Saira"/>
              <a:buChar char="●"/>
            </a:pPr>
            <a:r>
              <a:rPr lang="es-AR" sz="13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El uso del buffer reduce la cantidad de accesos necesarios al archivo físico.</a:t>
            </a:r>
            <a:endParaRPr sz="13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300"/>
              <a:buFont typeface="Saira"/>
              <a:buChar char="●"/>
            </a:pPr>
            <a:r>
              <a:rPr lang="es-AR" sz="13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Utilizar un buffer facilita y agiliza las operaciones de entrada y salida.</a:t>
            </a:r>
            <a:endParaRPr sz="13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300"/>
              <a:buFont typeface="Saira"/>
              <a:buChar char="●"/>
            </a:pPr>
            <a:r>
              <a:rPr lang="es-AR" sz="1300">
                <a:solidFill>
                  <a:srgbClr val="0D0D0D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Los archivos sirven principalmente como depósitos de datos y no realizan operaciones de procesamiento en sí mismos.</a:t>
            </a:r>
            <a:endParaRPr sz="1300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f575dcc7c2_0_56"/>
          <p:cNvSpPr txBox="1"/>
          <p:nvPr/>
        </p:nvSpPr>
        <p:spPr>
          <a:xfrm>
            <a:off x="319439" y="990221"/>
            <a:ext cx="847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36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Clasificación de archivos</a:t>
            </a:r>
            <a:endParaRPr b="0" i="0" sz="36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59" name="Google Shape;159;g1f575dcc7c2_0_56"/>
          <p:cNvPicPr preferRelativeResize="0"/>
          <p:nvPr/>
        </p:nvPicPr>
        <p:blipFill rotWithShape="1">
          <a:blip r:embed="rId3">
            <a:alphaModFix/>
          </a:blip>
          <a:srcRect b="30668" l="23553" r="22731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1f575dcc7c2_0_56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61" name="Google Shape;161;g1f575dcc7c2_0_56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1f575dcc7c2_0_56"/>
          <p:cNvSpPr txBox="1"/>
          <p:nvPr/>
        </p:nvSpPr>
        <p:spPr>
          <a:xfrm>
            <a:off x="1928475" y="2660700"/>
            <a:ext cx="30900" cy="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1f575dcc7c2_0_56"/>
          <p:cNvSpPr txBox="1"/>
          <p:nvPr/>
        </p:nvSpPr>
        <p:spPr>
          <a:xfrm>
            <a:off x="1577825" y="1815050"/>
            <a:ext cx="307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4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Archivos de texto</a:t>
            </a:r>
            <a:endParaRPr b="1" sz="2400">
              <a:solidFill>
                <a:srgbClr val="FF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64" name="Google Shape;164;g1f575dcc7c2_0_56"/>
          <p:cNvSpPr txBox="1"/>
          <p:nvPr/>
        </p:nvSpPr>
        <p:spPr>
          <a:xfrm>
            <a:off x="6556625" y="181505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400">
                <a:solidFill>
                  <a:srgbClr val="0000FF"/>
                </a:solidFill>
                <a:latin typeface="Saira"/>
                <a:ea typeface="Saira"/>
                <a:cs typeface="Saira"/>
                <a:sym typeface="Saira"/>
              </a:rPr>
              <a:t>Archivos binarios</a:t>
            </a:r>
            <a:endParaRPr b="1" sz="2400">
              <a:solidFill>
                <a:srgbClr val="0000FF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65" name="Google Shape;165;g1f575dcc7c2_0_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32875" y="2660700"/>
            <a:ext cx="1794725" cy="184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1f575dcc7c2_0_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38875" y="2545238"/>
            <a:ext cx="2051517" cy="212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1f575dcc7c2_0_56"/>
          <p:cNvSpPr txBox="1"/>
          <p:nvPr/>
        </p:nvSpPr>
        <p:spPr>
          <a:xfrm>
            <a:off x="1564638" y="4666575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Registros de longitud variable. Pueden ser procesados por cualquier editor de texto . Contienen información en forma de caracteres.</a:t>
            </a:r>
            <a:endParaRPr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68" name="Google Shape;168;g1f575dcc7c2_0_56"/>
          <p:cNvSpPr txBox="1"/>
          <p:nvPr/>
        </p:nvSpPr>
        <p:spPr>
          <a:xfrm>
            <a:off x="6330238" y="4666575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Registros de longitud fija. Almacenan datos en forma binaria, es decir que no son interpretables como texto (números, imágenes, etc.).</a:t>
            </a:r>
            <a:endParaRPr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f575dcc7c2_0_81"/>
          <p:cNvSpPr txBox="1"/>
          <p:nvPr/>
        </p:nvSpPr>
        <p:spPr>
          <a:xfrm>
            <a:off x="319439" y="990221"/>
            <a:ext cx="847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36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Formas de acceso</a:t>
            </a:r>
            <a:r>
              <a:rPr lang="es-AR" sz="36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de archivos</a:t>
            </a:r>
            <a:endParaRPr b="0" i="0" sz="36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74" name="Google Shape;174;g1f575dcc7c2_0_81"/>
          <p:cNvPicPr preferRelativeResize="0"/>
          <p:nvPr/>
        </p:nvPicPr>
        <p:blipFill rotWithShape="1">
          <a:blip r:embed="rId3">
            <a:alphaModFix/>
          </a:blip>
          <a:srcRect b="30668" l="23553" r="22731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1f575dcc7c2_0_81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76" name="Google Shape;176;g1f575dcc7c2_0_81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1f575dcc7c2_0_81"/>
          <p:cNvSpPr txBox="1"/>
          <p:nvPr/>
        </p:nvSpPr>
        <p:spPr>
          <a:xfrm>
            <a:off x="1928475" y="2660700"/>
            <a:ext cx="30900" cy="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1f575dcc7c2_0_81"/>
          <p:cNvSpPr txBox="1"/>
          <p:nvPr/>
        </p:nvSpPr>
        <p:spPr>
          <a:xfrm>
            <a:off x="688488" y="3151950"/>
            <a:ext cx="475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4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Archivos de acceso secuencial</a:t>
            </a:r>
            <a:endParaRPr b="1" sz="2400">
              <a:solidFill>
                <a:srgbClr val="FF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79" name="Google Shape;179;g1f575dcc7c2_0_81"/>
          <p:cNvSpPr txBox="1"/>
          <p:nvPr/>
        </p:nvSpPr>
        <p:spPr>
          <a:xfrm>
            <a:off x="6125800" y="3104125"/>
            <a:ext cx="4053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400">
                <a:solidFill>
                  <a:srgbClr val="0000FF"/>
                </a:solidFill>
                <a:latin typeface="Saira"/>
                <a:ea typeface="Saira"/>
                <a:cs typeface="Saira"/>
                <a:sym typeface="Saira"/>
              </a:rPr>
              <a:t>Archivos de </a:t>
            </a:r>
            <a:r>
              <a:rPr b="1" lang="es-AR" sz="2400">
                <a:solidFill>
                  <a:srgbClr val="0000FF"/>
                </a:solidFill>
                <a:latin typeface="Saira"/>
                <a:ea typeface="Saira"/>
                <a:cs typeface="Saira"/>
                <a:sym typeface="Saira"/>
              </a:rPr>
              <a:t>acceso directo</a:t>
            </a:r>
            <a:endParaRPr b="1" sz="2400">
              <a:solidFill>
                <a:srgbClr val="0000FF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00FF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80" name="Google Shape;180;g1f575dcc7c2_0_81"/>
          <p:cNvSpPr txBox="1"/>
          <p:nvPr/>
        </p:nvSpPr>
        <p:spPr>
          <a:xfrm>
            <a:off x="1564638" y="3965650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latin typeface="Saira"/>
                <a:ea typeface="Saira"/>
                <a:cs typeface="Saira"/>
                <a:sym typeface="Saira"/>
              </a:rPr>
              <a:t>Para leer cualquier información necesitamos leer todos los datos hasta llegar a dicha información</a:t>
            </a:r>
            <a:endParaRPr sz="1800"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81" name="Google Shape;181;g1f575dcc7c2_0_81"/>
          <p:cNvSpPr txBox="1"/>
          <p:nvPr/>
        </p:nvSpPr>
        <p:spPr>
          <a:xfrm>
            <a:off x="6202300" y="4079100"/>
            <a:ext cx="3900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latin typeface="Saira"/>
                <a:ea typeface="Saira"/>
                <a:cs typeface="Saira"/>
                <a:sym typeface="Saira"/>
              </a:rPr>
              <a:t>Se puede acceder a cualquier dato del archivo conociendo su posición en el mismo. Dicha posición se suele indicar en bytes. </a:t>
            </a:r>
            <a:endParaRPr sz="1800"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f54769c84a_0_17"/>
          <p:cNvSpPr txBox="1"/>
          <p:nvPr/>
        </p:nvSpPr>
        <p:spPr>
          <a:xfrm>
            <a:off x="319439" y="990221"/>
            <a:ext cx="847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36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Operaciones con archivos</a:t>
            </a:r>
            <a:endParaRPr b="0" i="0" sz="36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87" name="Google Shape;187;g1f54769c84a_0_17"/>
          <p:cNvPicPr preferRelativeResize="0"/>
          <p:nvPr/>
        </p:nvPicPr>
        <p:blipFill rotWithShape="1">
          <a:blip r:embed="rId3">
            <a:alphaModFix/>
          </a:blip>
          <a:srcRect b="30671" l="23552" r="22734" t="29910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1f54769c84a_0_17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89" name="Google Shape;189;g1f54769c84a_0_17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1f54769c84a_0_17"/>
          <p:cNvSpPr txBox="1"/>
          <p:nvPr/>
        </p:nvSpPr>
        <p:spPr>
          <a:xfrm>
            <a:off x="383950" y="1897575"/>
            <a:ext cx="10269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AR" sz="2000">
                <a:latin typeface="Saira"/>
                <a:ea typeface="Saira"/>
                <a:cs typeface="Saira"/>
                <a:sym typeface="Saira"/>
              </a:rPr>
              <a:t>Las entradas/salidas  solo pueden transferir datos en una dirección, esto significa que se tienen que definir flujos diferentes para lectura y escritura de datos.</a:t>
            </a:r>
            <a:endParaRPr sz="2000"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91" name="Google Shape;191;g1f54769c84a_0_17"/>
          <p:cNvSpPr txBox="1"/>
          <p:nvPr/>
        </p:nvSpPr>
        <p:spPr>
          <a:xfrm>
            <a:off x="383950" y="3010375"/>
            <a:ext cx="4702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 SemiBold"/>
              <a:buChar char="●"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 SemiBold"/>
                <a:ea typeface="Saira SemiBold"/>
                <a:cs typeface="Saira SemiBold"/>
                <a:sym typeface="Saira SemiBold"/>
              </a:rPr>
              <a:t>Abrir archivo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 SemiBold"/>
              <a:ea typeface="Saira SemiBold"/>
              <a:cs typeface="Saira SemiBold"/>
              <a:sym typeface="Saira SemiBold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 SemiBold"/>
              <a:buChar char="●"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 SemiBold"/>
                <a:ea typeface="Saira SemiBold"/>
                <a:cs typeface="Saira SemiBold"/>
                <a:sym typeface="Saira SemiBold"/>
              </a:rPr>
              <a:t>Escribir archivo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 SemiBold"/>
              <a:ea typeface="Saira SemiBold"/>
              <a:cs typeface="Saira SemiBold"/>
              <a:sym typeface="Saira SemiBold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 SemiBold"/>
              <a:buChar char="●"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 SemiBold"/>
                <a:ea typeface="Saira SemiBold"/>
                <a:cs typeface="Saira SemiBold"/>
                <a:sym typeface="Saira SemiBold"/>
              </a:rPr>
              <a:t>Leer archivo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 SemiBold"/>
              <a:ea typeface="Saira SemiBold"/>
              <a:cs typeface="Saira SemiBold"/>
              <a:sym typeface="Saira SemiBold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 SemiBold"/>
              <a:buChar char="●"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 SemiBold"/>
                <a:ea typeface="Saira SemiBold"/>
                <a:cs typeface="Saira SemiBold"/>
                <a:sym typeface="Saira SemiBold"/>
              </a:rPr>
              <a:t>Modificar archivo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 SemiBold"/>
              <a:ea typeface="Saira SemiBold"/>
              <a:cs typeface="Saira SemiBold"/>
              <a:sym typeface="Saira SemiBold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 SemiBold"/>
              <a:buChar char="●"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 SemiBold"/>
                <a:ea typeface="Saira SemiBold"/>
                <a:cs typeface="Saira SemiBold"/>
                <a:sym typeface="Saira SemiBold"/>
              </a:rPr>
              <a:t>Emitir o listar contenido de archivo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 SemiBold"/>
              <a:ea typeface="Saira SemiBold"/>
              <a:cs typeface="Saira SemiBold"/>
              <a:sym typeface="Saira SemiBold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 SemiBold"/>
              <a:buChar char="●"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 SemiBold"/>
                <a:ea typeface="Saira SemiBold"/>
                <a:cs typeface="Saira SemiBold"/>
                <a:sym typeface="Saira SemiBold"/>
              </a:rPr>
              <a:t>Cerrar archivo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 SemiBold"/>
              <a:ea typeface="Saira SemiBold"/>
              <a:cs typeface="Saira SemiBold"/>
              <a:sym typeface="Saira SemiBold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Saira SemiBold"/>
              <a:buChar char="●"/>
            </a:pPr>
            <a:r>
              <a:rPr lang="es-AR" sz="1800">
                <a:solidFill>
                  <a:srgbClr val="0D0D0D"/>
                </a:solidFill>
                <a:highlight>
                  <a:srgbClr val="FFFFFF"/>
                </a:highlight>
                <a:latin typeface="Saira SemiBold"/>
                <a:ea typeface="Saira SemiBold"/>
                <a:cs typeface="Saira SemiBold"/>
                <a:sym typeface="Saira SemiBold"/>
              </a:rPr>
              <a:t>Funciones de control y procesos</a:t>
            </a:r>
            <a:endParaRPr sz="1800">
              <a:solidFill>
                <a:srgbClr val="0D0D0D"/>
              </a:solidFill>
              <a:highlight>
                <a:srgbClr val="FFFFFF"/>
              </a:highlight>
              <a:latin typeface="Saira SemiBold"/>
              <a:ea typeface="Saira SemiBold"/>
              <a:cs typeface="Saira SemiBold"/>
              <a:sym typeface="Saira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f55550cd8a_0_18"/>
          <p:cNvSpPr txBox="1"/>
          <p:nvPr/>
        </p:nvSpPr>
        <p:spPr>
          <a:xfrm>
            <a:off x="319439" y="990221"/>
            <a:ext cx="847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36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Archivos de texto</a:t>
            </a:r>
            <a:endParaRPr b="0" i="0" sz="36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97" name="Google Shape;197;g1f55550cd8a_0_18"/>
          <p:cNvPicPr preferRelativeResize="0"/>
          <p:nvPr/>
        </p:nvPicPr>
        <p:blipFill rotWithShape="1">
          <a:blip r:embed="rId3">
            <a:alphaModFix/>
          </a:blip>
          <a:srcRect b="30668" l="23552" r="22735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1f55550cd8a_0_18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99" name="Google Shape;199;g1f55550cd8a_0_18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1f55550cd8a_0_18"/>
          <p:cNvSpPr txBox="1"/>
          <p:nvPr/>
        </p:nvSpPr>
        <p:spPr>
          <a:xfrm>
            <a:off x="371250" y="1846000"/>
            <a:ext cx="9601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latin typeface="Saira"/>
                <a:ea typeface="Saira"/>
                <a:cs typeface="Saira"/>
                <a:sym typeface="Saira"/>
              </a:rPr>
              <a:t>E</a:t>
            </a:r>
            <a:r>
              <a:rPr lang="es-AR" sz="2400">
                <a:latin typeface="Saira"/>
                <a:ea typeface="Saira"/>
                <a:cs typeface="Saira"/>
                <a:sym typeface="Saira"/>
              </a:rPr>
              <a:t>s una secuencia de caracteres organizadas en líneas terminadas por un carácter de nueva línea. Son “entendibles”. </a:t>
            </a:r>
            <a:endParaRPr sz="2400"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01" name="Google Shape;201;g1f55550cd8a_0_18"/>
          <p:cNvSpPr txBox="1"/>
          <p:nvPr/>
        </p:nvSpPr>
        <p:spPr>
          <a:xfrm>
            <a:off x="6972450" y="4212400"/>
            <a:ext cx="3000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Los datos en un archivo de texto se almacenan usando el código ASCII, en el </a:t>
            </a:r>
            <a:r>
              <a:rPr lang="es-AR" sz="16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cual </a:t>
            </a:r>
            <a:r>
              <a:rPr lang="es-AR" sz="16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cada carácter es representado por un byte.</a:t>
            </a:r>
            <a:endParaRPr sz="1600">
              <a:solidFill>
                <a:srgbClr val="FF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02" name="Google Shape;202;g1f55550cd8a_0_18"/>
          <p:cNvSpPr txBox="1"/>
          <p:nvPr/>
        </p:nvSpPr>
        <p:spPr>
          <a:xfrm>
            <a:off x="432875" y="2844400"/>
            <a:ext cx="10158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latin typeface="Saira"/>
                <a:ea typeface="Saira"/>
                <a:cs typeface="Saira"/>
                <a:sym typeface="Saira"/>
              </a:rPr>
              <a:t>T</a:t>
            </a:r>
            <a:r>
              <a:rPr lang="es-AR" sz="2400">
                <a:latin typeface="Saira"/>
                <a:ea typeface="Saira"/>
                <a:cs typeface="Saira"/>
                <a:sym typeface="Saira"/>
              </a:rPr>
              <a:t>odos sus datos se almacenan como cadenas de caracteres, es decir, los números se almacenan con su representación ASCII y NO su representación numérica</a:t>
            </a:r>
            <a:endParaRPr sz="2400"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f55550cd8a_0_41"/>
          <p:cNvSpPr txBox="1"/>
          <p:nvPr/>
        </p:nvSpPr>
        <p:spPr>
          <a:xfrm>
            <a:off x="319439" y="990221"/>
            <a:ext cx="847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36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Codificaciones</a:t>
            </a:r>
            <a:endParaRPr b="0" i="0" sz="36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08" name="Google Shape;208;g1f55550cd8a_0_41"/>
          <p:cNvPicPr preferRelativeResize="0"/>
          <p:nvPr/>
        </p:nvPicPr>
        <p:blipFill rotWithShape="1">
          <a:blip r:embed="rId3">
            <a:alphaModFix/>
          </a:blip>
          <a:srcRect b="30668" l="23552" r="22735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1f55550cd8a_0_41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10" name="Google Shape;210;g1f55550cd8a_0_41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1f55550cd8a_0_41"/>
          <p:cNvSpPr txBox="1"/>
          <p:nvPr/>
        </p:nvSpPr>
        <p:spPr>
          <a:xfrm>
            <a:off x="433150" y="1967738"/>
            <a:ext cx="92505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>
                <a:latin typeface="Saira"/>
                <a:ea typeface="Saira"/>
                <a:cs typeface="Saira"/>
                <a:sym typeface="Saira"/>
              </a:rPr>
              <a:t>Existen diversos sistemas de codificación de caracteres, teniendo en cuenta que la codificación puede variar y que algunos caracteres, como la 'ñ', pueden tener representaciones diferentes según el sistema utilizado. Algunas de las codificaciones son:</a:t>
            </a:r>
            <a:endParaRPr sz="16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Saira"/>
              <a:ea typeface="Saira"/>
              <a:cs typeface="Saira"/>
              <a:sym typeface="Sair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Saira"/>
              <a:buChar char="●"/>
            </a:pPr>
            <a:r>
              <a:rPr lang="es-AR" sz="1600">
                <a:latin typeface="Saira"/>
                <a:ea typeface="Saira"/>
                <a:cs typeface="Saira"/>
                <a:sym typeface="Saira"/>
              </a:rPr>
              <a:t>ASCII: Un sistema de codificación de 7 bits que permite representar 128 caracteres. Sin embargo, no incluye caracteres nacionales como la 'ñ'. Se utilizó un octavo bit para crear el ASCII extendido, que es de 8 bits, pero estos códigos varían entre países.</a:t>
            </a:r>
            <a:endParaRPr sz="1600">
              <a:latin typeface="Saira"/>
              <a:ea typeface="Saira"/>
              <a:cs typeface="Saira"/>
              <a:sym typeface="Sair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Saira"/>
              <a:buChar char="●"/>
            </a:pPr>
            <a:r>
              <a:rPr lang="es-AR" sz="1600">
                <a:latin typeface="Saira"/>
                <a:ea typeface="Saira"/>
                <a:cs typeface="Saira"/>
                <a:sym typeface="Saira"/>
              </a:rPr>
              <a:t>ISO 8859-1: Ampliamente utilizado en Occidente, incluye el código ASCII estándar más símbolos comunes en inglés, español, francés, italiano, alemán y otros idiomas de Europa Occidental.</a:t>
            </a:r>
            <a:endParaRPr sz="1600">
              <a:latin typeface="Saira"/>
              <a:ea typeface="Saira"/>
              <a:cs typeface="Saira"/>
              <a:sym typeface="Sair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Saira"/>
              <a:buChar char="●"/>
            </a:pPr>
            <a:r>
              <a:rPr lang="es-AR" sz="1600">
                <a:latin typeface="Saira"/>
                <a:ea typeface="Saira"/>
                <a:cs typeface="Saira"/>
                <a:sym typeface="Saira"/>
              </a:rPr>
              <a:t>Windows 1252: Utilizado por Windows y a menudo llamado ANSI, es un superconjunto de ISO 8859-1 y se utiliza para el almacenamiento de texto en Windows.</a:t>
            </a:r>
            <a:endParaRPr sz="1600">
              <a:latin typeface="Saira"/>
              <a:ea typeface="Saira"/>
              <a:cs typeface="Saira"/>
              <a:sym typeface="Sair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Saira"/>
              <a:buChar char="●"/>
            </a:pPr>
            <a:r>
              <a:rPr lang="es-AR" sz="1600">
                <a:latin typeface="Saira"/>
                <a:ea typeface="Saira"/>
                <a:cs typeface="Saira"/>
                <a:sym typeface="Saira"/>
              </a:rPr>
              <a:t>Unicode: Una norma diseñada para hacer que la lectura de caracteres sea compatible en todos los idiomas. Una de las formas más utilizadas de Unicode en la actualidad es UTF-8, que es totalmente compatible con ASCII.</a:t>
            </a:r>
            <a:endParaRPr sz="1600"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f55550cd8a_0_63"/>
          <p:cNvSpPr txBox="1"/>
          <p:nvPr/>
        </p:nvSpPr>
        <p:spPr>
          <a:xfrm>
            <a:off x="319452" y="990225"/>
            <a:ext cx="973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3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Modos de apertura en archivos de texto</a:t>
            </a:r>
            <a:endParaRPr b="0" i="0" sz="3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17" name="Google Shape;217;g1f55550cd8a_0_63"/>
          <p:cNvPicPr preferRelativeResize="0"/>
          <p:nvPr/>
        </p:nvPicPr>
        <p:blipFill rotWithShape="1">
          <a:blip r:embed="rId3">
            <a:alphaModFix/>
          </a:blip>
          <a:srcRect b="30668" l="23552" r="22735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1f55550cd8a_0_63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19" name="Google Shape;219;g1f55550cd8a_0_63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1f55550cd8a_0_63"/>
          <p:cNvSpPr txBox="1"/>
          <p:nvPr/>
        </p:nvSpPr>
        <p:spPr>
          <a:xfrm>
            <a:off x="453750" y="1775375"/>
            <a:ext cx="10477800" cy="48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-AR" sz="1800">
                <a:latin typeface="Saira"/>
                <a:ea typeface="Saira"/>
                <a:cs typeface="Saira"/>
                <a:sym typeface="Saira"/>
              </a:rPr>
              <a:t>r ó rt </a:t>
            </a:r>
            <a:r>
              <a:rPr b="0" i="0" lang="es-AR" sz="1800" u="none" cap="none" strike="noStrik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: </a:t>
            </a:r>
            <a:r>
              <a:rPr lang="es-AR" sz="1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Apertura en modo sólo lectura, el archivo debe existir</a:t>
            </a:r>
            <a:endParaRPr sz="1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-AR" sz="1800">
                <a:latin typeface="Saira"/>
                <a:ea typeface="Saira"/>
                <a:cs typeface="Saira"/>
                <a:sym typeface="Saira"/>
              </a:rPr>
              <a:t>w ó wt </a:t>
            </a:r>
            <a:r>
              <a:rPr lang="es-AR" sz="1800">
                <a:latin typeface="Saira"/>
                <a:ea typeface="Saira"/>
                <a:cs typeface="Saira"/>
                <a:sym typeface="Saira"/>
              </a:rPr>
              <a:t>: </a:t>
            </a:r>
            <a:r>
              <a:rPr lang="es-AR" sz="1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Apertura en modo escritura, si el archivo existe se sobreescribe y pierde el contenido anterior. Si no existe lo crea.</a:t>
            </a:r>
            <a:endParaRPr sz="1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-AR" sz="1800">
                <a:latin typeface="Saira"/>
                <a:ea typeface="Saira"/>
                <a:cs typeface="Saira"/>
                <a:sym typeface="Saira"/>
              </a:rPr>
              <a:t>a ó at  </a:t>
            </a:r>
            <a:r>
              <a:rPr lang="es-AR" sz="1800">
                <a:latin typeface="Saira"/>
                <a:ea typeface="Saira"/>
                <a:cs typeface="Saira"/>
                <a:sym typeface="Saira"/>
              </a:rPr>
              <a:t>: </a:t>
            </a:r>
            <a:r>
              <a:rPr lang="es-AR" sz="1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Apertura en modo agregar, si el archivo existe agrega los datos al final del archivo, si no existe lo crea.</a:t>
            </a:r>
            <a:endParaRPr sz="1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-AR" sz="1800">
                <a:latin typeface="Saira"/>
                <a:ea typeface="Saira"/>
                <a:cs typeface="Saira"/>
                <a:sym typeface="Saira"/>
              </a:rPr>
              <a:t>r+ </a:t>
            </a:r>
            <a:r>
              <a:rPr lang="es-AR" sz="1800">
                <a:latin typeface="Saira"/>
                <a:ea typeface="Saira"/>
                <a:cs typeface="Saira"/>
                <a:sym typeface="Saira"/>
              </a:rPr>
              <a:t>: </a:t>
            </a:r>
            <a:r>
              <a:rPr lang="es-AR" sz="1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Apertura en modo lectura / escritura, el archivo debe existir.</a:t>
            </a:r>
            <a:endParaRPr sz="1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-AR" sz="1800">
                <a:latin typeface="Saira"/>
                <a:ea typeface="Saira"/>
                <a:cs typeface="Saira"/>
                <a:sym typeface="Saira"/>
              </a:rPr>
              <a:t>w+ </a:t>
            </a:r>
            <a:r>
              <a:rPr lang="es-AR" sz="1800">
                <a:latin typeface="Saira"/>
                <a:ea typeface="Saira"/>
                <a:cs typeface="Saira"/>
                <a:sym typeface="Saira"/>
              </a:rPr>
              <a:t>: </a:t>
            </a:r>
            <a:r>
              <a:rPr lang="es-AR" sz="1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Apertura en modo lectura / escritura, el archivo debe existir, si el archivo existe se </a:t>
            </a:r>
            <a:r>
              <a:rPr lang="es-AR" sz="1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sobrescribe</a:t>
            </a:r>
            <a:r>
              <a:rPr lang="es-AR" sz="1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y pierde el contenido anterior. Si no existe lo crea.</a:t>
            </a:r>
            <a:endParaRPr sz="1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-AR" sz="1800">
                <a:latin typeface="Saira"/>
                <a:ea typeface="Saira"/>
                <a:cs typeface="Saira"/>
                <a:sym typeface="Saira"/>
              </a:rPr>
              <a:t>a+ </a:t>
            </a:r>
            <a:r>
              <a:rPr lang="es-AR" sz="1800">
                <a:latin typeface="Saira"/>
                <a:ea typeface="Saira"/>
                <a:cs typeface="Saira"/>
                <a:sym typeface="Saira"/>
              </a:rPr>
              <a:t>: </a:t>
            </a:r>
            <a:r>
              <a:rPr lang="es-AR" sz="1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Apertura en modo lectura / agregar, si el archivo existe agrega los datos al final del archivo, si no existe lo crea.</a:t>
            </a:r>
            <a:endParaRPr sz="1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f575dcc7c2_0_133"/>
          <p:cNvSpPr txBox="1"/>
          <p:nvPr/>
        </p:nvSpPr>
        <p:spPr>
          <a:xfrm>
            <a:off x="319452" y="990225"/>
            <a:ext cx="973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3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Funciones de manejo de archivos</a:t>
            </a:r>
            <a:endParaRPr b="0" i="0" sz="3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26" name="Google Shape;226;g1f575dcc7c2_0_133"/>
          <p:cNvPicPr preferRelativeResize="0"/>
          <p:nvPr/>
        </p:nvPicPr>
        <p:blipFill rotWithShape="1">
          <a:blip r:embed="rId3">
            <a:alphaModFix/>
          </a:blip>
          <a:srcRect b="30665" l="23552" r="22736" t="29912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1f575dcc7c2_0_133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28" name="Google Shape;228;g1f575dcc7c2_0_133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1f575dcc7c2_0_133"/>
          <p:cNvSpPr txBox="1"/>
          <p:nvPr/>
        </p:nvSpPr>
        <p:spPr>
          <a:xfrm>
            <a:off x="690950" y="1812750"/>
            <a:ext cx="96630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aira"/>
              <a:buChar char="❖"/>
            </a:pPr>
            <a:r>
              <a:rPr b="1" lang="es-AR" sz="2400">
                <a:latin typeface="Saira"/>
                <a:ea typeface="Saira"/>
                <a:cs typeface="Saira"/>
                <a:sym typeface="Saira"/>
              </a:rPr>
              <a:t>fopen() </a:t>
            </a:r>
            <a:r>
              <a:rPr lang="es-AR" sz="2400">
                <a:latin typeface="Saira"/>
                <a:ea typeface="Saira"/>
                <a:cs typeface="Saira"/>
                <a:sym typeface="Saira"/>
              </a:rPr>
              <a:t>Abre un archivo. 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aira"/>
              <a:buChar char="❖"/>
            </a:pPr>
            <a:r>
              <a:rPr b="1" lang="es-AR" sz="2400">
                <a:latin typeface="Saira"/>
                <a:ea typeface="Saira"/>
                <a:cs typeface="Saira"/>
                <a:sym typeface="Saira"/>
              </a:rPr>
              <a:t>fclose() </a:t>
            </a:r>
            <a:r>
              <a:rPr lang="es-AR" sz="2400">
                <a:latin typeface="Saira"/>
                <a:ea typeface="Saira"/>
                <a:cs typeface="Saira"/>
                <a:sym typeface="Saira"/>
              </a:rPr>
              <a:t>Cierra un archivo. 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aira"/>
              <a:buChar char="❖"/>
            </a:pPr>
            <a:r>
              <a:rPr b="1" lang="es-AR" sz="2400">
                <a:latin typeface="Saira"/>
                <a:ea typeface="Saira"/>
                <a:cs typeface="Saira"/>
                <a:sym typeface="Saira"/>
              </a:rPr>
              <a:t>fseek() </a:t>
            </a:r>
            <a:r>
              <a:rPr lang="es-AR" sz="2400">
                <a:latin typeface="Saira"/>
                <a:ea typeface="Saira"/>
                <a:cs typeface="Saira"/>
                <a:sym typeface="Saira"/>
              </a:rPr>
              <a:t>Busca un byte </a:t>
            </a:r>
            <a:r>
              <a:rPr lang="es-AR" sz="2400">
                <a:latin typeface="Saira"/>
                <a:ea typeface="Saira"/>
                <a:cs typeface="Saira"/>
                <a:sym typeface="Saira"/>
              </a:rPr>
              <a:t>específico</a:t>
            </a:r>
            <a:r>
              <a:rPr lang="es-AR" sz="2400">
                <a:latin typeface="Saira"/>
                <a:ea typeface="Saira"/>
                <a:cs typeface="Saira"/>
                <a:sym typeface="Saira"/>
              </a:rPr>
              <a:t> de un archivo. 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aira"/>
              <a:buChar char="❖"/>
            </a:pPr>
            <a:r>
              <a:rPr b="1" lang="es-AR" sz="2400">
                <a:latin typeface="Saira"/>
                <a:ea typeface="Saira"/>
                <a:cs typeface="Saira"/>
                <a:sym typeface="Saira"/>
              </a:rPr>
              <a:t>feof() </a:t>
            </a:r>
            <a:r>
              <a:rPr lang="es-AR" sz="2400">
                <a:latin typeface="Saira"/>
                <a:ea typeface="Saira"/>
                <a:cs typeface="Saira"/>
                <a:sym typeface="Saira"/>
              </a:rPr>
              <a:t>Devuelve cierto si se llega al final del archivo. 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aira"/>
              <a:buChar char="❖"/>
            </a:pPr>
            <a:r>
              <a:rPr b="1" lang="es-AR" sz="2400">
                <a:latin typeface="Saira"/>
                <a:ea typeface="Saira"/>
                <a:cs typeface="Saira"/>
                <a:sym typeface="Saira"/>
              </a:rPr>
              <a:t>ferror() </a:t>
            </a:r>
            <a:r>
              <a:rPr lang="es-AR" sz="2400">
                <a:latin typeface="Saira"/>
                <a:ea typeface="Saira"/>
                <a:cs typeface="Saira"/>
                <a:sym typeface="Saira"/>
              </a:rPr>
              <a:t>Devuelve cierto si se produce un error. 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aira"/>
              <a:buChar char="❖"/>
            </a:pPr>
            <a:r>
              <a:rPr b="1" lang="es-AR" sz="2400">
                <a:latin typeface="Saira"/>
                <a:ea typeface="Saira"/>
                <a:cs typeface="Saira"/>
                <a:sym typeface="Saira"/>
              </a:rPr>
              <a:t>rewind() </a:t>
            </a:r>
            <a:r>
              <a:rPr lang="es-AR" sz="2400">
                <a:latin typeface="Saira"/>
                <a:ea typeface="Saira"/>
                <a:cs typeface="Saira"/>
                <a:sym typeface="Saira"/>
              </a:rPr>
              <a:t>Coloca el localizador de posición del archivo al principio del mismo. 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aira"/>
              <a:buChar char="❖"/>
            </a:pPr>
            <a:r>
              <a:rPr b="1" lang="es-AR" sz="2400">
                <a:latin typeface="Saira"/>
                <a:ea typeface="Saira"/>
                <a:cs typeface="Saira"/>
                <a:sym typeface="Saira"/>
              </a:rPr>
              <a:t>remove() </a:t>
            </a:r>
            <a:r>
              <a:rPr lang="es-AR" sz="2400">
                <a:latin typeface="Saira"/>
                <a:ea typeface="Saira"/>
                <a:cs typeface="Saira"/>
                <a:sym typeface="Saira"/>
              </a:rPr>
              <a:t>Borra un archivo. 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aira"/>
              <a:buChar char="❖"/>
            </a:pPr>
            <a:r>
              <a:rPr b="1" lang="es-AR" sz="2400">
                <a:latin typeface="Saira"/>
                <a:ea typeface="Saira"/>
                <a:cs typeface="Saira"/>
                <a:sym typeface="Saira"/>
              </a:rPr>
              <a:t>rename() </a:t>
            </a:r>
            <a:r>
              <a:rPr lang="es-AR" sz="2400">
                <a:latin typeface="Saira"/>
                <a:ea typeface="Saira"/>
                <a:cs typeface="Saira"/>
                <a:sym typeface="Saira"/>
              </a:rPr>
              <a:t>renombra un archivo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aira"/>
              <a:buChar char="❖"/>
            </a:pPr>
            <a:r>
              <a:rPr b="1" lang="es-AR" sz="2400">
                <a:latin typeface="Saira"/>
                <a:ea typeface="Saira"/>
                <a:cs typeface="Saira"/>
                <a:sym typeface="Saira"/>
              </a:rPr>
              <a:t>fflush() </a:t>
            </a:r>
            <a:r>
              <a:rPr lang="es-AR" sz="2400">
                <a:latin typeface="Saira"/>
                <a:ea typeface="Saira"/>
                <a:cs typeface="Saira"/>
                <a:sym typeface="Saira"/>
              </a:rPr>
              <a:t>Vacía un archivo.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800"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f55550cd8a_0_89"/>
          <p:cNvSpPr txBox="1"/>
          <p:nvPr/>
        </p:nvSpPr>
        <p:spPr>
          <a:xfrm>
            <a:off x="298689" y="969596"/>
            <a:ext cx="847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36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Funciones Entrada/Salida de texto</a:t>
            </a:r>
            <a:endParaRPr b="0" i="0" sz="36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35" name="Google Shape;235;g1f55550cd8a_0_89"/>
          <p:cNvPicPr preferRelativeResize="0"/>
          <p:nvPr/>
        </p:nvPicPr>
        <p:blipFill rotWithShape="1">
          <a:blip r:embed="rId3">
            <a:alphaModFix/>
          </a:blip>
          <a:srcRect b="30668" l="23552" r="22735" t="29911"/>
          <a:stretch/>
        </p:blipFill>
        <p:spPr>
          <a:xfrm>
            <a:off x="8770710" y="369702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1f55550cd8a_0_89"/>
          <p:cNvSpPr txBox="1"/>
          <p:nvPr/>
        </p:nvSpPr>
        <p:spPr>
          <a:xfrm>
            <a:off x="4418650" y="6317600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37" name="Google Shape;237;g1f55550cd8a_0_89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15725" y="5596775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1f55550cd8a_0_89"/>
          <p:cNvSpPr txBox="1"/>
          <p:nvPr/>
        </p:nvSpPr>
        <p:spPr>
          <a:xfrm>
            <a:off x="391750" y="1788300"/>
            <a:ext cx="61467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latin typeface="Saira"/>
                <a:ea typeface="Saira"/>
                <a:cs typeface="Saira"/>
                <a:sym typeface="Saira"/>
              </a:rPr>
              <a:t>Entrada/Salida de caracteres: 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fgetc()</a:t>
            </a:r>
            <a:r>
              <a:rPr lang="es-AR" sz="2400">
                <a:latin typeface="Saira"/>
                <a:ea typeface="Saira"/>
                <a:cs typeface="Saira"/>
                <a:sym typeface="Saira"/>
              </a:rPr>
              <a:t> Lee 1 carácter 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rgbClr val="0000FF"/>
                </a:solidFill>
                <a:latin typeface="Saira"/>
                <a:ea typeface="Saira"/>
                <a:cs typeface="Saira"/>
                <a:sym typeface="Saira"/>
              </a:rPr>
              <a:t>fputc()</a:t>
            </a:r>
            <a:r>
              <a:rPr lang="es-AR" sz="2400">
                <a:latin typeface="Saira"/>
                <a:ea typeface="Saira"/>
                <a:cs typeface="Saira"/>
                <a:sym typeface="Saira"/>
              </a:rPr>
              <a:t> Escribe 1 carácter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latin typeface="Saira"/>
                <a:ea typeface="Saira"/>
                <a:cs typeface="Saira"/>
                <a:sym typeface="Saira"/>
              </a:rPr>
              <a:t> 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Entrada/Salida</a:t>
            </a:r>
            <a:r>
              <a:rPr lang="es-AR" sz="2400">
                <a:latin typeface="Saira"/>
                <a:ea typeface="Saira"/>
                <a:cs typeface="Saira"/>
                <a:sym typeface="Saira"/>
              </a:rPr>
              <a:t> de cadenas: 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fgets() </a:t>
            </a:r>
            <a:r>
              <a:rPr lang="es-AR" sz="2400">
                <a:latin typeface="Saira"/>
                <a:ea typeface="Saira"/>
                <a:cs typeface="Saira"/>
                <a:sym typeface="Saira"/>
              </a:rPr>
              <a:t>Lee 1 línea 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rgbClr val="0000FF"/>
                </a:solidFill>
                <a:latin typeface="Saira"/>
                <a:ea typeface="Saira"/>
                <a:cs typeface="Saira"/>
                <a:sym typeface="Saira"/>
              </a:rPr>
              <a:t>fputs() </a:t>
            </a:r>
            <a:r>
              <a:rPr lang="es-AR" sz="2400">
                <a:latin typeface="Saira"/>
                <a:ea typeface="Saira"/>
                <a:cs typeface="Saira"/>
                <a:sym typeface="Saira"/>
              </a:rPr>
              <a:t>Escribe 1 línea 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Entrada/Salida</a:t>
            </a:r>
            <a:r>
              <a:rPr lang="es-AR" sz="2400">
                <a:latin typeface="Saira"/>
                <a:ea typeface="Saira"/>
                <a:cs typeface="Saira"/>
                <a:sym typeface="Saira"/>
              </a:rPr>
              <a:t> con formato: 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fscanf()</a:t>
            </a:r>
            <a:r>
              <a:rPr lang="es-AR" sz="2400">
                <a:latin typeface="Saira"/>
                <a:ea typeface="Saira"/>
                <a:cs typeface="Saira"/>
                <a:sym typeface="Saira"/>
              </a:rPr>
              <a:t>Lee con formato </a:t>
            </a:r>
            <a:endParaRPr sz="2400">
              <a:latin typeface="Saira"/>
              <a:ea typeface="Saira"/>
              <a:cs typeface="Saira"/>
              <a:sym typeface="Sai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rgbClr val="0000FF"/>
                </a:solidFill>
                <a:latin typeface="Saira"/>
                <a:ea typeface="Saira"/>
                <a:cs typeface="Saira"/>
                <a:sym typeface="Saira"/>
              </a:rPr>
              <a:t>fprintf() </a:t>
            </a:r>
            <a:r>
              <a:rPr lang="es-AR" sz="2400">
                <a:latin typeface="Saira"/>
                <a:ea typeface="Saira"/>
                <a:cs typeface="Saira"/>
                <a:sym typeface="Saira"/>
              </a:rPr>
              <a:t>Escribe con formato</a:t>
            </a:r>
            <a:endParaRPr sz="2400"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f55550cd8a_0_99"/>
          <p:cNvSpPr txBox="1"/>
          <p:nvPr/>
        </p:nvSpPr>
        <p:spPr>
          <a:xfrm>
            <a:off x="319439" y="990221"/>
            <a:ext cx="847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36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Archivos de texto</a:t>
            </a:r>
            <a:endParaRPr b="0" i="0" sz="36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44" name="Google Shape;244;g1f55550cd8a_0_99"/>
          <p:cNvPicPr preferRelativeResize="0"/>
          <p:nvPr/>
        </p:nvPicPr>
        <p:blipFill rotWithShape="1">
          <a:blip r:embed="rId3">
            <a:alphaModFix/>
          </a:blip>
          <a:srcRect b="30668" l="23552" r="22735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g1f55550cd8a_0_99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46" name="Google Shape;246;g1f55550cd8a_0_99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1f55550cd8a_0_99"/>
          <p:cNvSpPr txBox="1"/>
          <p:nvPr/>
        </p:nvSpPr>
        <p:spPr>
          <a:xfrm>
            <a:off x="2959500" y="3090450"/>
            <a:ext cx="6273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AR" sz="3200">
                <a:solidFill>
                  <a:srgbClr val="0000FF"/>
                </a:solidFill>
                <a:highlight>
                  <a:srgbClr val="FFFFFF"/>
                </a:highlight>
                <a:latin typeface="Saira SemiBold"/>
                <a:ea typeface="Saira SemiBold"/>
                <a:cs typeface="Saira SemiBold"/>
                <a:sym typeface="Saira SemiBold"/>
              </a:rPr>
              <a:t>Ver ejemplos 1,2,3,4,5,6,7,8 y 9</a:t>
            </a:r>
            <a:endParaRPr b="0" i="0" sz="32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c1d2f75a92_0_314"/>
          <p:cNvSpPr txBox="1"/>
          <p:nvPr/>
        </p:nvSpPr>
        <p:spPr>
          <a:xfrm>
            <a:off x="319439" y="941496"/>
            <a:ext cx="847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36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Archivos de texto</a:t>
            </a:r>
            <a:endParaRPr b="0" i="0" sz="42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53" name="Google Shape;253;g2c1d2f75a92_0_314"/>
          <p:cNvPicPr preferRelativeResize="0"/>
          <p:nvPr/>
        </p:nvPicPr>
        <p:blipFill rotWithShape="1">
          <a:blip r:embed="rId3">
            <a:alphaModFix/>
          </a:blip>
          <a:srcRect b="30665" l="23552" r="22735" t="29912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2c1d2f75a92_0_314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55" name="Google Shape;255;g2c1d2f75a92_0_314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g2c1d2f75a92_0_314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57" name="Google Shape;257;g2c1d2f75a92_0_314"/>
          <p:cNvSpPr txBox="1"/>
          <p:nvPr/>
        </p:nvSpPr>
        <p:spPr>
          <a:xfrm>
            <a:off x="8974900" y="4046850"/>
            <a:ext cx="40500" cy="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2c1d2f75a92_0_314"/>
          <p:cNvSpPr txBox="1"/>
          <p:nvPr/>
        </p:nvSpPr>
        <p:spPr>
          <a:xfrm>
            <a:off x="9559625" y="3900675"/>
            <a:ext cx="40500" cy="2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59" name="Google Shape;259;g2c1d2f75a92_0_314"/>
          <p:cNvSpPr txBox="1"/>
          <p:nvPr/>
        </p:nvSpPr>
        <p:spPr>
          <a:xfrm>
            <a:off x="7724225" y="4899550"/>
            <a:ext cx="449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2c1d2f75a92_0_314"/>
          <p:cNvSpPr txBox="1"/>
          <p:nvPr/>
        </p:nvSpPr>
        <p:spPr>
          <a:xfrm>
            <a:off x="8974900" y="4046850"/>
            <a:ext cx="40500" cy="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2c1d2f75a92_0_314"/>
          <p:cNvSpPr txBox="1"/>
          <p:nvPr/>
        </p:nvSpPr>
        <p:spPr>
          <a:xfrm>
            <a:off x="9559625" y="3900675"/>
            <a:ext cx="40500" cy="2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62" name="Google Shape;262;g2c1d2f75a92_0_314"/>
          <p:cNvSpPr txBox="1"/>
          <p:nvPr/>
        </p:nvSpPr>
        <p:spPr>
          <a:xfrm>
            <a:off x="424150" y="1730750"/>
            <a:ext cx="43623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s-AR" sz="2900" u="none" cap="none" strike="noStrike">
                <a:solidFill>
                  <a:srgbClr val="4A86E8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Ejercicio integrador</a:t>
            </a:r>
            <a:endParaRPr b="1" i="0" sz="2900" u="none" cap="none" strike="noStrike">
              <a:solidFill>
                <a:srgbClr val="4A86E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63" name="Google Shape;263;g2c1d2f75a92_0_314"/>
          <p:cNvSpPr txBox="1"/>
          <p:nvPr/>
        </p:nvSpPr>
        <p:spPr>
          <a:xfrm>
            <a:off x="424150" y="2361950"/>
            <a:ext cx="107763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5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El objetivo de este ejercicio es crear un programa en C que cuente la cantidad de palabras en un archivo de texto y escriba este conteo en otro archivo.</a:t>
            </a:r>
            <a:endParaRPr sz="1500">
              <a:solidFill>
                <a:srgbClr val="0D0D0D"/>
              </a:solidFill>
              <a:highlight>
                <a:schemeClr val="lt1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5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El programa debe seguir los siguientes pasos:</a:t>
            </a:r>
            <a:endParaRPr sz="1500">
              <a:solidFill>
                <a:srgbClr val="0D0D0D"/>
              </a:solidFill>
              <a:highlight>
                <a:schemeClr val="lt1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Saira"/>
              <a:buChar char="●"/>
            </a:pPr>
            <a:r>
              <a:rPr lang="es-AR" sz="15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Pedir al usuario el nombre del archivo de entrada que desea analizar.</a:t>
            </a:r>
            <a:endParaRPr sz="1500">
              <a:solidFill>
                <a:srgbClr val="0D0D0D"/>
              </a:solidFill>
              <a:highlight>
                <a:schemeClr val="lt1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Saira"/>
              <a:buChar char="●"/>
            </a:pPr>
            <a:r>
              <a:rPr lang="es-AR" sz="15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Abrir el archivo de entrada en modo lectura.</a:t>
            </a:r>
            <a:endParaRPr sz="1500">
              <a:solidFill>
                <a:srgbClr val="0D0D0D"/>
              </a:solidFill>
              <a:highlight>
                <a:schemeClr val="lt1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Saira"/>
              <a:buChar char="●"/>
            </a:pPr>
            <a:r>
              <a:rPr lang="es-AR" sz="15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Contar la cantidad de palabras en el archivo de entrada.</a:t>
            </a:r>
            <a:endParaRPr sz="1500">
              <a:solidFill>
                <a:srgbClr val="0D0D0D"/>
              </a:solidFill>
              <a:highlight>
                <a:schemeClr val="lt1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Saira"/>
              <a:buChar char="●"/>
            </a:pPr>
            <a:r>
              <a:rPr lang="es-AR" sz="15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Pedir al usuario el nombre del archivo de salida donde se guardará el conteo de palabras.</a:t>
            </a:r>
            <a:endParaRPr sz="1500">
              <a:solidFill>
                <a:srgbClr val="0D0D0D"/>
              </a:solidFill>
              <a:highlight>
                <a:schemeClr val="lt1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Saira"/>
              <a:buChar char="●"/>
            </a:pPr>
            <a:r>
              <a:rPr lang="es-AR" sz="15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Abrir el archivo de salida en modo escritura.</a:t>
            </a:r>
            <a:endParaRPr sz="1500">
              <a:solidFill>
                <a:srgbClr val="0D0D0D"/>
              </a:solidFill>
              <a:highlight>
                <a:schemeClr val="lt1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Saira"/>
              <a:buChar char="●"/>
            </a:pPr>
            <a:r>
              <a:rPr lang="es-AR" sz="15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Escribir en el archivo de salida la cantidad de palabras contadas en el archivo de entrada.</a:t>
            </a:r>
            <a:endParaRPr sz="1500">
              <a:solidFill>
                <a:srgbClr val="0D0D0D"/>
              </a:solidFill>
              <a:highlight>
                <a:schemeClr val="lt1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Saira"/>
              <a:buChar char="●"/>
            </a:pPr>
            <a:r>
              <a:rPr lang="es-AR" sz="15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Cerrar ambos archivos.</a:t>
            </a:r>
            <a:endParaRPr sz="1500">
              <a:solidFill>
                <a:srgbClr val="0D0D0D"/>
              </a:solidFill>
              <a:highlight>
                <a:schemeClr val="lt1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5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El programa debe tener en cuenta lo siguiente:</a:t>
            </a:r>
            <a:endParaRPr sz="1500">
              <a:solidFill>
                <a:srgbClr val="0D0D0D"/>
              </a:solidFill>
              <a:highlight>
                <a:schemeClr val="lt1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Saira"/>
              <a:buChar char="●"/>
            </a:pPr>
            <a:r>
              <a:rPr lang="es-AR" sz="15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Se considera una palabra cualquier secuencia de caracteres separados por espacios, tabulaciones o saltos de línea.</a:t>
            </a:r>
            <a:endParaRPr sz="1500">
              <a:solidFill>
                <a:srgbClr val="0D0D0D"/>
              </a:solidFill>
              <a:highlight>
                <a:schemeClr val="lt1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Saira"/>
              <a:buChar char="●"/>
            </a:pPr>
            <a:r>
              <a:rPr lang="es-AR" sz="15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No se deben considerar los signos de puntuación como parte de las palabras.</a:t>
            </a:r>
            <a:endParaRPr sz="1500">
              <a:solidFill>
                <a:srgbClr val="0D0D0D"/>
              </a:solidFill>
              <a:highlight>
                <a:schemeClr val="lt1"/>
              </a:highlight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g1f3006538ad_0_205"/>
          <p:cNvPicPr preferRelativeResize="0"/>
          <p:nvPr/>
        </p:nvPicPr>
        <p:blipFill rotWithShape="1">
          <a:blip r:embed="rId3">
            <a:alphaModFix/>
          </a:blip>
          <a:srcRect b="30673" l="23551" r="22738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g1f3006538ad_0_205"/>
          <p:cNvSpPr txBox="1"/>
          <p:nvPr>
            <p:ph idx="11" type="ftr"/>
          </p:nvPr>
        </p:nvSpPr>
        <p:spPr>
          <a:xfrm>
            <a:off x="2846238" y="2374225"/>
            <a:ext cx="6499500" cy="10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2000">
                <a:latin typeface="Saira"/>
                <a:ea typeface="Saira"/>
                <a:cs typeface="Saira"/>
                <a:sym typeface="Saira"/>
              </a:rPr>
              <a:t>Próxima unidad: Archivos binarios</a:t>
            </a:r>
            <a:endParaRPr sz="2000"/>
          </a:p>
        </p:txBody>
      </p:sp>
      <p:pic>
        <p:nvPicPr>
          <p:cNvPr id="270" name="Google Shape;270;g1f3006538ad_0_205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5219014" y="3378025"/>
            <a:ext cx="1753976" cy="21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g1f3006538ad_0_205"/>
          <p:cNvSpPr txBox="1"/>
          <p:nvPr>
            <p:ph idx="10" type="dt"/>
          </p:nvPr>
        </p:nvSpPr>
        <p:spPr>
          <a:xfrm>
            <a:off x="4439400" y="63133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2023-03-07T21:33:27Z</dcterms:created>
  <dc:creator>Carlos Sebastián Pedraza</dc:creator>
</cp:coreProperties>
</file>