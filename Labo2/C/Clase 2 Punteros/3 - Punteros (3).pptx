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Saira"/>
      <p:regular r:id="rId32"/>
      <p:bold r:id="rId33"/>
      <p:italic r:id="rId34"/>
      <p:boldItalic r:id="rId35"/>
    </p:embeddedFont>
    <p:embeddedFont>
      <p:font typeface="Saira SemiBold"/>
      <p:regular r:id="rId36"/>
      <p:bold r:id="rId37"/>
      <p:italic r:id="rId38"/>
      <p:boldItalic r:id="rId39"/>
    </p:embeddedFont>
    <p:embeddedFont>
      <p:font typeface="Saira Medium"/>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ja5G92qSfN3diByXDJb/l6LbFV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SairaMedium-regular.fntdata"/><Relationship Id="rId20" Type="http://schemas.openxmlformats.org/officeDocument/2006/relationships/slide" Target="slides/slide16.xml"/><Relationship Id="rId42" Type="http://schemas.openxmlformats.org/officeDocument/2006/relationships/font" Target="fonts/SairaMedium-italic.fntdata"/><Relationship Id="rId41" Type="http://schemas.openxmlformats.org/officeDocument/2006/relationships/font" Target="fonts/SairaMedium-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SairaMedium-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Saira-bold.fntdata"/><Relationship Id="rId10" Type="http://schemas.openxmlformats.org/officeDocument/2006/relationships/slide" Target="slides/slide6.xml"/><Relationship Id="rId32" Type="http://schemas.openxmlformats.org/officeDocument/2006/relationships/font" Target="fonts/Saira-regular.fntdata"/><Relationship Id="rId13" Type="http://schemas.openxmlformats.org/officeDocument/2006/relationships/slide" Target="slides/slide9.xml"/><Relationship Id="rId35" Type="http://schemas.openxmlformats.org/officeDocument/2006/relationships/font" Target="fonts/Saira-boldItalic.fntdata"/><Relationship Id="rId12" Type="http://schemas.openxmlformats.org/officeDocument/2006/relationships/slide" Target="slides/slide8.xml"/><Relationship Id="rId34" Type="http://schemas.openxmlformats.org/officeDocument/2006/relationships/font" Target="fonts/Saira-italic.fntdata"/><Relationship Id="rId15" Type="http://schemas.openxmlformats.org/officeDocument/2006/relationships/slide" Target="slides/slide11.xml"/><Relationship Id="rId37" Type="http://schemas.openxmlformats.org/officeDocument/2006/relationships/font" Target="fonts/SairaSemiBold-bold.fntdata"/><Relationship Id="rId14" Type="http://schemas.openxmlformats.org/officeDocument/2006/relationships/slide" Target="slides/slide10.xml"/><Relationship Id="rId36" Type="http://schemas.openxmlformats.org/officeDocument/2006/relationships/font" Target="fonts/SairaSemiBold-regular.fntdata"/><Relationship Id="rId17" Type="http://schemas.openxmlformats.org/officeDocument/2006/relationships/slide" Target="slides/slide13.xml"/><Relationship Id="rId39" Type="http://schemas.openxmlformats.org/officeDocument/2006/relationships/font" Target="fonts/SairaSemiBold-boldItalic.fntdata"/><Relationship Id="rId16" Type="http://schemas.openxmlformats.org/officeDocument/2006/relationships/slide" Target="slides/slide12.xml"/><Relationship Id="rId38" Type="http://schemas.openxmlformats.org/officeDocument/2006/relationships/font" Target="fonts/SairaSemi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f2ce82f4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1f2ce82f4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f3174458e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1f3174458ef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3174458e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1f3174458ef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f3174458ef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g1f3174458ef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f3174458ef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1f3174458ef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f3174458e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1f3174458ef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f3174458ef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1f3174458ef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f2ce82f4ef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1f2ce82f4ef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f2ce82f4ef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1f2ce82f4ef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f2ce82f4ef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1f2ce82f4ef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f3006538a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1f3006538a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f3aa79e63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1f3aa79e63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f3aa79e631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1f3aa79e631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f3aa79e631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1f3aa79e631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f3aa79e631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1f3aa79e631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f3aa79e631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1f3aa79e631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f3aa79e631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1f3aa79e631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f3aa79e631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g1f3aa79e631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f3aa79e631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1f3aa79e631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3aa79e631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g1f3aa79e631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f2ed7125a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1f2ed7125a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f2ed7125a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1f2ed7125a1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f3aa79e631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3" name="Google Shape;373;g1f3aa79e631_0_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f3aa79e631_0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g1f3aa79e631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f3006538ad_0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g1f3006538ad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7.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a:t>
            </a:r>
            <a:r>
              <a:rPr lang="es-AR" sz="4200">
                <a:solidFill>
                  <a:schemeClr val="dk1"/>
                </a:solidFill>
                <a:latin typeface="Saira"/>
                <a:ea typeface="Saira"/>
                <a:cs typeface="Saira"/>
                <a:sym typeface="Saira"/>
              </a:rPr>
              <a:t>computación </a:t>
            </a:r>
            <a:r>
              <a:rPr b="0" i="0" lang="es-AR" sz="4200" u="none" cap="none" strike="noStrike">
                <a:solidFill>
                  <a:schemeClr val="dk1"/>
                </a:solidFill>
                <a:latin typeface="Saira"/>
                <a:ea typeface="Saira"/>
                <a:cs typeface="Saira"/>
                <a:sym typeface="Saira"/>
              </a:rPr>
              <a:t>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4272150" y="2019900"/>
            <a:ext cx="36477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a:t>
            </a:r>
            <a:r>
              <a:rPr lang="es-AR" sz="2800">
                <a:solidFill>
                  <a:schemeClr val="dk1"/>
                </a:solidFill>
                <a:latin typeface="Saira"/>
                <a:ea typeface="Saira"/>
                <a:cs typeface="Saira"/>
                <a:sym typeface="Saira"/>
              </a:rPr>
              <a:t>2</a:t>
            </a:r>
            <a:r>
              <a:rPr b="0" i="0" lang="es-AR" sz="2800" u="none" cap="none" strike="noStrike">
                <a:solidFill>
                  <a:schemeClr val="dk1"/>
                </a:solidFill>
                <a:latin typeface="Saira"/>
                <a:ea typeface="Saira"/>
                <a:cs typeface="Saira"/>
                <a:sym typeface="Saira"/>
              </a:rPr>
              <a:t> - </a:t>
            </a:r>
            <a:r>
              <a:rPr lang="es-AR" sz="2800">
                <a:solidFill>
                  <a:schemeClr val="dk1"/>
                </a:solidFill>
                <a:latin typeface="Saira"/>
                <a:ea typeface="Saira"/>
                <a:cs typeface="Saira"/>
                <a:sym typeface="Saira"/>
              </a:rPr>
              <a:t>Punteros</a:t>
            </a:r>
            <a:endParaRPr b="0" i="0" sz="2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pic>
        <p:nvPicPr>
          <p:cNvPr id="89" name="Google Shape;89;p1"/>
          <p:cNvPicPr preferRelativeResize="0"/>
          <p:nvPr/>
        </p:nvPicPr>
        <p:blipFill>
          <a:blip r:embed="rId5">
            <a:alphaModFix/>
          </a:blip>
          <a:stretch>
            <a:fillRect/>
          </a:stretch>
        </p:blipFill>
        <p:spPr>
          <a:xfrm>
            <a:off x="3257550" y="3098125"/>
            <a:ext cx="5676900" cy="1895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1f2ce82f4ef_0_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Memoria en C</a:t>
            </a:r>
            <a:endParaRPr b="0" i="0" sz="5400" u="none" cap="none" strike="noStrike">
              <a:solidFill>
                <a:schemeClr val="dk1"/>
              </a:solidFill>
              <a:latin typeface="Saira"/>
              <a:ea typeface="Saira"/>
              <a:cs typeface="Saira"/>
              <a:sym typeface="Saira"/>
            </a:endParaRPr>
          </a:p>
        </p:txBody>
      </p:sp>
      <p:pic>
        <p:nvPicPr>
          <p:cNvPr id="95" name="Google Shape;95;g1f2ce82f4ef_0_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96" name="Google Shape;96;g1f2ce82f4ef_0_5"/>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97" name="Google Shape;97;g1f2ce82f4ef_0_5"/>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98" name="Google Shape;98;g1f2ce82f4ef_0_5"/>
          <p:cNvSpPr txBox="1"/>
          <p:nvPr/>
        </p:nvSpPr>
        <p:spPr>
          <a:xfrm>
            <a:off x="319450" y="1747250"/>
            <a:ext cx="300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Particiones</a:t>
            </a:r>
            <a:endParaRPr b="0" i="0" sz="3000" u="none" cap="none" strike="noStrike">
              <a:solidFill>
                <a:schemeClr val="dk1"/>
              </a:solidFill>
              <a:latin typeface="Saira"/>
              <a:ea typeface="Saira"/>
              <a:cs typeface="Saira"/>
              <a:sym typeface="Saira"/>
            </a:endParaRPr>
          </a:p>
        </p:txBody>
      </p:sp>
      <p:pic>
        <p:nvPicPr>
          <p:cNvPr id="99" name="Google Shape;99;g1f2ce82f4ef_0_5"/>
          <p:cNvPicPr preferRelativeResize="0"/>
          <p:nvPr/>
        </p:nvPicPr>
        <p:blipFill>
          <a:blip r:embed="rId5">
            <a:alphaModFix/>
          </a:blip>
          <a:stretch>
            <a:fillRect/>
          </a:stretch>
        </p:blipFill>
        <p:spPr>
          <a:xfrm>
            <a:off x="1986050" y="2699650"/>
            <a:ext cx="8219900" cy="2540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f3174458ef_0_2"/>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Memoria en C</a:t>
            </a:r>
            <a:endParaRPr b="0" i="0" sz="5400" u="none" cap="none" strike="noStrike">
              <a:solidFill>
                <a:schemeClr val="dk1"/>
              </a:solidFill>
              <a:latin typeface="Saira"/>
              <a:ea typeface="Saira"/>
              <a:cs typeface="Saira"/>
              <a:sym typeface="Saira"/>
            </a:endParaRPr>
          </a:p>
        </p:txBody>
      </p:sp>
      <p:pic>
        <p:nvPicPr>
          <p:cNvPr id="105" name="Google Shape;105;g1f3174458ef_0_2"/>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06" name="Google Shape;106;g1f3174458ef_0_2"/>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07" name="Google Shape;107;g1f3174458ef_0_2"/>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08" name="Google Shape;108;g1f3174458ef_0_2"/>
          <p:cNvSpPr txBox="1"/>
          <p:nvPr/>
        </p:nvSpPr>
        <p:spPr>
          <a:xfrm>
            <a:off x="319450" y="1747250"/>
            <a:ext cx="859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Zona de Código (Code Segment o Text Segment)</a:t>
            </a:r>
            <a:endParaRPr b="0" i="0" sz="3000" u="none" cap="none" strike="noStrike">
              <a:solidFill>
                <a:schemeClr val="dk1"/>
              </a:solidFill>
              <a:latin typeface="Saira"/>
              <a:ea typeface="Saira"/>
              <a:cs typeface="Saira"/>
              <a:sym typeface="Saira"/>
            </a:endParaRPr>
          </a:p>
        </p:txBody>
      </p:sp>
      <p:sp>
        <p:nvSpPr>
          <p:cNvPr id="109" name="Google Shape;109;g1f3174458ef_0_2"/>
          <p:cNvSpPr txBox="1"/>
          <p:nvPr/>
        </p:nvSpPr>
        <p:spPr>
          <a:xfrm>
            <a:off x="2564475" y="3299000"/>
            <a:ext cx="8472000" cy="1917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Esta </a:t>
            </a:r>
            <a:r>
              <a:rPr lang="es-AR" sz="1800">
                <a:solidFill>
                  <a:schemeClr val="dk1"/>
                </a:solidFill>
                <a:latin typeface="Saira"/>
                <a:ea typeface="Saira"/>
                <a:cs typeface="Saira"/>
                <a:sym typeface="Saira"/>
              </a:rPr>
              <a:t>área </a:t>
            </a:r>
            <a:r>
              <a:rPr lang="es-AR" sz="1800">
                <a:solidFill>
                  <a:schemeClr val="dk1"/>
                </a:solidFill>
                <a:latin typeface="Saira"/>
                <a:ea typeface="Saira"/>
                <a:cs typeface="Saira"/>
                <a:sym typeface="Saira"/>
              </a:rPr>
              <a:t>almacena el código ejecutable del programa, es decir, las instrucciones de máquina que el procesador ejecutará.</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Esta zona es de solo lectura y es compartida entre todas las instancias del programa.</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El código no puede ser modificado mientras el programa se está ejecutando.</a:t>
            </a:r>
            <a:endParaRPr sz="1800">
              <a:solidFill>
                <a:schemeClr val="dk1"/>
              </a:solidFill>
              <a:latin typeface="Saira"/>
              <a:ea typeface="Saira"/>
              <a:cs typeface="Saira"/>
              <a:sym typeface="Saira"/>
            </a:endParaRPr>
          </a:p>
        </p:txBody>
      </p:sp>
      <p:pic>
        <p:nvPicPr>
          <p:cNvPr id="110" name="Google Shape;110;g1f3174458ef_0_2"/>
          <p:cNvPicPr preferRelativeResize="0"/>
          <p:nvPr/>
        </p:nvPicPr>
        <p:blipFill>
          <a:blip r:embed="rId5">
            <a:alphaModFix/>
          </a:blip>
          <a:stretch>
            <a:fillRect/>
          </a:stretch>
        </p:blipFill>
        <p:spPr>
          <a:xfrm>
            <a:off x="511625" y="3444225"/>
            <a:ext cx="1743075" cy="1390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1f3174458ef_0_1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Memoria en C</a:t>
            </a:r>
            <a:endParaRPr b="0" i="0" sz="5400" u="none" cap="none" strike="noStrike">
              <a:solidFill>
                <a:schemeClr val="dk1"/>
              </a:solidFill>
              <a:latin typeface="Saira"/>
              <a:ea typeface="Saira"/>
              <a:cs typeface="Saira"/>
              <a:sym typeface="Saira"/>
            </a:endParaRPr>
          </a:p>
        </p:txBody>
      </p:sp>
      <p:pic>
        <p:nvPicPr>
          <p:cNvPr id="116" name="Google Shape;116;g1f3174458ef_0_15"/>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17" name="Google Shape;117;g1f3174458ef_0_15"/>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18" name="Google Shape;118;g1f3174458ef_0_15"/>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19" name="Google Shape;119;g1f3174458ef_0_15"/>
          <p:cNvSpPr txBox="1"/>
          <p:nvPr/>
        </p:nvSpPr>
        <p:spPr>
          <a:xfrm>
            <a:off x="319450" y="1747250"/>
            <a:ext cx="10413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Zona de Datos Estáticos (Data Segment o Static Memory)</a:t>
            </a:r>
            <a:endParaRPr b="0" i="0" sz="3000" u="none" cap="none" strike="noStrike">
              <a:solidFill>
                <a:schemeClr val="dk1"/>
              </a:solidFill>
              <a:latin typeface="Saira"/>
              <a:ea typeface="Saira"/>
              <a:cs typeface="Saira"/>
              <a:sym typeface="Saira"/>
            </a:endParaRPr>
          </a:p>
        </p:txBody>
      </p:sp>
      <p:sp>
        <p:nvSpPr>
          <p:cNvPr id="120" name="Google Shape;120;g1f3174458ef_0_15"/>
          <p:cNvSpPr txBox="1"/>
          <p:nvPr/>
        </p:nvSpPr>
        <p:spPr>
          <a:xfrm>
            <a:off x="2564475" y="3365475"/>
            <a:ext cx="8472000" cy="1469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Esta zona almacena variables globales y estáticas, así como también constantes y cadenas de caracteres.</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Las variables estáticas (globales y locales estáticas) mantienen su valor durante toda la vida del programa.</a:t>
            </a:r>
            <a:endParaRPr sz="1800">
              <a:solidFill>
                <a:schemeClr val="dk1"/>
              </a:solidFill>
              <a:latin typeface="Saira"/>
              <a:ea typeface="Saira"/>
              <a:cs typeface="Saira"/>
              <a:sym typeface="Saira"/>
            </a:endParaRPr>
          </a:p>
        </p:txBody>
      </p:sp>
      <p:pic>
        <p:nvPicPr>
          <p:cNvPr id="121" name="Google Shape;121;g1f3174458ef_0_15"/>
          <p:cNvPicPr preferRelativeResize="0"/>
          <p:nvPr/>
        </p:nvPicPr>
        <p:blipFill>
          <a:blip r:embed="rId5">
            <a:alphaModFix/>
          </a:blip>
          <a:stretch>
            <a:fillRect/>
          </a:stretch>
        </p:blipFill>
        <p:spPr>
          <a:xfrm>
            <a:off x="651825" y="3431875"/>
            <a:ext cx="1757603" cy="1336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1f3174458ef_0_26"/>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Memoria en C</a:t>
            </a:r>
            <a:endParaRPr b="0" i="0" sz="5400" u="none" cap="none" strike="noStrike">
              <a:solidFill>
                <a:schemeClr val="dk1"/>
              </a:solidFill>
              <a:latin typeface="Saira"/>
              <a:ea typeface="Saira"/>
              <a:cs typeface="Saira"/>
              <a:sym typeface="Saira"/>
            </a:endParaRPr>
          </a:p>
        </p:txBody>
      </p:sp>
      <p:pic>
        <p:nvPicPr>
          <p:cNvPr id="127" name="Google Shape;127;g1f3174458ef_0_26"/>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28" name="Google Shape;128;g1f3174458ef_0_26"/>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29" name="Google Shape;129;g1f3174458ef_0_26"/>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30" name="Google Shape;130;g1f3174458ef_0_26"/>
          <p:cNvSpPr txBox="1"/>
          <p:nvPr/>
        </p:nvSpPr>
        <p:spPr>
          <a:xfrm>
            <a:off x="319450" y="1747250"/>
            <a:ext cx="10413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Zona de la Pila (Stack)</a:t>
            </a:r>
            <a:endParaRPr b="0" i="0" sz="3000" u="none" cap="none" strike="noStrike">
              <a:solidFill>
                <a:schemeClr val="dk1"/>
              </a:solidFill>
              <a:latin typeface="Saira"/>
              <a:ea typeface="Saira"/>
              <a:cs typeface="Saira"/>
              <a:sym typeface="Saira"/>
            </a:endParaRPr>
          </a:p>
        </p:txBody>
      </p:sp>
      <p:sp>
        <p:nvSpPr>
          <p:cNvPr id="131" name="Google Shape;131;g1f3174458ef_0_26"/>
          <p:cNvSpPr txBox="1"/>
          <p:nvPr/>
        </p:nvSpPr>
        <p:spPr>
          <a:xfrm>
            <a:off x="2564475" y="3365475"/>
            <a:ext cx="8728800" cy="2350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Esta zona almacena las variables locales de las funciones, así como también los registros de activación (stack frames) y la información necesaria para el control de la ejecución de las funciones.</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Las variables almacenadas en la pila se crean y destruyen automáticamente cuando se entra y se sale de las funciones.</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La pila es de tamaño fijo y suele ser limitada en tamaño, por lo que el desbordamiento de pila (stack overflow) puede ocurrir si se agota el espacio asignado para ella.</a:t>
            </a:r>
            <a:endParaRPr sz="1800">
              <a:solidFill>
                <a:schemeClr val="dk1"/>
              </a:solidFill>
              <a:latin typeface="Saira"/>
              <a:ea typeface="Saira"/>
              <a:cs typeface="Saira"/>
              <a:sym typeface="Saira"/>
            </a:endParaRPr>
          </a:p>
        </p:txBody>
      </p:sp>
      <p:pic>
        <p:nvPicPr>
          <p:cNvPr id="132" name="Google Shape;132;g1f3174458ef_0_26"/>
          <p:cNvPicPr preferRelativeResize="0"/>
          <p:nvPr/>
        </p:nvPicPr>
        <p:blipFill>
          <a:blip r:embed="rId5">
            <a:alphaModFix/>
          </a:blip>
          <a:stretch>
            <a:fillRect/>
          </a:stretch>
        </p:blipFill>
        <p:spPr>
          <a:xfrm>
            <a:off x="724900" y="3433338"/>
            <a:ext cx="1699462" cy="1333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1f3174458ef_0_4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Memoria en C</a:t>
            </a:r>
            <a:endParaRPr b="0" i="0" sz="5400" u="none" cap="none" strike="noStrike">
              <a:solidFill>
                <a:schemeClr val="dk1"/>
              </a:solidFill>
              <a:latin typeface="Saira"/>
              <a:ea typeface="Saira"/>
              <a:cs typeface="Saira"/>
              <a:sym typeface="Saira"/>
            </a:endParaRPr>
          </a:p>
        </p:txBody>
      </p:sp>
      <p:pic>
        <p:nvPicPr>
          <p:cNvPr id="138" name="Google Shape;138;g1f3174458ef_0_40"/>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39" name="Google Shape;139;g1f3174458ef_0_40"/>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40" name="Google Shape;140;g1f3174458ef_0_40"/>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41" name="Google Shape;141;g1f3174458ef_0_40"/>
          <p:cNvSpPr txBox="1"/>
          <p:nvPr/>
        </p:nvSpPr>
        <p:spPr>
          <a:xfrm>
            <a:off x="319450" y="1747250"/>
            <a:ext cx="10413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Zona de Memoria Dinámica (Heap)</a:t>
            </a:r>
            <a:endParaRPr b="0" i="0" sz="3000" u="none" cap="none" strike="noStrike">
              <a:solidFill>
                <a:schemeClr val="dk1"/>
              </a:solidFill>
              <a:latin typeface="Saira"/>
              <a:ea typeface="Saira"/>
              <a:cs typeface="Saira"/>
              <a:sym typeface="Saira"/>
            </a:endParaRPr>
          </a:p>
        </p:txBody>
      </p:sp>
      <p:sp>
        <p:nvSpPr>
          <p:cNvPr id="142" name="Google Shape;142;g1f3174458ef_0_40"/>
          <p:cNvSpPr txBox="1"/>
          <p:nvPr/>
        </p:nvSpPr>
        <p:spPr>
          <a:xfrm>
            <a:off x="2369575" y="3190888"/>
            <a:ext cx="8728800" cy="2350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Esta zona almacena datos que son asignados dinámicamente durante la ejecución del programa utilizando funciones como malloc(), calloc(), realloc(), etc.</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La memoria en la zona del heap debe ser explícitamente asignada y liberada por el programador.</a:t>
            </a:r>
            <a:endParaRPr sz="1800">
              <a:solidFill>
                <a:schemeClr val="dk1"/>
              </a:solidFill>
              <a:latin typeface="Saira"/>
              <a:ea typeface="Saira"/>
              <a:cs typeface="Saira"/>
              <a:sym typeface="Saira"/>
            </a:endParaRPr>
          </a:p>
          <a:p>
            <a:pPr indent="-342900" lvl="0" marL="457200" rtl="0" algn="l">
              <a:spcBef>
                <a:spcPts val="0"/>
              </a:spcBef>
              <a:spcAft>
                <a:spcPts val="0"/>
              </a:spcAft>
              <a:buClr>
                <a:schemeClr val="dk1"/>
              </a:buClr>
              <a:buSzPts val="1800"/>
              <a:buFont typeface="Saira"/>
              <a:buChar char="●"/>
            </a:pPr>
            <a:r>
              <a:rPr lang="es-AR" sz="1800">
                <a:solidFill>
                  <a:schemeClr val="dk1"/>
                </a:solidFill>
                <a:latin typeface="Saira"/>
                <a:ea typeface="Saira"/>
                <a:cs typeface="Saira"/>
                <a:sym typeface="Saira"/>
              </a:rPr>
              <a:t>El tamaño de la zona del heap suele ser mucho mayor que el de la pila, pero también puede ser limitado por la cantidad total de memoria disponible en el sistema y por las políticas de gestión de memoria del sistema operativo.</a:t>
            </a:r>
            <a:endParaRPr sz="1800">
              <a:solidFill>
                <a:schemeClr val="dk1"/>
              </a:solidFill>
              <a:latin typeface="Saira"/>
              <a:ea typeface="Saira"/>
              <a:cs typeface="Saira"/>
              <a:sym typeface="Saira"/>
            </a:endParaRPr>
          </a:p>
        </p:txBody>
      </p:sp>
      <p:pic>
        <p:nvPicPr>
          <p:cNvPr id="143" name="Google Shape;143;g1f3174458ef_0_40"/>
          <p:cNvPicPr preferRelativeResize="0"/>
          <p:nvPr/>
        </p:nvPicPr>
        <p:blipFill>
          <a:blip r:embed="rId5">
            <a:alphaModFix/>
          </a:blip>
          <a:stretch>
            <a:fillRect/>
          </a:stretch>
        </p:blipFill>
        <p:spPr>
          <a:xfrm>
            <a:off x="517825" y="3365475"/>
            <a:ext cx="1771650" cy="1362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1f3174458ef_0_5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Memoria en C</a:t>
            </a:r>
            <a:endParaRPr b="0" i="0" sz="5400" u="none" cap="none" strike="noStrike">
              <a:solidFill>
                <a:schemeClr val="dk1"/>
              </a:solidFill>
              <a:latin typeface="Saira"/>
              <a:ea typeface="Saira"/>
              <a:cs typeface="Saira"/>
              <a:sym typeface="Saira"/>
            </a:endParaRPr>
          </a:p>
        </p:txBody>
      </p:sp>
      <p:pic>
        <p:nvPicPr>
          <p:cNvPr id="149" name="Google Shape;149;g1f3174458ef_0_51"/>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50" name="Google Shape;150;g1f3174458ef_0_5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51" name="Google Shape;151;g1f3174458ef_0_51"/>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52" name="Google Shape;152;g1f3174458ef_0_5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53" name="Google Shape;153;g1f3174458ef_0_51"/>
          <p:cNvSpPr txBox="1"/>
          <p:nvPr/>
        </p:nvSpPr>
        <p:spPr>
          <a:xfrm>
            <a:off x="980775" y="2754013"/>
            <a:ext cx="2723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Arial"/>
                <a:ea typeface="Arial"/>
                <a:cs typeface="Arial"/>
                <a:sym typeface="Arial"/>
              </a:rPr>
              <a:t>&amp;</a:t>
            </a:r>
            <a:r>
              <a:rPr b="0" i="0" lang="es-AR" sz="3000" u="none" cap="none" strike="noStrike">
                <a:solidFill>
                  <a:srgbClr val="FF0000"/>
                </a:solidFill>
                <a:latin typeface="Saira"/>
                <a:ea typeface="Saira"/>
                <a:cs typeface="Saira"/>
                <a:sym typeface="Saira"/>
              </a:rPr>
              <a:t>variable</a:t>
            </a:r>
            <a:endParaRPr b="0" i="0" sz="1400" u="none" cap="none" strike="noStrike">
              <a:solidFill>
                <a:schemeClr val="dk1"/>
              </a:solidFill>
              <a:latin typeface="Arial"/>
              <a:ea typeface="Arial"/>
              <a:cs typeface="Arial"/>
              <a:sym typeface="Arial"/>
            </a:endParaRPr>
          </a:p>
        </p:txBody>
      </p:sp>
      <p:sp>
        <p:nvSpPr>
          <p:cNvPr id="154" name="Google Shape;154;g1f3174458ef_0_51"/>
          <p:cNvSpPr txBox="1"/>
          <p:nvPr/>
        </p:nvSpPr>
        <p:spPr>
          <a:xfrm>
            <a:off x="375150" y="3395975"/>
            <a:ext cx="3711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s-AR" sz="1700" u="none" cap="none" strike="noStrike">
                <a:solidFill>
                  <a:srgbClr val="0D0D0D"/>
                </a:solidFill>
                <a:highlight>
                  <a:srgbClr val="FFFFFF"/>
                </a:highlight>
                <a:latin typeface="Saira"/>
                <a:ea typeface="Saira"/>
                <a:cs typeface="Saira"/>
                <a:sym typeface="Saira"/>
              </a:rPr>
              <a:t>el operador </a:t>
            </a:r>
            <a:r>
              <a:rPr b="0" i="0" lang="es-AR" sz="1700" u="none" cap="none" strike="noStrike">
                <a:solidFill>
                  <a:srgbClr val="0D0D0D"/>
                </a:solidFill>
                <a:highlight>
                  <a:srgbClr val="FFFFFF"/>
                </a:highlight>
                <a:latin typeface="Arial"/>
                <a:ea typeface="Arial"/>
                <a:cs typeface="Arial"/>
                <a:sym typeface="Arial"/>
              </a:rPr>
              <a:t>&amp;</a:t>
            </a:r>
            <a:r>
              <a:rPr b="0" i="0" lang="es-AR" sz="1700" u="none" cap="none" strike="noStrike">
                <a:solidFill>
                  <a:srgbClr val="0D0D0D"/>
                </a:solidFill>
                <a:highlight>
                  <a:srgbClr val="FFFFFF"/>
                </a:highlight>
                <a:latin typeface="Saira"/>
                <a:ea typeface="Saira"/>
                <a:cs typeface="Saira"/>
                <a:sym typeface="Saira"/>
              </a:rPr>
              <a:t> devuelve la dirección de la variable que acompañe</a:t>
            </a:r>
            <a:endParaRPr b="0" i="0" sz="1700" u="none" cap="none" strike="noStrike">
              <a:solidFill>
                <a:srgbClr val="000000"/>
              </a:solidFill>
              <a:latin typeface="Saira"/>
              <a:ea typeface="Saira"/>
              <a:cs typeface="Saira"/>
              <a:sym typeface="Saira"/>
            </a:endParaRPr>
          </a:p>
        </p:txBody>
      </p:sp>
      <p:pic>
        <p:nvPicPr>
          <p:cNvPr id="155" name="Google Shape;155;g1f3174458ef_0_51"/>
          <p:cNvPicPr preferRelativeResize="0"/>
          <p:nvPr/>
        </p:nvPicPr>
        <p:blipFill rotWithShape="1">
          <a:blip r:embed="rId5">
            <a:alphaModFix/>
          </a:blip>
          <a:srcRect b="0" l="0" r="0" t="0"/>
          <a:stretch/>
        </p:blipFill>
        <p:spPr>
          <a:xfrm>
            <a:off x="4086762" y="2517762"/>
            <a:ext cx="7856576" cy="1822500"/>
          </a:xfrm>
          <a:prstGeom prst="rect">
            <a:avLst/>
          </a:prstGeom>
          <a:noFill/>
          <a:ln>
            <a:noFill/>
          </a:ln>
        </p:spPr>
      </p:pic>
      <p:sp>
        <p:nvSpPr>
          <p:cNvPr id="156" name="Google Shape;156;g1f3174458ef_0_51"/>
          <p:cNvSpPr txBox="1"/>
          <p:nvPr/>
        </p:nvSpPr>
        <p:spPr>
          <a:xfrm>
            <a:off x="4148138" y="5285738"/>
            <a:ext cx="2723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Arial"/>
                <a:ea typeface="Arial"/>
                <a:cs typeface="Arial"/>
                <a:sym typeface="Arial"/>
              </a:rPr>
              <a:t>&amp;</a:t>
            </a:r>
            <a:r>
              <a:rPr b="0" i="0" lang="es-AR" sz="3000" u="none" cap="none" strike="noStrike">
                <a:solidFill>
                  <a:srgbClr val="FF0000"/>
                </a:solidFill>
                <a:latin typeface="Saira"/>
                <a:ea typeface="Saira"/>
                <a:cs typeface="Saira"/>
                <a:sym typeface="Saira"/>
              </a:rPr>
              <a:t>inicial</a:t>
            </a:r>
            <a:endParaRPr b="0" i="0" sz="1400" u="none" cap="none" strike="noStrike">
              <a:solidFill>
                <a:schemeClr val="dk1"/>
              </a:solidFill>
              <a:latin typeface="Arial"/>
              <a:ea typeface="Arial"/>
              <a:cs typeface="Arial"/>
              <a:sym typeface="Arial"/>
            </a:endParaRPr>
          </a:p>
        </p:txBody>
      </p:sp>
      <p:sp>
        <p:nvSpPr>
          <p:cNvPr id="157" name="Google Shape;157;g1f3174458ef_0_51"/>
          <p:cNvSpPr/>
          <p:nvPr/>
        </p:nvSpPr>
        <p:spPr>
          <a:xfrm>
            <a:off x="5677288" y="5408300"/>
            <a:ext cx="877500" cy="4014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 name="Google Shape;158;g1f3174458ef_0_51"/>
          <p:cNvSpPr txBox="1"/>
          <p:nvPr/>
        </p:nvSpPr>
        <p:spPr>
          <a:xfrm>
            <a:off x="6711388" y="5285750"/>
            <a:ext cx="1292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accent6"/>
                </a:solidFill>
                <a:latin typeface="Saira"/>
                <a:ea typeface="Saira"/>
                <a:cs typeface="Saira"/>
                <a:sym typeface="Saira"/>
              </a:rPr>
              <a:t>0x06</a:t>
            </a:r>
            <a:endParaRPr b="0" i="0" sz="1400" u="none" cap="none" strike="noStrike">
              <a:solidFill>
                <a:schemeClr val="accent6"/>
              </a:solidFill>
              <a:latin typeface="Arial"/>
              <a:ea typeface="Arial"/>
              <a:cs typeface="Arial"/>
              <a:sym typeface="Arial"/>
            </a:endParaRPr>
          </a:p>
        </p:txBody>
      </p:sp>
      <p:sp>
        <p:nvSpPr>
          <p:cNvPr id="159" name="Google Shape;159;g1f3174458ef_0_51"/>
          <p:cNvSpPr txBox="1"/>
          <p:nvPr/>
        </p:nvSpPr>
        <p:spPr>
          <a:xfrm>
            <a:off x="4188213" y="4464238"/>
            <a:ext cx="2723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Arial"/>
                <a:ea typeface="Arial"/>
                <a:cs typeface="Arial"/>
                <a:sym typeface="Arial"/>
              </a:rPr>
              <a:t>&amp;</a:t>
            </a:r>
            <a:r>
              <a:rPr b="0" i="0" lang="es-AR" sz="3000" u="none" cap="none" strike="noStrike">
                <a:solidFill>
                  <a:srgbClr val="FF0000"/>
                </a:solidFill>
                <a:latin typeface="Saira"/>
                <a:ea typeface="Saira"/>
                <a:cs typeface="Saira"/>
                <a:sym typeface="Saira"/>
              </a:rPr>
              <a:t>edad</a:t>
            </a:r>
            <a:endParaRPr b="0" i="0" sz="1400" u="none" cap="none" strike="noStrike">
              <a:solidFill>
                <a:schemeClr val="dk1"/>
              </a:solidFill>
              <a:latin typeface="Arial"/>
              <a:ea typeface="Arial"/>
              <a:cs typeface="Arial"/>
              <a:sym typeface="Arial"/>
            </a:endParaRPr>
          </a:p>
        </p:txBody>
      </p:sp>
      <p:sp>
        <p:nvSpPr>
          <p:cNvPr id="160" name="Google Shape;160;g1f3174458ef_0_51"/>
          <p:cNvSpPr/>
          <p:nvPr/>
        </p:nvSpPr>
        <p:spPr>
          <a:xfrm>
            <a:off x="5717363" y="4586800"/>
            <a:ext cx="877500" cy="4014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1" name="Google Shape;161;g1f3174458ef_0_51"/>
          <p:cNvSpPr txBox="1"/>
          <p:nvPr/>
        </p:nvSpPr>
        <p:spPr>
          <a:xfrm>
            <a:off x="6751463" y="4464250"/>
            <a:ext cx="1292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accent6"/>
                </a:solidFill>
                <a:latin typeface="Saira"/>
                <a:ea typeface="Saira"/>
                <a:cs typeface="Saira"/>
                <a:sym typeface="Saira"/>
              </a:rPr>
              <a:t>0x01</a:t>
            </a:r>
            <a:endParaRPr b="0" i="0" sz="1400" u="none" cap="none" strike="noStrike">
              <a:solidFill>
                <a:schemeClr val="accent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1f3174458ef_0_89"/>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167" name="Google Shape;167;g1f3174458ef_0_89"/>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168" name="Google Shape;168;g1f3174458ef_0_89"/>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200"/>
              <a:buFont typeface="Arial"/>
              <a:buNone/>
            </a:pPr>
            <a:r>
              <a:rPr lang="es-AR" sz="1200">
                <a:solidFill>
                  <a:srgbClr val="888888"/>
                </a:solidFill>
                <a:latin typeface="Saira"/>
                <a:ea typeface="Saira"/>
                <a:cs typeface="Saira"/>
                <a:sym typeface="Saira"/>
              </a:rPr>
              <a:t>Laboratorio de computación II  2024</a:t>
            </a:r>
            <a:endParaRPr sz="1200">
              <a:solidFill>
                <a:srgbClr val="888888"/>
              </a:solidFill>
              <a:latin typeface="Saira"/>
              <a:ea typeface="Saira"/>
              <a:cs typeface="Saira"/>
              <a:sym typeface="Saira"/>
            </a:endParaRPr>
          </a:p>
        </p:txBody>
      </p:sp>
      <p:pic>
        <p:nvPicPr>
          <p:cNvPr id="169" name="Google Shape;169;g1f3174458ef_0_89"/>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70" name="Google Shape;170;g1f3174458ef_0_89"/>
          <p:cNvSpPr txBox="1"/>
          <p:nvPr/>
        </p:nvSpPr>
        <p:spPr>
          <a:xfrm>
            <a:off x="490000" y="2411875"/>
            <a:ext cx="10242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Los punteros son variables que almacenan la </a:t>
            </a:r>
            <a:r>
              <a:rPr lang="es-AR" sz="1800">
                <a:solidFill>
                  <a:srgbClr val="0D0D0D"/>
                </a:solidFill>
                <a:highlight>
                  <a:srgbClr val="FFFFFF"/>
                </a:highlight>
                <a:latin typeface="Saira"/>
                <a:ea typeface="Saira"/>
                <a:cs typeface="Saira"/>
                <a:sym typeface="Saira"/>
              </a:rPr>
              <a:t>dirección</a:t>
            </a:r>
            <a:r>
              <a:rPr lang="es-AR" sz="1800">
                <a:solidFill>
                  <a:srgbClr val="0D0D0D"/>
                </a:solidFill>
                <a:highlight>
                  <a:srgbClr val="FFFFFF"/>
                </a:highlight>
                <a:latin typeface="Saira"/>
                <a:ea typeface="Saira"/>
                <a:cs typeface="Saira"/>
                <a:sym typeface="Saira"/>
              </a:rPr>
              <a:t> de otra variable.</a:t>
            </a:r>
            <a:endParaRPr b="0" i="0" sz="2000" u="none" cap="none" strike="noStrike">
              <a:solidFill>
                <a:srgbClr val="000000"/>
              </a:solidFill>
              <a:latin typeface="Saira"/>
              <a:ea typeface="Saira"/>
              <a:cs typeface="Saira"/>
              <a:sym typeface="Saira"/>
            </a:endParaRPr>
          </a:p>
        </p:txBody>
      </p:sp>
      <p:sp>
        <p:nvSpPr>
          <p:cNvPr id="171" name="Google Shape;171;g1f3174458ef_0_89"/>
          <p:cNvSpPr txBox="1"/>
          <p:nvPr/>
        </p:nvSpPr>
        <p:spPr>
          <a:xfrm>
            <a:off x="319450" y="1747250"/>
            <a:ext cx="300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Saira"/>
                <a:ea typeface="Saira"/>
                <a:cs typeface="Saira"/>
                <a:sym typeface="Saira"/>
              </a:rPr>
              <a:t>¿ Qué son ?</a:t>
            </a:r>
            <a:endParaRPr b="0" i="0" sz="3000" u="none" cap="none" strike="noStrike">
              <a:solidFill>
                <a:schemeClr val="dk1"/>
              </a:solidFill>
              <a:latin typeface="Saira"/>
              <a:ea typeface="Saira"/>
              <a:cs typeface="Saira"/>
              <a:sym typeface="Saira"/>
            </a:endParaRPr>
          </a:p>
        </p:txBody>
      </p:sp>
      <p:pic>
        <p:nvPicPr>
          <p:cNvPr id="172" name="Google Shape;172;g1f3174458ef_0_89"/>
          <p:cNvPicPr preferRelativeResize="0"/>
          <p:nvPr/>
        </p:nvPicPr>
        <p:blipFill>
          <a:blip r:embed="rId5">
            <a:alphaModFix/>
          </a:blip>
          <a:stretch>
            <a:fillRect/>
          </a:stretch>
        </p:blipFill>
        <p:spPr>
          <a:xfrm>
            <a:off x="2967027" y="3179000"/>
            <a:ext cx="6257925" cy="2438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f2ce82f4ef_0_22"/>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178" name="Google Shape;178;g1f2ce82f4ef_0_22"/>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179" name="Google Shape;179;g1f2ce82f4ef_0_22"/>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80" name="Google Shape;180;g1f2ce82f4ef_0_22"/>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181" name="Google Shape;181;g1f2ce82f4ef_0_22"/>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Saira"/>
                <a:ea typeface="Saira"/>
                <a:cs typeface="Saira"/>
                <a:sym typeface="Saira"/>
              </a:rPr>
              <a:t>Declaración de </a:t>
            </a:r>
            <a:r>
              <a:rPr lang="es-AR" sz="3000">
                <a:solidFill>
                  <a:schemeClr val="dk1"/>
                </a:solidFill>
                <a:latin typeface="Saira"/>
                <a:ea typeface="Saira"/>
                <a:cs typeface="Saira"/>
                <a:sym typeface="Saira"/>
              </a:rPr>
              <a:t>punteros</a:t>
            </a:r>
            <a:endParaRPr b="0" i="0" sz="3000" u="none" cap="none" strike="noStrike">
              <a:solidFill>
                <a:schemeClr val="dk1"/>
              </a:solidFill>
              <a:latin typeface="Saira"/>
              <a:ea typeface="Saira"/>
              <a:cs typeface="Saira"/>
              <a:sym typeface="Saira"/>
            </a:endParaRPr>
          </a:p>
        </p:txBody>
      </p:sp>
      <p:sp>
        <p:nvSpPr>
          <p:cNvPr id="182" name="Google Shape;182;g1f2ce82f4ef_0_22"/>
          <p:cNvSpPr txBox="1"/>
          <p:nvPr/>
        </p:nvSpPr>
        <p:spPr>
          <a:xfrm>
            <a:off x="3253675" y="2767800"/>
            <a:ext cx="227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800">
                <a:solidFill>
                  <a:srgbClr val="FF0000"/>
                </a:solidFill>
                <a:latin typeface="Saira"/>
                <a:ea typeface="Saira"/>
                <a:cs typeface="Saira"/>
                <a:sym typeface="Saira"/>
              </a:rPr>
              <a:t>Tipo de dato</a:t>
            </a:r>
            <a:endParaRPr sz="2800">
              <a:solidFill>
                <a:srgbClr val="FF0000"/>
              </a:solidFill>
              <a:latin typeface="Saira"/>
              <a:ea typeface="Saira"/>
              <a:cs typeface="Saira"/>
              <a:sym typeface="Saira"/>
            </a:endParaRPr>
          </a:p>
        </p:txBody>
      </p:sp>
      <p:sp>
        <p:nvSpPr>
          <p:cNvPr id="183" name="Google Shape;183;g1f2ce82f4ef_0_22"/>
          <p:cNvSpPr txBox="1"/>
          <p:nvPr/>
        </p:nvSpPr>
        <p:spPr>
          <a:xfrm>
            <a:off x="5421925" y="2767800"/>
            <a:ext cx="459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800">
                <a:solidFill>
                  <a:schemeClr val="dk1"/>
                </a:solidFill>
                <a:latin typeface="Saira"/>
                <a:ea typeface="Saira"/>
                <a:cs typeface="Saira"/>
                <a:sym typeface="Saira"/>
              </a:rPr>
              <a:t>*nombre de variable;</a:t>
            </a:r>
            <a:endParaRPr sz="2800">
              <a:solidFill>
                <a:schemeClr val="dk1"/>
              </a:solidFill>
              <a:latin typeface="Saira"/>
              <a:ea typeface="Saira"/>
              <a:cs typeface="Saira"/>
              <a:sym typeface="Saira"/>
            </a:endParaRPr>
          </a:p>
        </p:txBody>
      </p:sp>
      <p:pic>
        <p:nvPicPr>
          <p:cNvPr id="184" name="Google Shape;184;g1f2ce82f4ef_0_22"/>
          <p:cNvPicPr preferRelativeResize="0"/>
          <p:nvPr/>
        </p:nvPicPr>
        <p:blipFill>
          <a:blip r:embed="rId5">
            <a:alphaModFix/>
          </a:blip>
          <a:stretch>
            <a:fillRect/>
          </a:stretch>
        </p:blipFill>
        <p:spPr>
          <a:xfrm>
            <a:off x="4219138" y="3511450"/>
            <a:ext cx="3076975" cy="1303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1f2ce82f4ef_0_34"/>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190" name="Google Shape;190;g1f2ce82f4ef_0_34"/>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191" name="Google Shape;191;g1f2ce82f4ef_0_3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92" name="Google Shape;192;g1f2ce82f4ef_0_34"/>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193" name="Google Shape;193;g1f2ce82f4ef_0_34"/>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i="0" lang="es-AR" sz="3000" u="none" cap="none" strike="noStrike">
                <a:solidFill>
                  <a:schemeClr val="dk1"/>
                </a:solidFill>
                <a:latin typeface="Saira Medium"/>
                <a:ea typeface="Saira Medium"/>
                <a:cs typeface="Saira Medium"/>
                <a:sym typeface="Saira Medium"/>
              </a:rPr>
              <a:t>Tipos de </a:t>
            </a:r>
            <a:r>
              <a:rPr lang="es-AR" sz="3000">
                <a:solidFill>
                  <a:schemeClr val="dk1"/>
                </a:solidFill>
                <a:latin typeface="Saira Medium"/>
                <a:ea typeface="Saira Medium"/>
                <a:cs typeface="Saira Medium"/>
                <a:sym typeface="Saira Medium"/>
              </a:rPr>
              <a:t>punteros</a:t>
            </a:r>
            <a:endParaRPr i="0" sz="3000" u="none" cap="none" strike="noStrike">
              <a:solidFill>
                <a:schemeClr val="dk1"/>
              </a:solidFill>
              <a:latin typeface="Saira Medium"/>
              <a:ea typeface="Saira Medium"/>
              <a:cs typeface="Saira Medium"/>
              <a:sym typeface="Saira Medium"/>
            </a:endParaRPr>
          </a:p>
        </p:txBody>
      </p:sp>
      <p:sp>
        <p:nvSpPr>
          <p:cNvPr id="194" name="Google Shape;194;g1f2ce82f4ef_0_34"/>
          <p:cNvSpPr txBox="1"/>
          <p:nvPr/>
        </p:nvSpPr>
        <p:spPr>
          <a:xfrm>
            <a:off x="477800" y="2786000"/>
            <a:ext cx="8472000" cy="24951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rgbClr val="0D0D0D"/>
              </a:buClr>
              <a:buSzPts val="1900"/>
              <a:buFont typeface="Saira"/>
              <a:buChar char="●"/>
            </a:pPr>
            <a:r>
              <a:rPr b="0" i="0" lang="es-AR" sz="1900" u="none" cap="none" strike="noStrike">
                <a:solidFill>
                  <a:srgbClr val="FF0000"/>
                </a:solidFill>
                <a:highlight>
                  <a:srgbClr val="FFFFFF"/>
                </a:highlight>
                <a:latin typeface="Saira"/>
                <a:ea typeface="Saira"/>
                <a:cs typeface="Saira"/>
                <a:sym typeface="Saira"/>
              </a:rPr>
              <a:t>int</a:t>
            </a:r>
            <a:r>
              <a:rPr b="0" i="0" lang="es-AR" sz="1900" u="none" cap="none" strike="noStrike">
                <a:solidFill>
                  <a:srgbClr val="0D0D0D"/>
                </a:solidFill>
                <a:highlight>
                  <a:srgbClr val="FFFFFF"/>
                </a:highlight>
                <a:latin typeface="Saira"/>
                <a:ea typeface="Saira"/>
                <a:cs typeface="Saira"/>
                <a:sym typeface="Saira"/>
              </a:rPr>
              <a:t>: </a:t>
            </a:r>
            <a:r>
              <a:rPr lang="es-AR" sz="1900">
                <a:solidFill>
                  <a:srgbClr val="0D0D0D"/>
                </a:solidFill>
                <a:highlight>
                  <a:srgbClr val="FFFFFF"/>
                </a:highlight>
                <a:latin typeface="Saira"/>
                <a:ea typeface="Saira"/>
                <a:cs typeface="Saira"/>
                <a:sym typeface="Saira"/>
              </a:rPr>
              <a:t>A</a:t>
            </a:r>
            <a:r>
              <a:rPr lang="es-AR" sz="1900">
                <a:solidFill>
                  <a:srgbClr val="0D0D0D"/>
                </a:solidFill>
                <a:highlight>
                  <a:srgbClr val="FFFFFF"/>
                </a:highlight>
                <a:latin typeface="Saira"/>
                <a:ea typeface="Saira"/>
                <a:cs typeface="Saira"/>
                <a:sym typeface="Saira"/>
              </a:rPr>
              <a:t>puntar a datos e</a:t>
            </a:r>
            <a:r>
              <a:rPr b="0" i="0" lang="es-AR" sz="1900" u="none" cap="none" strike="noStrike">
                <a:solidFill>
                  <a:srgbClr val="0D0D0D"/>
                </a:solidFill>
                <a:highlight>
                  <a:srgbClr val="FFFFFF"/>
                </a:highlight>
                <a:latin typeface="Saira"/>
                <a:ea typeface="Saira"/>
                <a:cs typeface="Saira"/>
                <a:sym typeface="Saira"/>
              </a:rPr>
              <a:t>nteros.</a:t>
            </a:r>
            <a:endParaRPr b="0" i="0" sz="1900" u="none" cap="none" strike="noStrike">
              <a:solidFill>
                <a:srgbClr val="0D0D0D"/>
              </a:solidFill>
              <a:highlight>
                <a:srgbClr val="FFFFFF"/>
              </a:highlight>
              <a:latin typeface="Saira"/>
              <a:ea typeface="Saira"/>
              <a:cs typeface="Saira"/>
              <a:sym typeface="Saira"/>
            </a:endParaRPr>
          </a:p>
          <a:p>
            <a:pPr indent="-349250" lvl="0" marL="457200" marR="0" rtl="0" algn="l">
              <a:lnSpc>
                <a:spcPct val="115000"/>
              </a:lnSpc>
              <a:spcBef>
                <a:spcPts val="0"/>
              </a:spcBef>
              <a:spcAft>
                <a:spcPts val="0"/>
              </a:spcAft>
              <a:buClr>
                <a:srgbClr val="0D0D0D"/>
              </a:buClr>
              <a:buSzPts val="1900"/>
              <a:buFont typeface="Saira"/>
              <a:buChar char="●"/>
            </a:pPr>
            <a:r>
              <a:rPr b="0" i="0" lang="es-AR" sz="1900" u="none" cap="none" strike="noStrike">
                <a:solidFill>
                  <a:srgbClr val="FF0000"/>
                </a:solidFill>
                <a:highlight>
                  <a:srgbClr val="FFFFFF"/>
                </a:highlight>
                <a:latin typeface="Saira"/>
                <a:ea typeface="Saira"/>
                <a:cs typeface="Saira"/>
                <a:sym typeface="Saira"/>
              </a:rPr>
              <a:t>char</a:t>
            </a:r>
            <a:r>
              <a:rPr b="0" i="0" lang="es-AR" sz="1900" u="none" cap="none" strike="noStrike">
                <a:solidFill>
                  <a:srgbClr val="0D0D0D"/>
                </a:solidFill>
                <a:highlight>
                  <a:srgbClr val="FFFFFF"/>
                </a:highlight>
                <a:latin typeface="Saira"/>
                <a:ea typeface="Saira"/>
                <a:cs typeface="Saira"/>
                <a:sym typeface="Saira"/>
              </a:rPr>
              <a:t>: </a:t>
            </a:r>
            <a:r>
              <a:rPr lang="es-AR" sz="1900">
                <a:solidFill>
                  <a:srgbClr val="0D0D0D"/>
                </a:solidFill>
                <a:highlight>
                  <a:srgbClr val="FFFFFF"/>
                </a:highlight>
                <a:latin typeface="Saira"/>
                <a:ea typeface="Saira"/>
                <a:cs typeface="Saira"/>
                <a:sym typeface="Saira"/>
              </a:rPr>
              <a:t>A</a:t>
            </a:r>
            <a:r>
              <a:rPr b="0" i="0" lang="es-AR" sz="1900" u="none" cap="none" strike="noStrike">
                <a:solidFill>
                  <a:srgbClr val="0D0D0D"/>
                </a:solidFill>
                <a:highlight>
                  <a:srgbClr val="FFFFFF"/>
                </a:highlight>
                <a:latin typeface="Saira"/>
                <a:ea typeface="Saira"/>
                <a:cs typeface="Saira"/>
                <a:sym typeface="Saira"/>
              </a:rPr>
              <a:t>puntar a </a:t>
            </a:r>
            <a:r>
              <a:rPr lang="es-AR" sz="1900">
                <a:solidFill>
                  <a:srgbClr val="0D0D0D"/>
                </a:solidFill>
                <a:highlight>
                  <a:srgbClr val="FFFFFF"/>
                </a:highlight>
                <a:latin typeface="Saira"/>
                <a:ea typeface="Saira"/>
                <a:cs typeface="Saira"/>
                <a:sym typeface="Saira"/>
              </a:rPr>
              <a:t>c</a:t>
            </a:r>
            <a:r>
              <a:rPr b="0" i="0" lang="es-AR" sz="1900" u="none" cap="none" strike="noStrike">
                <a:solidFill>
                  <a:srgbClr val="0D0D0D"/>
                </a:solidFill>
                <a:highlight>
                  <a:srgbClr val="FFFFFF"/>
                </a:highlight>
                <a:latin typeface="Saira"/>
                <a:ea typeface="Saira"/>
                <a:cs typeface="Saira"/>
                <a:sym typeface="Saira"/>
              </a:rPr>
              <a:t>aracteres.</a:t>
            </a:r>
            <a:endParaRPr b="0" i="0" sz="1900" u="none" cap="none" strike="noStrike">
              <a:solidFill>
                <a:srgbClr val="0D0D0D"/>
              </a:solidFill>
              <a:highlight>
                <a:srgbClr val="FFFFFF"/>
              </a:highlight>
              <a:latin typeface="Saira"/>
              <a:ea typeface="Saira"/>
              <a:cs typeface="Saira"/>
              <a:sym typeface="Saira"/>
            </a:endParaRPr>
          </a:p>
          <a:p>
            <a:pPr indent="-349250" lvl="0" marL="457200" marR="0" rtl="0" algn="l">
              <a:lnSpc>
                <a:spcPct val="115000"/>
              </a:lnSpc>
              <a:spcBef>
                <a:spcPts val="0"/>
              </a:spcBef>
              <a:spcAft>
                <a:spcPts val="0"/>
              </a:spcAft>
              <a:buClr>
                <a:srgbClr val="0D0D0D"/>
              </a:buClr>
              <a:buSzPts val="1900"/>
              <a:buFont typeface="Saira"/>
              <a:buChar char="●"/>
            </a:pPr>
            <a:r>
              <a:rPr b="0" i="0" lang="es-AR" sz="1900" u="none" cap="none" strike="noStrike">
                <a:solidFill>
                  <a:srgbClr val="FF0000"/>
                </a:solidFill>
                <a:highlight>
                  <a:srgbClr val="FFFFFF"/>
                </a:highlight>
                <a:latin typeface="Saira"/>
                <a:ea typeface="Saira"/>
                <a:cs typeface="Saira"/>
                <a:sym typeface="Saira"/>
              </a:rPr>
              <a:t>float</a:t>
            </a:r>
            <a:r>
              <a:rPr b="0" i="0" lang="es-AR" sz="1900" u="none" cap="none" strike="noStrike">
                <a:solidFill>
                  <a:srgbClr val="0D0D0D"/>
                </a:solidFill>
                <a:highlight>
                  <a:srgbClr val="FFFFFF"/>
                </a:highlight>
                <a:latin typeface="Saira"/>
                <a:ea typeface="Saira"/>
                <a:cs typeface="Saira"/>
                <a:sym typeface="Saira"/>
              </a:rPr>
              <a:t>: </a:t>
            </a:r>
            <a:r>
              <a:rPr lang="es-AR" sz="1900">
                <a:solidFill>
                  <a:srgbClr val="0D0D0D"/>
                </a:solidFill>
                <a:highlight>
                  <a:srgbClr val="FFFFFF"/>
                </a:highlight>
                <a:latin typeface="Saira"/>
                <a:ea typeface="Saira"/>
                <a:cs typeface="Saira"/>
                <a:sym typeface="Saira"/>
              </a:rPr>
              <a:t>Apuntar a </a:t>
            </a:r>
            <a:r>
              <a:rPr lang="es-AR" sz="1900">
                <a:solidFill>
                  <a:srgbClr val="0D0D0D"/>
                </a:solidFill>
                <a:highlight>
                  <a:srgbClr val="FFFFFF"/>
                </a:highlight>
                <a:latin typeface="Saira"/>
                <a:ea typeface="Saira"/>
                <a:cs typeface="Saira"/>
                <a:sym typeface="Saira"/>
              </a:rPr>
              <a:t>números</a:t>
            </a:r>
            <a:r>
              <a:rPr b="0" i="0" lang="es-AR" sz="1900" u="none" cap="none" strike="noStrike">
                <a:solidFill>
                  <a:srgbClr val="0D0D0D"/>
                </a:solidFill>
                <a:highlight>
                  <a:srgbClr val="FFFFFF"/>
                </a:highlight>
                <a:latin typeface="Saira"/>
                <a:ea typeface="Saira"/>
                <a:cs typeface="Saira"/>
                <a:sym typeface="Saira"/>
              </a:rPr>
              <a:t> de punto flotante.</a:t>
            </a:r>
            <a:endParaRPr b="0" i="0" sz="1900" u="none" cap="none" strike="noStrike">
              <a:solidFill>
                <a:srgbClr val="0D0D0D"/>
              </a:solidFill>
              <a:highlight>
                <a:srgbClr val="FFFFFF"/>
              </a:highlight>
              <a:latin typeface="Saira"/>
              <a:ea typeface="Saira"/>
              <a:cs typeface="Saira"/>
              <a:sym typeface="Saira"/>
            </a:endParaRPr>
          </a:p>
          <a:p>
            <a:pPr indent="-349250" lvl="0" marL="457200" marR="0" rtl="0" algn="l">
              <a:lnSpc>
                <a:spcPct val="115000"/>
              </a:lnSpc>
              <a:spcBef>
                <a:spcPts val="0"/>
              </a:spcBef>
              <a:spcAft>
                <a:spcPts val="0"/>
              </a:spcAft>
              <a:buClr>
                <a:srgbClr val="0D0D0D"/>
              </a:buClr>
              <a:buSzPts val="1900"/>
              <a:buFont typeface="Saira"/>
              <a:buChar char="●"/>
            </a:pPr>
            <a:r>
              <a:rPr b="0" i="0" lang="es-AR" sz="1900" u="none" cap="none" strike="noStrike">
                <a:solidFill>
                  <a:srgbClr val="FF0000"/>
                </a:solidFill>
                <a:highlight>
                  <a:srgbClr val="FFFFFF"/>
                </a:highlight>
                <a:latin typeface="Saira"/>
                <a:ea typeface="Saira"/>
                <a:cs typeface="Saira"/>
                <a:sym typeface="Saira"/>
              </a:rPr>
              <a:t>double</a:t>
            </a:r>
            <a:r>
              <a:rPr b="0" i="0" lang="es-AR" sz="1900" u="none" cap="none" strike="noStrike">
                <a:solidFill>
                  <a:srgbClr val="0D0D0D"/>
                </a:solidFill>
                <a:highlight>
                  <a:srgbClr val="FFFFFF"/>
                </a:highlight>
                <a:latin typeface="Saira"/>
                <a:ea typeface="Saira"/>
                <a:cs typeface="Saira"/>
                <a:sym typeface="Saira"/>
              </a:rPr>
              <a:t>: </a:t>
            </a:r>
            <a:r>
              <a:rPr lang="es-AR" sz="1900">
                <a:solidFill>
                  <a:srgbClr val="0D0D0D"/>
                </a:solidFill>
                <a:highlight>
                  <a:srgbClr val="FFFFFF"/>
                </a:highlight>
                <a:latin typeface="Saira"/>
                <a:ea typeface="Saira"/>
                <a:cs typeface="Saira"/>
                <a:sym typeface="Saira"/>
              </a:rPr>
              <a:t>Apuntar a </a:t>
            </a:r>
            <a:r>
              <a:rPr lang="es-AR" sz="1900">
                <a:solidFill>
                  <a:srgbClr val="0D0D0D"/>
                </a:solidFill>
                <a:highlight>
                  <a:srgbClr val="FFFFFF"/>
                </a:highlight>
                <a:latin typeface="Saira"/>
                <a:ea typeface="Saira"/>
                <a:cs typeface="Saira"/>
                <a:sym typeface="Saira"/>
              </a:rPr>
              <a:t>números</a:t>
            </a:r>
            <a:r>
              <a:rPr b="0" i="0" lang="es-AR" sz="1900" u="none" cap="none" strike="noStrike">
                <a:solidFill>
                  <a:srgbClr val="0D0D0D"/>
                </a:solidFill>
                <a:highlight>
                  <a:srgbClr val="FFFFFF"/>
                </a:highlight>
                <a:latin typeface="Saira"/>
                <a:ea typeface="Saira"/>
                <a:cs typeface="Saira"/>
                <a:sym typeface="Saira"/>
              </a:rPr>
              <a:t> de punto flotante de doble precisión.</a:t>
            </a:r>
            <a:endParaRPr b="0" i="0" sz="1900" u="none" cap="none" strike="noStrike">
              <a:solidFill>
                <a:srgbClr val="0D0D0D"/>
              </a:solidFill>
              <a:highlight>
                <a:srgbClr val="FFFFFF"/>
              </a:highlight>
              <a:latin typeface="Saira"/>
              <a:ea typeface="Saira"/>
              <a:cs typeface="Saira"/>
              <a:sym typeface="Saira"/>
            </a:endParaRPr>
          </a:p>
          <a:p>
            <a:pPr indent="-349250" lvl="0" marL="457200" marR="0" rtl="0" algn="l">
              <a:lnSpc>
                <a:spcPct val="115000"/>
              </a:lnSpc>
              <a:spcBef>
                <a:spcPts val="0"/>
              </a:spcBef>
              <a:spcAft>
                <a:spcPts val="0"/>
              </a:spcAft>
              <a:buClr>
                <a:srgbClr val="0D0D0D"/>
              </a:buClr>
              <a:buSzPts val="1900"/>
              <a:buFont typeface="Saira"/>
              <a:buChar char="●"/>
            </a:pPr>
            <a:r>
              <a:rPr b="0" i="0" lang="es-AR" sz="1900" u="none" cap="none" strike="noStrike">
                <a:solidFill>
                  <a:srgbClr val="FF0000"/>
                </a:solidFill>
                <a:highlight>
                  <a:srgbClr val="FFFFFF"/>
                </a:highlight>
                <a:latin typeface="Saira"/>
                <a:ea typeface="Saira"/>
                <a:cs typeface="Saira"/>
                <a:sym typeface="Saira"/>
              </a:rPr>
              <a:t>bool</a:t>
            </a:r>
            <a:r>
              <a:rPr b="0" i="0" lang="es-AR" sz="1900" u="none" cap="none" strike="noStrike">
                <a:solidFill>
                  <a:srgbClr val="0D0D0D"/>
                </a:solidFill>
                <a:highlight>
                  <a:srgbClr val="FFFFFF"/>
                </a:highlight>
                <a:latin typeface="Saira"/>
                <a:ea typeface="Saira"/>
                <a:cs typeface="Saira"/>
                <a:sym typeface="Saira"/>
              </a:rPr>
              <a:t>: </a:t>
            </a:r>
            <a:r>
              <a:rPr lang="es-AR" sz="1900">
                <a:solidFill>
                  <a:srgbClr val="0D0D0D"/>
                </a:solidFill>
                <a:highlight>
                  <a:srgbClr val="FFFFFF"/>
                </a:highlight>
                <a:latin typeface="Saira"/>
                <a:ea typeface="Saira"/>
                <a:cs typeface="Saira"/>
                <a:sym typeface="Saira"/>
              </a:rPr>
              <a:t>Apuntar a </a:t>
            </a:r>
            <a:r>
              <a:rPr b="0" i="0" lang="es-AR" sz="1900" u="none" cap="none" strike="noStrike">
                <a:solidFill>
                  <a:srgbClr val="0D0D0D"/>
                </a:solidFill>
                <a:highlight>
                  <a:srgbClr val="FFFFFF"/>
                </a:highlight>
                <a:latin typeface="Saira"/>
                <a:ea typeface="Saira"/>
                <a:cs typeface="Saira"/>
                <a:sym typeface="Saira"/>
              </a:rPr>
              <a:t>true o false.</a:t>
            </a:r>
            <a:endParaRPr b="0" i="0" sz="1900" u="none" cap="none" strike="noStrike">
              <a:solidFill>
                <a:srgbClr val="0D0D0D"/>
              </a:solidFill>
              <a:highlight>
                <a:srgbClr val="FFFFFF"/>
              </a:highlight>
              <a:latin typeface="Saira"/>
              <a:ea typeface="Saira"/>
              <a:cs typeface="Saira"/>
              <a:sym typeface="Saira"/>
            </a:endParaRPr>
          </a:p>
          <a:p>
            <a:pPr indent="-349250" lvl="0" marL="457200" marR="0" rtl="0" algn="l">
              <a:lnSpc>
                <a:spcPct val="115000"/>
              </a:lnSpc>
              <a:spcBef>
                <a:spcPts val="0"/>
              </a:spcBef>
              <a:spcAft>
                <a:spcPts val="0"/>
              </a:spcAft>
              <a:buClr>
                <a:schemeClr val="dk1"/>
              </a:buClr>
              <a:buSzPts val="1900"/>
              <a:buFont typeface="Saira"/>
              <a:buChar char="●"/>
            </a:pPr>
            <a:r>
              <a:rPr lang="es-AR" sz="1900">
                <a:solidFill>
                  <a:srgbClr val="FF0000"/>
                </a:solidFill>
                <a:highlight>
                  <a:srgbClr val="FFFFFF"/>
                </a:highlight>
                <a:latin typeface="Saira"/>
                <a:ea typeface="Saira"/>
                <a:cs typeface="Saira"/>
                <a:sym typeface="Saira"/>
              </a:rPr>
              <a:t>void: </a:t>
            </a:r>
            <a:r>
              <a:rPr lang="es-AR" sz="1900">
                <a:solidFill>
                  <a:srgbClr val="0D0D0D"/>
                </a:solidFill>
                <a:highlight>
                  <a:srgbClr val="FFFFFF"/>
                </a:highlight>
                <a:latin typeface="Saira"/>
                <a:ea typeface="Saira"/>
                <a:cs typeface="Saira"/>
                <a:sym typeface="Saira"/>
              </a:rPr>
              <a:t>Apuntar a cualquier tipo de dato.</a:t>
            </a:r>
            <a:endParaRPr sz="2600">
              <a:solidFill>
                <a:srgbClr val="FF0000"/>
              </a:solidFill>
              <a:highlight>
                <a:srgbClr val="FFFFFF"/>
              </a:highlight>
              <a:latin typeface="Saira"/>
              <a:ea typeface="Saira"/>
              <a:cs typeface="Saira"/>
              <a:sym typeface="Saira"/>
            </a:endParaRPr>
          </a:p>
          <a:p>
            <a:pPr indent="0" lvl="0" marL="457200" marR="0" rtl="0" algn="l">
              <a:lnSpc>
                <a:spcPct val="115000"/>
              </a:lnSpc>
              <a:spcBef>
                <a:spcPts val="0"/>
              </a:spcBef>
              <a:spcAft>
                <a:spcPts val="0"/>
              </a:spcAft>
              <a:buClr>
                <a:srgbClr val="000000"/>
              </a:buClr>
              <a:buSzPts val="1900"/>
              <a:buFont typeface="Arial"/>
              <a:buNone/>
            </a:pPr>
            <a:r>
              <a:t/>
            </a:r>
            <a:endParaRPr b="0" i="0" sz="1900" u="none" cap="none" strike="noStrike">
              <a:solidFill>
                <a:srgbClr val="0D0D0D"/>
              </a:solidFill>
              <a:highlight>
                <a:srgbClr val="FFFFFF"/>
              </a:highlight>
              <a:latin typeface="Saira"/>
              <a:ea typeface="Saira"/>
              <a:cs typeface="Saira"/>
              <a:sym typeface="Sai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1f2ce82f4ef_0_49"/>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00" name="Google Shape;200;g1f2ce82f4ef_0_49"/>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201" name="Google Shape;201;g1f2ce82f4ef_0_49"/>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02" name="Google Shape;202;g1f2ce82f4ef_0_49"/>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203" name="Google Shape;203;g1f2ce82f4ef_0_49"/>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2"/>
                </a:solidFill>
                <a:latin typeface="Saira Medium"/>
                <a:ea typeface="Saira Medium"/>
                <a:cs typeface="Saira Medium"/>
                <a:sym typeface="Saira Medium"/>
              </a:rPr>
              <a:t>Tamaño</a:t>
            </a:r>
            <a:endParaRPr i="0" sz="3000" u="none" cap="none" strike="noStrike">
              <a:solidFill>
                <a:schemeClr val="dk2"/>
              </a:solidFill>
              <a:latin typeface="Saira Medium"/>
              <a:ea typeface="Saira Medium"/>
              <a:cs typeface="Saira Medium"/>
              <a:sym typeface="Saira Medium"/>
            </a:endParaRPr>
          </a:p>
        </p:txBody>
      </p:sp>
      <p:sp>
        <p:nvSpPr>
          <p:cNvPr id="204" name="Google Shape;204;g1f2ce82f4ef_0_49"/>
          <p:cNvSpPr txBox="1"/>
          <p:nvPr/>
        </p:nvSpPr>
        <p:spPr>
          <a:xfrm>
            <a:off x="416350" y="2411875"/>
            <a:ext cx="96588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lang="es-AR" sz="1900">
                <a:solidFill>
                  <a:srgbClr val="0D0D0D"/>
                </a:solidFill>
                <a:highlight>
                  <a:srgbClr val="FFFFFF"/>
                </a:highlight>
                <a:latin typeface="Saira"/>
                <a:ea typeface="Saira"/>
                <a:cs typeface="Saira"/>
                <a:sym typeface="Saira"/>
              </a:rPr>
              <a:t>Teniendo en cuenta que los punteros guardan en su “valor” </a:t>
            </a:r>
            <a:r>
              <a:rPr lang="es-AR" sz="1900">
                <a:solidFill>
                  <a:srgbClr val="0D0D0D"/>
                </a:solidFill>
                <a:highlight>
                  <a:srgbClr val="FFFFFF"/>
                </a:highlight>
                <a:latin typeface="Saira"/>
                <a:ea typeface="Saira"/>
                <a:cs typeface="Saira"/>
                <a:sym typeface="Saira"/>
              </a:rPr>
              <a:t>direcciones</a:t>
            </a:r>
            <a:r>
              <a:rPr lang="es-AR" sz="1900">
                <a:solidFill>
                  <a:srgbClr val="0D0D0D"/>
                </a:solidFill>
                <a:highlight>
                  <a:srgbClr val="FFFFFF"/>
                </a:highlight>
                <a:latin typeface="Saira"/>
                <a:ea typeface="Saira"/>
                <a:cs typeface="Saira"/>
                <a:sym typeface="Saira"/>
              </a:rPr>
              <a:t> de memoria.</a:t>
            </a:r>
            <a:endParaRPr sz="19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Clr>
                <a:srgbClr val="000000"/>
              </a:buClr>
              <a:buSzPts val="1900"/>
              <a:buFont typeface="Arial"/>
              <a:buNone/>
            </a:pPr>
            <a:r>
              <a:rPr lang="es-AR" sz="1900">
                <a:solidFill>
                  <a:srgbClr val="0D0D0D"/>
                </a:solidFill>
                <a:highlight>
                  <a:srgbClr val="FFFFFF"/>
                </a:highlight>
                <a:latin typeface="Saira"/>
                <a:ea typeface="Saira"/>
                <a:cs typeface="Saira"/>
                <a:sym typeface="Saira"/>
              </a:rPr>
              <a:t>Cual es el tamaño ?</a:t>
            </a:r>
            <a:endParaRPr sz="1900">
              <a:solidFill>
                <a:srgbClr val="0D0D0D"/>
              </a:solidFill>
              <a:highlight>
                <a:srgbClr val="FFFFFF"/>
              </a:highlight>
              <a:latin typeface="Saira"/>
              <a:ea typeface="Saira"/>
              <a:cs typeface="Saira"/>
              <a:sym typeface="Saira"/>
            </a:endParaRPr>
          </a:p>
        </p:txBody>
      </p:sp>
      <p:sp>
        <p:nvSpPr>
          <p:cNvPr id="205" name="Google Shape;205;g1f2ce82f4ef_0_49"/>
          <p:cNvSpPr txBox="1"/>
          <p:nvPr/>
        </p:nvSpPr>
        <p:spPr>
          <a:xfrm>
            <a:off x="416350" y="3113400"/>
            <a:ext cx="1815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AR" sz="2900" u="none" cap="none" strike="noStrike">
                <a:solidFill>
                  <a:srgbClr val="4A86E8"/>
                </a:solidFill>
                <a:highlight>
                  <a:srgbClr val="FFFFFF"/>
                </a:highlight>
                <a:latin typeface="Saira"/>
                <a:ea typeface="Saira"/>
                <a:cs typeface="Saira"/>
                <a:sym typeface="Saira"/>
              </a:rPr>
              <a:t>Ejercicio</a:t>
            </a:r>
            <a:endParaRPr b="1" i="0" sz="2900" u="none" cap="none" strike="noStrike">
              <a:solidFill>
                <a:srgbClr val="4A86E8"/>
              </a:solidFill>
              <a:latin typeface="Saira"/>
              <a:ea typeface="Saira"/>
              <a:cs typeface="Saira"/>
              <a:sym typeface="Saira"/>
            </a:endParaRPr>
          </a:p>
        </p:txBody>
      </p:sp>
      <p:sp>
        <p:nvSpPr>
          <p:cNvPr id="206" name="Google Shape;206;g1f2ce82f4ef_0_49"/>
          <p:cNvSpPr txBox="1"/>
          <p:nvPr/>
        </p:nvSpPr>
        <p:spPr>
          <a:xfrm>
            <a:off x="471275" y="3611850"/>
            <a:ext cx="9658800" cy="106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lang="es-AR" sz="1900">
                <a:solidFill>
                  <a:srgbClr val="0D0D0D"/>
                </a:solidFill>
                <a:highlight>
                  <a:srgbClr val="FFFFFF"/>
                </a:highlight>
                <a:latin typeface="Saira"/>
                <a:ea typeface="Saira"/>
                <a:cs typeface="Saira"/>
                <a:sym typeface="Saira"/>
              </a:rPr>
              <a:t>Teniendo en cuenta que los punteros guardan en su “valor” direcciones de memoria.</a:t>
            </a:r>
            <a:endParaRPr sz="1900">
              <a:solidFill>
                <a:srgbClr val="0D0D0D"/>
              </a:solidFill>
              <a:highlight>
                <a:srgbClr val="FFFFFF"/>
              </a:highlight>
              <a:latin typeface="Saira"/>
              <a:ea typeface="Saira"/>
              <a:cs typeface="Saira"/>
              <a:sym typeface="Saira"/>
            </a:endParaRPr>
          </a:p>
          <a:p>
            <a:pPr indent="0" lvl="0" marL="0" marR="0" rtl="0" algn="l">
              <a:lnSpc>
                <a:spcPct val="100000"/>
              </a:lnSpc>
              <a:spcBef>
                <a:spcPts val="0"/>
              </a:spcBef>
              <a:spcAft>
                <a:spcPts val="0"/>
              </a:spcAft>
              <a:buClr>
                <a:srgbClr val="000000"/>
              </a:buClr>
              <a:buSzPts val="1900"/>
              <a:buFont typeface="Arial"/>
              <a:buNone/>
            </a:pPr>
            <a:r>
              <a:rPr lang="es-AR" sz="1900">
                <a:solidFill>
                  <a:srgbClr val="0D0D0D"/>
                </a:solidFill>
                <a:highlight>
                  <a:srgbClr val="FFFFFF"/>
                </a:highlight>
                <a:latin typeface="Saira"/>
                <a:ea typeface="Saira"/>
                <a:cs typeface="Saira"/>
                <a:sym typeface="Saira"/>
              </a:rPr>
              <a:t>Cual es el tamaño de estas ? pruebe el siguiente </a:t>
            </a:r>
            <a:r>
              <a:rPr lang="es-AR" sz="1900">
                <a:solidFill>
                  <a:srgbClr val="0D0D0D"/>
                </a:solidFill>
                <a:highlight>
                  <a:srgbClr val="FFFFFF"/>
                </a:highlight>
                <a:latin typeface="Saira"/>
                <a:ea typeface="Saira"/>
                <a:cs typeface="Saira"/>
                <a:sym typeface="Saira"/>
              </a:rPr>
              <a:t>código</a:t>
            </a:r>
            <a:r>
              <a:rPr lang="es-AR" sz="1900">
                <a:solidFill>
                  <a:srgbClr val="0D0D0D"/>
                </a:solidFill>
                <a:highlight>
                  <a:srgbClr val="FFFFFF"/>
                </a:highlight>
                <a:latin typeface="Saira"/>
                <a:ea typeface="Saira"/>
                <a:cs typeface="Saira"/>
                <a:sym typeface="Saira"/>
              </a:rPr>
              <a:t> con distintos tipos de </a:t>
            </a:r>
            <a:r>
              <a:rPr lang="es-AR" sz="1900">
                <a:solidFill>
                  <a:srgbClr val="0D0D0D"/>
                </a:solidFill>
                <a:highlight>
                  <a:srgbClr val="FFFFFF"/>
                </a:highlight>
                <a:latin typeface="Saira"/>
                <a:ea typeface="Saira"/>
                <a:cs typeface="Saira"/>
                <a:sym typeface="Saira"/>
              </a:rPr>
              <a:t>punteros</a:t>
            </a:r>
            <a:r>
              <a:rPr lang="es-AR" sz="1900">
                <a:solidFill>
                  <a:srgbClr val="0D0D0D"/>
                </a:solidFill>
                <a:highlight>
                  <a:srgbClr val="FFFFFF"/>
                </a:highlight>
                <a:latin typeface="Saira"/>
                <a:ea typeface="Saira"/>
                <a:cs typeface="Saira"/>
                <a:sym typeface="Saira"/>
              </a:rPr>
              <a:t>.</a:t>
            </a:r>
            <a:endParaRPr sz="1900">
              <a:solidFill>
                <a:srgbClr val="0D0D0D"/>
              </a:solidFill>
              <a:highlight>
                <a:srgbClr val="FFFFFF"/>
              </a:highlight>
              <a:latin typeface="Saira"/>
              <a:ea typeface="Saira"/>
              <a:cs typeface="Saira"/>
              <a:sym typeface="Saira"/>
            </a:endParaRPr>
          </a:p>
        </p:txBody>
      </p:sp>
      <p:sp>
        <p:nvSpPr>
          <p:cNvPr id="207" name="Google Shape;207;g1f2ce82f4ef_0_49"/>
          <p:cNvSpPr txBox="1"/>
          <p:nvPr/>
        </p:nvSpPr>
        <p:spPr>
          <a:xfrm>
            <a:off x="3975750" y="4591425"/>
            <a:ext cx="4240500" cy="160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300">
                <a:latin typeface="Saira"/>
                <a:ea typeface="Saira"/>
                <a:cs typeface="Saira"/>
                <a:sym typeface="Saira"/>
              </a:rPr>
              <a:t>int *ptr;</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int aux;</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aux=sizeof(ptr);</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printf("tam: %d bytes \n",aux);</a:t>
            </a:r>
            <a:endParaRPr sz="2300">
              <a:latin typeface="Saira"/>
              <a:ea typeface="Saira"/>
              <a:cs typeface="Saira"/>
              <a:sym typeface="Sai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1f3006538ad_0_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13" name="Google Shape;213;g1f3006538ad_0_5"/>
          <p:cNvPicPr preferRelativeResize="0"/>
          <p:nvPr/>
        </p:nvPicPr>
        <p:blipFill rotWithShape="1">
          <a:blip r:embed="rId3">
            <a:alphaModFix/>
          </a:blip>
          <a:srcRect b="30673" l="23551" r="22739" t="29909"/>
          <a:stretch/>
        </p:blipFill>
        <p:spPr>
          <a:xfrm>
            <a:off x="8791460" y="390327"/>
            <a:ext cx="2959467" cy="1085934"/>
          </a:xfrm>
          <a:prstGeom prst="rect">
            <a:avLst/>
          </a:prstGeom>
          <a:noFill/>
          <a:ln>
            <a:noFill/>
          </a:ln>
        </p:spPr>
      </p:pic>
      <p:sp>
        <p:nvSpPr>
          <p:cNvPr id="214" name="Google Shape;214;g1f3006538ad_0_5"/>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15" name="Google Shape;215;g1f3006538ad_0_5"/>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16" name="Google Shape;216;g1f3006538ad_0_5"/>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sp>
        <p:nvSpPr>
          <p:cNvPr id="217" name="Google Shape;217;g1f3006538ad_0_5"/>
          <p:cNvSpPr txBox="1"/>
          <p:nvPr/>
        </p:nvSpPr>
        <p:spPr>
          <a:xfrm>
            <a:off x="404700" y="2308500"/>
            <a:ext cx="110835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1800">
                <a:solidFill>
                  <a:schemeClr val="dk1"/>
                </a:solidFill>
                <a:latin typeface="Saira"/>
                <a:ea typeface="Saira"/>
                <a:cs typeface="Saira"/>
                <a:sym typeface="Saira"/>
              </a:rPr>
              <a:t>Desreferenciar una variable puntero es obtener el dato almacenado en la </a:t>
            </a:r>
            <a:r>
              <a:rPr lang="es-AR" sz="1800">
                <a:solidFill>
                  <a:schemeClr val="dk1"/>
                </a:solidFill>
                <a:latin typeface="Saira"/>
                <a:ea typeface="Saira"/>
                <a:cs typeface="Saira"/>
                <a:sym typeface="Saira"/>
              </a:rPr>
              <a:t>dirección</a:t>
            </a:r>
            <a:r>
              <a:rPr lang="es-AR" sz="1800">
                <a:solidFill>
                  <a:schemeClr val="dk1"/>
                </a:solidFill>
                <a:latin typeface="Saira"/>
                <a:ea typeface="Saira"/>
                <a:cs typeface="Saira"/>
                <a:sym typeface="Saira"/>
              </a:rPr>
              <a:t> contenida en </a:t>
            </a:r>
            <a:endParaRPr sz="18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rPr lang="es-AR" sz="1800">
                <a:solidFill>
                  <a:schemeClr val="dk1"/>
                </a:solidFill>
                <a:latin typeface="Saira"/>
                <a:ea typeface="Saira"/>
                <a:cs typeface="Saira"/>
                <a:sym typeface="Saira"/>
              </a:rPr>
              <a:t>el puntero.</a:t>
            </a:r>
            <a:endParaRPr sz="18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t/>
            </a:r>
            <a:endParaRPr sz="1800">
              <a:solidFill>
                <a:schemeClr val="dk1"/>
              </a:solidFill>
              <a:latin typeface="Saira"/>
              <a:ea typeface="Saira"/>
              <a:cs typeface="Saira"/>
              <a:sym typeface="Saira"/>
            </a:endParaRPr>
          </a:p>
        </p:txBody>
      </p:sp>
      <p:sp>
        <p:nvSpPr>
          <p:cNvPr id="218" name="Google Shape;218;g1f3006538ad_0_5"/>
          <p:cNvSpPr txBox="1"/>
          <p:nvPr/>
        </p:nvSpPr>
        <p:spPr>
          <a:xfrm>
            <a:off x="493350" y="4353475"/>
            <a:ext cx="110835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1800">
                <a:solidFill>
                  <a:schemeClr val="dk1"/>
                </a:solidFill>
                <a:latin typeface="Saira"/>
                <a:ea typeface="Saira"/>
                <a:cs typeface="Saira"/>
                <a:sym typeface="Saira"/>
              </a:rPr>
              <a:t>Si declaramos P como variable puntero. *p es el modo de referirse al contenido de la </a:t>
            </a:r>
            <a:endParaRPr sz="18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rPr lang="es-AR" sz="1800">
                <a:solidFill>
                  <a:schemeClr val="dk1"/>
                </a:solidFill>
                <a:latin typeface="Saira"/>
                <a:ea typeface="Saira"/>
                <a:cs typeface="Saira"/>
                <a:sym typeface="Saira"/>
              </a:rPr>
              <a:t>dirección almacenada en p. El operador * es el operador de desreferencia.</a:t>
            </a:r>
            <a:endParaRPr sz="18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t/>
            </a:r>
            <a:endParaRPr sz="1800">
              <a:solidFill>
                <a:schemeClr val="dk1"/>
              </a:solidFill>
              <a:latin typeface="Saira"/>
              <a:ea typeface="Saira"/>
              <a:cs typeface="Saira"/>
              <a:sym typeface="Saira"/>
            </a:endParaRPr>
          </a:p>
        </p:txBody>
      </p:sp>
      <p:pic>
        <p:nvPicPr>
          <p:cNvPr id="219" name="Google Shape;219;g1f3006538ad_0_5"/>
          <p:cNvPicPr preferRelativeResize="0"/>
          <p:nvPr/>
        </p:nvPicPr>
        <p:blipFill>
          <a:blip r:embed="rId5">
            <a:alphaModFix/>
          </a:blip>
          <a:stretch>
            <a:fillRect/>
          </a:stretch>
        </p:blipFill>
        <p:spPr>
          <a:xfrm>
            <a:off x="4944825" y="2935150"/>
            <a:ext cx="1547275" cy="1418325"/>
          </a:xfrm>
          <a:prstGeom prst="rect">
            <a:avLst/>
          </a:prstGeom>
          <a:noFill/>
          <a:ln>
            <a:noFill/>
          </a:ln>
        </p:spPr>
      </p:pic>
      <p:sp>
        <p:nvSpPr>
          <p:cNvPr id="220" name="Google Shape;220;g1f3006538ad_0_5"/>
          <p:cNvSpPr/>
          <p:nvPr/>
        </p:nvSpPr>
        <p:spPr>
          <a:xfrm>
            <a:off x="5049750" y="3100913"/>
            <a:ext cx="544200" cy="545400"/>
          </a:xfrm>
          <a:prstGeom prst="rect">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1" name="Google Shape;221;g1f3006538ad_0_5"/>
          <p:cNvSpPr txBox="1"/>
          <p:nvPr/>
        </p:nvSpPr>
        <p:spPr>
          <a:xfrm>
            <a:off x="6044100" y="2860525"/>
            <a:ext cx="486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800">
                <a:solidFill>
                  <a:schemeClr val="accent1"/>
                </a:solidFill>
                <a:latin typeface="Saira"/>
                <a:ea typeface="Saira"/>
                <a:cs typeface="Saira"/>
                <a:sym typeface="Saira"/>
              </a:rPr>
              <a:t>Operador de desreferencia</a:t>
            </a:r>
            <a:endParaRPr sz="2800">
              <a:solidFill>
                <a:schemeClr val="accent1"/>
              </a:solidFill>
              <a:latin typeface="Saira"/>
              <a:ea typeface="Saira"/>
              <a:cs typeface="Saira"/>
              <a:sym typeface="Sai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f3aa79e631_0_8"/>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27" name="Google Shape;227;g1f3aa79e631_0_8"/>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228" name="Google Shape;228;g1f3aa79e631_0_8"/>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29" name="Google Shape;229;g1f3aa79e631_0_8"/>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30" name="Google Shape;230;g1f3aa79e631_0_8"/>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pic>
        <p:nvPicPr>
          <p:cNvPr id="231" name="Google Shape;231;g1f3aa79e631_0_8"/>
          <p:cNvPicPr preferRelativeResize="0"/>
          <p:nvPr/>
        </p:nvPicPr>
        <p:blipFill>
          <a:blip r:embed="rId5">
            <a:alphaModFix/>
          </a:blip>
          <a:stretch>
            <a:fillRect/>
          </a:stretch>
        </p:blipFill>
        <p:spPr>
          <a:xfrm>
            <a:off x="2153891" y="3823620"/>
            <a:ext cx="1526161" cy="646500"/>
          </a:xfrm>
          <a:prstGeom prst="rect">
            <a:avLst/>
          </a:prstGeom>
          <a:noFill/>
          <a:ln>
            <a:noFill/>
          </a:ln>
        </p:spPr>
      </p:pic>
      <p:sp>
        <p:nvSpPr>
          <p:cNvPr id="232" name="Google Shape;232;g1f3aa79e631_0_8"/>
          <p:cNvSpPr txBox="1"/>
          <p:nvPr/>
        </p:nvSpPr>
        <p:spPr>
          <a:xfrm>
            <a:off x="367900" y="2465350"/>
            <a:ext cx="10620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s-AR" sz="2600" u="none" cap="none" strike="noStrike">
                <a:solidFill>
                  <a:srgbClr val="00B050"/>
                </a:solidFill>
                <a:highlight>
                  <a:srgbClr val="FFFFFF"/>
                </a:highlight>
                <a:latin typeface="Saira"/>
                <a:ea typeface="Saira"/>
                <a:cs typeface="Saira"/>
                <a:sym typeface="Saira"/>
              </a:rPr>
              <a:t>Ejemplo </a:t>
            </a:r>
            <a:endParaRPr b="1" i="0" sz="2600" u="none" cap="none" strike="noStrike">
              <a:solidFill>
                <a:srgbClr val="00B050"/>
              </a:solidFill>
              <a:latin typeface="Saira"/>
              <a:ea typeface="Saira"/>
              <a:cs typeface="Saira"/>
              <a:sym typeface="Saira"/>
            </a:endParaRPr>
          </a:p>
        </p:txBody>
      </p:sp>
      <p:pic>
        <p:nvPicPr>
          <p:cNvPr id="233" name="Google Shape;233;g1f3aa79e631_0_8"/>
          <p:cNvPicPr preferRelativeResize="0"/>
          <p:nvPr/>
        </p:nvPicPr>
        <p:blipFill>
          <a:blip r:embed="rId6">
            <a:alphaModFix/>
          </a:blip>
          <a:stretch>
            <a:fillRect/>
          </a:stretch>
        </p:blipFill>
        <p:spPr>
          <a:xfrm>
            <a:off x="2153912" y="4470125"/>
            <a:ext cx="2176814" cy="646500"/>
          </a:xfrm>
          <a:prstGeom prst="rect">
            <a:avLst/>
          </a:prstGeom>
          <a:noFill/>
          <a:ln>
            <a:noFill/>
          </a:ln>
        </p:spPr>
      </p:pic>
      <p:pic>
        <p:nvPicPr>
          <p:cNvPr id="234" name="Google Shape;234;g1f3aa79e631_0_8"/>
          <p:cNvPicPr preferRelativeResize="0"/>
          <p:nvPr/>
        </p:nvPicPr>
        <p:blipFill>
          <a:blip r:embed="rId7">
            <a:alphaModFix/>
          </a:blip>
          <a:stretch>
            <a:fillRect/>
          </a:stretch>
        </p:blipFill>
        <p:spPr>
          <a:xfrm>
            <a:off x="2153900" y="2987675"/>
            <a:ext cx="3111300" cy="835950"/>
          </a:xfrm>
          <a:prstGeom prst="rect">
            <a:avLst/>
          </a:prstGeom>
          <a:noFill/>
          <a:ln>
            <a:noFill/>
          </a:ln>
        </p:spPr>
      </p:pic>
      <p:sp>
        <p:nvSpPr>
          <p:cNvPr id="235" name="Google Shape;235;g1f3aa79e631_0_8"/>
          <p:cNvSpPr txBox="1"/>
          <p:nvPr/>
        </p:nvSpPr>
        <p:spPr>
          <a:xfrm>
            <a:off x="2031725" y="5092500"/>
            <a:ext cx="35217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AR" sz="3500">
                <a:solidFill>
                  <a:schemeClr val="dk1"/>
                </a:solidFill>
                <a:latin typeface="Saira"/>
                <a:ea typeface="Saira"/>
                <a:cs typeface="Saira"/>
                <a:sym typeface="Saira"/>
              </a:rPr>
              <a:t>printf(“%d”,*p);</a:t>
            </a:r>
            <a:endParaRPr sz="3500">
              <a:solidFill>
                <a:schemeClr val="dk1"/>
              </a:solidFill>
              <a:latin typeface="Saira"/>
              <a:ea typeface="Saira"/>
              <a:cs typeface="Saira"/>
              <a:sym typeface="Saira"/>
            </a:endParaRPr>
          </a:p>
        </p:txBody>
      </p:sp>
      <p:sp>
        <p:nvSpPr>
          <p:cNvPr id="236" name="Google Shape;236;g1f3aa79e631_0_8"/>
          <p:cNvSpPr/>
          <p:nvPr/>
        </p:nvSpPr>
        <p:spPr>
          <a:xfrm>
            <a:off x="5265200" y="5291100"/>
            <a:ext cx="877500" cy="4389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7" name="Google Shape;237;g1f3aa79e631_0_8"/>
          <p:cNvSpPr txBox="1"/>
          <p:nvPr/>
        </p:nvSpPr>
        <p:spPr>
          <a:xfrm>
            <a:off x="6280375" y="5141100"/>
            <a:ext cx="977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AR" sz="3000">
                <a:solidFill>
                  <a:schemeClr val="dk1"/>
                </a:solidFill>
                <a:latin typeface="Saira"/>
                <a:ea typeface="Saira"/>
                <a:cs typeface="Saira"/>
                <a:sym typeface="Saira"/>
              </a:rPr>
              <a:t>23</a:t>
            </a:r>
            <a:endParaRPr sz="3000">
              <a:solidFill>
                <a:schemeClr val="dk1"/>
              </a:solidFill>
              <a:latin typeface="Saira"/>
              <a:ea typeface="Saira"/>
              <a:cs typeface="Saira"/>
              <a:sym typeface="Sai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1f3aa79e631_0_28"/>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43" name="Google Shape;243;g1f3aa79e631_0_28"/>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244" name="Google Shape;244;g1f3aa79e631_0_28"/>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45" name="Google Shape;245;g1f3aa79e631_0_28"/>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46" name="Google Shape;246;g1f3aa79e631_0_28"/>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sp>
        <p:nvSpPr>
          <p:cNvPr id="247" name="Google Shape;247;g1f3aa79e631_0_28"/>
          <p:cNvSpPr txBox="1"/>
          <p:nvPr/>
        </p:nvSpPr>
        <p:spPr>
          <a:xfrm>
            <a:off x="441625" y="2252300"/>
            <a:ext cx="1690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s-AR" sz="2600" u="none" cap="none" strike="noStrike">
                <a:solidFill>
                  <a:srgbClr val="00B050"/>
                </a:solidFill>
                <a:highlight>
                  <a:srgbClr val="FFFFFF"/>
                </a:highlight>
                <a:latin typeface="Saira"/>
                <a:ea typeface="Saira"/>
                <a:cs typeface="Saira"/>
                <a:sym typeface="Saira"/>
              </a:rPr>
              <a:t>Ejemplo </a:t>
            </a:r>
            <a:endParaRPr b="1" i="0" sz="2600" u="none" cap="none" strike="noStrike">
              <a:solidFill>
                <a:srgbClr val="00B050"/>
              </a:solidFill>
              <a:latin typeface="Saira"/>
              <a:ea typeface="Saira"/>
              <a:cs typeface="Saira"/>
              <a:sym typeface="Saira"/>
            </a:endParaRPr>
          </a:p>
        </p:txBody>
      </p:sp>
      <p:pic>
        <p:nvPicPr>
          <p:cNvPr id="248" name="Google Shape;248;g1f3aa79e631_0_28"/>
          <p:cNvPicPr preferRelativeResize="0"/>
          <p:nvPr/>
        </p:nvPicPr>
        <p:blipFill>
          <a:blip r:embed="rId5">
            <a:alphaModFix/>
          </a:blip>
          <a:stretch>
            <a:fillRect/>
          </a:stretch>
        </p:blipFill>
        <p:spPr>
          <a:xfrm>
            <a:off x="441625" y="2837300"/>
            <a:ext cx="3111300" cy="835950"/>
          </a:xfrm>
          <a:prstGeom prst="rect">
            <a:avLst/>
          </a:prstGeom>
          <a:noFill/>
          <a:ln>
            <a:noFill/>
          </a:ln>
        </p:spPr>
      </p:pic>
      <p:pic>
        <p:nvPicPr>
          <p:cNvPr id="249" name="Google Shape;249;g1f3aa79e631_0_28"/>
          <p:cNvPicPr preferRelativeResize="0"/>
          <p:nvPr/>
        </p:nvPicPr>
        <p:blipFill>
          <a:blip r:embed="rId6">
            <a:alphaModFix/>
          </a:blip>
          <a:stretch>
            <a:fillRect/>
          </a:stretch>
        </p:blipFill>
        <p:spPr>
          <a:xfrm>
            <a:off x="3579775" y="2477700"/>
            <a:ext cx="7350301" cy="2521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1f3aa79e631_0_44"/>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55" name="Google Shape;255;g1f3aa79e631_0_44"/>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256" name="Google Shape;256;g1f3aa79e631_0_4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57" name="Google Shape;257;g1f3aa79e631_0_44"/>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58" name="Google Shape;258;g1f3aa79e631_0_44"/>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sp>
        <p:nvSpPr>
          <p:cNvPr id="259" name="Google Shape;259;g1f3aa79e631_0_44"/>
          <p:cNvSpPr txBox="1"/>
          <p:nvPr/>
        </p:nvSpPr>
        <p:spPr>
          <a:xfrm>
            <a:off x="441625" y="2252300"/>
            <a:ext cx="1690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s-AR" sz="2600" u="none" cap="none" strike="noStrike">
                <a:solidFill>
                  <a:srgbClr val="00B050"/>
                </a:solidFill>
                <a:highlight>
                  <a:srgbClr val="FFFFFF"/>
                </a:highlight>
                <a:latin typeface="Saira"/>
                <a:ea typeface="Saira"/>
                <a:cs typeface="Saira"/>
                <a:sym typeface="Saira"/>
              </a:rPr>
              <a:t>Ejemplo </a:t>
            </a:r>
            <a:endParaRPr b="1" i="0" sz="2600" u="none" cap="none" strike="noStrike">
              <a:solidFill>
                <a:srgbClr val="00B050"/>
              </a:solidFill>
              <a:latin typeface="Saira"/>
              <a:ea typeface="Saira"/>
              <a:cs typeface="Saira"/>
              <a:sym typeface="Saira"/>
            </a:endParaRPr>
          </a:p>
        </p:txBody>
      </p:sp>
      <p:pic>
        <p:nvPicPr>
          <p:cNvPr id="260" name="Google Shape;260;g1f3aa79e631_0_44"/>
          <p:cNvPicPr preferRelativeResize="0"/>
          <p:nvPr/>
        </p:nvPicPr>
        <p:blipFill>
          <a:blip r:embed="rId5">
            <a:alphaModFix/>
          </a:blip>
          <a:stretch>
            <a:fillRect/>
          </a:stretch>
        </p:blipFill>
        <p:spPr>
          <a:xfrm>
            <a:off x="441625" y="2837300"/>
            <a:ext cx="3111300" cy="835950"/>
          </a:xfrm>
          <a:prstGeom prst="rect">
            <a:avLst/>
          </a:prstGeom>
          <a:noFill/>
          <a:ln>
            <a:noFill/>
          </a:ln>
        </p:spPr>
      </p:pic>
      <p:pic>
        <p:nvPicPr>
          <p:cNvPr id="261" name="Google Shape;261;g1f3aa79e631_0_44"/>
          <p:cNvPicPr preferRelativeResize="0"/>
          <p:nvPr/>
        </p:nvPicPr>
        <p:blipFill>
          <a:blip r:embed="rId6">
            <a:alphaModFix/>
          </a:blip>
          <a:stretch>
            <a:fillRect/>
          </a:stretch>
        </p:blipFill>
        <p:spPr>
          <a:xfrm>
            <a:off x="481741" y="3639620"/>
            <a:ext cx="1526161" cy="646500"/>
          </a:xfrm>
          <a:prstGeom prst="rect">
            <a:avLst/>
          </a:prstGeom>
          <a:noFill/>
          <a:ln>
            <a:noFill/>
          </a:ln>
        </p:spPr>
      </p:pic>
      <p:pic>
        <p:nvPicPr>
          <p:cNvPr id="262" name="Google Shape;262;g1f3aa79e631_0_44"/>
          <p:cNvPicPr preferRelativeResize="0"/>
          <p:nvPr/>
        </p:nvPicPr>
        <p:blipFill>
          <a:blip r:embed="rId7">
            <a:alphaModFix/>
          </a:blip>
          <a:stretch>
            <a:fillRect/>
          </a:stretch>
        </p:blipFill>
        <p:spPr>
          <a:xfrm>
            <a:off x="3705325" y="2546150"/>
            <a:ext cx="7355170" cy="2918850"/>
          </a:xfrm>
          <a:prstGeom prst="rect">
            <a:avLst/>
          </a:prstGeom>
          <a:noFill/>
          <a:ln>
            <a:noFill/>
          </a:ln>
        </p:spPr>
      </p:pic>
      <p:sp>
        <p:nvSpPr>
          <p:cNvPr id="263" name="Google Shape;263;g1f3aa79e631_0_44"/>
          <p:cNvSpPr txBox="1"/>
          <p:nvPr/>
        </p:nvSpPr>
        <p:spPr>
          <a:xfrm>
            <a:off x="10951438" y="4188325"/>
            <a:ext cx="1347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000">
                <a:solidFill>
                  <a:schemeClr val="dk1"/>
                </a:solidFill>
                <a:latin typeface="Saira"/>
                <a:ea typeface="Saira"/>
                <a:cs typeface="Saira"/>
                <a:sym typeface="Saira"/>
              </a:rPr>
              <a:t>+4 casilleros más de memoria (tamaño en 64 bits = 8 Bytes = 8 Casilleros)</a:t>
            </a:r>
            <a:endParaRPr sz="1000">
              <a:solidFill>
                <a:schemeClr val="dk1"/>
              </a:solidFill>
              <a:latin typeface="Saira"/>
              <a:ea typeface="Saira"/>
              <a:cs typeface="Saira"/>
              <a:sym typeface="Sai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1f3aa79e631_0_58"/>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69" name="Google Shape;269;g1f3aa79e631_0_58"/>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270" name="Google Shape;270;g1f3aa79e631_0_58"/>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71" name="Google Shape;271;g1f3aa79e631_0_58"/>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72" name="Google Shape;272;g1f3aa79e631_0_58"/>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sp>
        <p:nvSpPr>
          <p:cNvPr id="273" name="Google Shape;273;g1f3aa79e631_0_58"/>
          <p:cNvSpPr txBox="1"/>
          <p:nvPr/>
        </p:nvSpPr>
        <p:spPr>
          <a:xfrm>
            <a:off x="441625" y="2252300"/>
            <a:ext cx="1690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s-AR" sz="2600" u="none" cap="none" strike="noStrike">
                <a:solidFill>
                  <a:srgbClr val="00B050"/>
                </a:solidFill>
                <a:highlight>
                  <a:srgbClr val="FFFFFF"/>
                </a:highlight>
                <a:latin typeface="Saira"/>
                <a:ea typeface="Saira"/>
                <a:cs typeface="Saira"/>
                <a:sym typeface="Saira"/>
              </a:rPr>
              <a:t>Ejemplo </a:t>
            </a:r>
            <a:endParaRPr b="1" i="0" sz="2600" u="none" cap="none" strike="noStrike">
              <a:solidFill>
                <a:srgbClr val="00B050"/>
              </a:solidFill>
              <a:latin typeface="Saira"/>
              <a:ea typeface="Saira"/>
              <a:cs typeface="Saira"/>
              <a:sym typeface="Saira"/>
            </a:endParaRPr>
          </a:p>
        </p:txBody>
      </p:sp>
      <p:pic>
        <p:nvPicPr>
          <p:cNvPr id="274" name="Google Shape;274;g1f3aa79e631_0_58"/>
          <p:cNvPicPr preferRelativeResize="0"/>
          <p:nvPr/>
        </p:nvPicPr>
        <p:blipFill>
          <a:blip r:embed="rId5">
            <a:alphaModFix/>
          </a:blip>
          <a:stretch>
            <a:fillRect/>
          </a:stretch>
        </p:blipFill>
        <p:spPr>
          <a:xfrm>
            <a:off x="387791" y="3777045"/>
            <a:ext cx="1526161" cy="646500"/>
          </a:xfrm>
          <a:prstGeom prst="rect">
            <a:avLst/>
          </a:prstGeom>
          <a:noFill/>
          <a:ln>
            <a:noFill/>
          </a:ln>
        </p:spPr>
      </p:pic>
      <p:pic>
        <p:nvPicPr>
          <p:cNvPr id="275" name="Google Shape;275;g1f3aa79e631_0_58"/>
          <p:cNvPicPr preferRelativeResize="0"/>
          <p:nvPr/>
        </p:nvPicPr>
        <p:blipFill>
          <a:blip r:embed="rId6">
            <a:alphaModFix/>
          </a:blip>
          <a:stretch>
            <a:fillRect/>
          </a:stretch>
        </p:blipFill>
        <p:spPr>
          <a:xfrm>
            <a:off x="387812" y="4423550"/>
            <a:ext cx="2176814" cy="646500"/>
          </a:xfrm>
          <a:prstGeom prst="rect">
            <a:avLst/>
          </a:prstGeom>
          <a:noFill/>
          <a:ln>
            <a:noFill/>
          </a:ln>
        </p:spPr>
      </p:pic>
      <p:pic>
        <p:nvPicPr>
          <p:cNvPr id="276" name="Google Shape;276;g1f3aa79e631_0_58"/>
          <p:cNvPicPr preferRelativeResize="0"/>
          <p:nvPr/>
        </p:nvPicPr>
        <p:blipFill>
          <a:blip r:embed="rId7">
            <a:alphaModFix/>
          </a:blip>
          <a:stretch>
            <a:fillRect/>
          </a:stretch>
        </p:blipFill>
        <p:spPr>
          <a:xfrm>
            <a:off x="387800" y="2941100"/>
            <a:ext cx="3111300" cy="835950"/>
          </a:xfrm>
          <a:prstGeom prst="rect">
            <a:avLst/>
          </a:prstGeom>
          <a:noFill/>
          <a:ln>
            <a:noFill/>
          </a:ln>
        </p:spPr>
      </p:pic>
      <p:pic>
        <p:nvPicPr>
          <p:cNvPr id="277" name="Google Shape;277;g1f3aa79e631_0_58"/>
          <p:cNvPicPr preferRelativeResize="0"/>
          <p:nvPr/>
        </p:nvPicPr>
        <p:blipFill>
          <a:blip r:embed="rId8">
            <a:alphaModFix/>
          </a:blip>
          <a:stretch>
            <a:fillRect/>
          </a:stretch>
        </p:blipFill>
        <p:spPr>
          <a:xfrm>
            <a:off x="3651500" y="2546150"/>
            <a:ext cx="7156410" cy="2918850"/>
          </a:xfrm>
          <a:prstGeom prst="rect">
            <a:avLst/>
          </a:prstGeom>
          <a:noFill/>
          <a:ln>
            <a:noFill/>
          </a:ln>
        </p:spPr>
      </p:pic>
      <p:sp>
        <p:nvSpPr>
          <p:cNvPr id="278" name="Google Shape;278;g1f3aa79e631_0_58"/>
          <p:cNvSpPr txBox="1"/>
          <p:nvPr/>
        </p:nvSpPr>
        <p:spPr>
          <a:xfrm>
            <a:off x="10801763" y="4038650"/>
            <a:ext cx="1347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100">
                <a:solidFill>
                  <a:schemeClr val="dk1"/>
                </a:solidFill>
                <a:latin typeface="Saira"/>
                <a:ea typeface="Saira"/>
                <a:cs typeface="Saira"/>
                <a:sym typeface="Saira"/>
              </a:rPr>
              <a:t>+4 casilleros más de memoria (tamaño en 64 bits = 8 Bytes = 8 Casilleros)</a:t>
            </a:r>
            <a:endParaRPr sz="1100">
              <a:solidFill>
                <a:schemeClr val="dk1"/>
              </a:solidFill>
              <a:latin typeface="Saira"/>
              <a:ea typeface="Saira"/>
              <a:cs typeface="Saira"/>
              <a:sym typeface="Sai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f3aa79e631_0_74"/>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284" name="Google Shape;284;g1f3aa79e631_0_74"/>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285" name="Google Shape;285;g1f3aa79e631_0_7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86" name="Google Shape;286;g1f3aa79e631_0_74"/>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87" name="Google Shape;287;g1f3aa79e631_0_74"/>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pic>
        <p:nvPicPr>
          <p:cNvPr id="288" name="Google Shape;288;g1f3aa79e631_0_74"/>
          <p:cNvPicPr preferRelativeResize="0"/>
          <p:nvPr/>
        </p:nvPicPr>
        <p:blipFill>
          <a:blip r:embed="rId5">
            <a:alphaModFix/>
          </a:blip>
          <a:stretch>
            <a:fillRect/>
          </a:stretch>
        </p:blipFill>
        <p:spPr>
          <a:xfrm>
            <a:off x="387791" y="3777045"/>
            <a:ext cx="1526161" cy="646500"/>
          </a:xfrm>
          <a:prstGeom prst="rect">
            <a:avLst/>
          </a:prstGeom>
          <a:noFill/>
          <a:ln>
            <a:noFill/>
          </a:ln>
        </p:spPr>
      </p:pic>
      <p:pic>
        <p:nvPicPr>
          <p:cNvPr id="289" name="Google Shape;289;g1f3aa79e631_0_74"/>
          <p:cNvPicPr preferRelativeResize="0"/>
          <p:nvPr/>
        </p:nvPicPr>
        <p:blipFill>
          <a:blip r:embed="rId6">
            <a:alphaModFix/>
          </a:blip>
          <a:stretch>
            <a:fillRect/>
          </a:stretch>
        </p:blipFill>
        <p:spPr>
          <a:xfrm>
            <a:off x="387812" y="4423550"/>
            <a:ext cx="2176814" cy="646500"/>
          </a:xfrm>
          <a:prstGeom prst="rect">
            <a:avLst/>
          </a:prstGeom>
          <a:noFill/>
          <a:ln>
            <a:noFill/>
          </a:ln>
        </p:spPr>
      </p:pic>
      <p:pic>
        <p:nvPicPr>
          <p:cNvPr id="290" name="Google Shape;290;g1f3aa79e631_0_74"/>
          <p:cNvPicPr preferRelativeResize="0"/>
          <p:nvPr/>
        </p:nvPicPr>
        <p:blipFill>
          <a:blip r:embed="rId7">
            <a:alphaModFix/>
          </a:blip>
          <a:stretch>
            <a:fillRect/>
          </a:stretch>
        </p:blipFill>
        <p:spPr>
          <a:xfrm>
            <a:off x="387800" y="2941100"/>
            <a:ext cx="3111300" cy="835950"/>
          </a:xfrm>
          <a:prstGeom prst="rect">
            <a:avLst/>
          </a:prstGeom>
          <a:noFill/>
          <a:ln>
            <a:noFill/>
          </a:ln>
        </p:spPr>
      </p:pic>
      <p:sp>
        <p:nvSpPr>
          <p:cNvPr id="291" name="Google Shape;291;g1f3aa79e631_0_74"/>
          <p:cNvSpPr txBox="1"/>
          <p:nvPr/>
        </p:nvSpPr>
        <p:spPr>
          <a:xfrm>
            <a:off x="3855075" y="3489188"/>
            <a:ext cx="35217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AR" sz="3500">
                <a:solidFill>
                  <a:schemeClr val="dk1"/>
                </a:solidFill>
                <a:latin typeface="Saira"/>
                <a:ea typeface="Saira"/>
                <a:cs typeface="Saira"/>
                <a:sym typeface="Saira"/>
              </a:rPr>
              <a:t>printf(“%d”,*p);</a:t>
            </a:r>
            <a:endParaRPr sz="3500">
              <a:solidFill>
                <a:schemeClr val="dk1"/>
              </a:solidFill>
              <a:latin typeface="Saira"/>
              <a:ea typeface="Saira"/>
              <a:cs typeface="Saira"/>
              <a:sym typeface="Saira"/>
            </a:endParaRPr>
          </a:p>
        </p:txBody>
      </p:sp>
      <p:sp>
        <p:nvSpPr>
          <p:cNvPr id="292" name="Google Shape;292;g1f3aa79e631_0_74"/>
          <p:cNvSpPr/>
          <p:nvPr/>
        </p:nvSpPr>
        <p:spPr>
          <a:xfrm>
            <a:off x="7140300" y="3583988"/>
            <a:ext cx="646500" cy="646500"/>
          </a:xfrm>
          <a:prstGeom prst="mathEqual">
            <a:avLst>
              <a:gd fmla="val 23520" name="adj1"/>
              <a:gd fmla="val 1176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3" name="Google Shape;293;g1f3aa79e631_0_74"/>
          <p:cNvSpPr txBox="1"/>
          <p:nvPr/>
        </p:nvSpPr>
        <p:spPr>
          <a:xfrm>
            <a:off x="7786800" y="3489188"/>
            <a:ext cx="3780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3500">
                <a:solidFill>
                  <a:schemeClr val="dk1"/>
                </a:solidFill>
                <a:latin typeface="Saira"/>
                <a:ea typeface="Saira"/>
                <a:cs typeface="Saira"/>
                <a:sym typeface="Saira"/>
              </a:rPr>
              <a:t>printf(“%d”,edad);</a:t>
            </a:r>
            <a:endParaRPr sz="3500">
              <a:solidFill>
                <a:schemeClr val="dk1"/>
              </a:solidFill>
              <a:latin typeface="Saira"/>
              <a:ea typeface="Saira"/>
              <a:cs typeface="Saira"/>
              <a:sym typeface="Saira"/>
            </a:endParaRPr>
          </a:p>
        </p:txBody>
      </p:sp>
      <p:sp>
        <p:nvSpPr>
          <p:cNvPr id="294" name="Google Shape;294;g1f3aa79e631_0_74"/>
          <p:cNvSpPr txBox="1"/>
          <p:nvPr/>
        </p:nvSpPr>
        <p:spPr>
          <a:xfrm>
            <a:off x="387800" y="2325500"/>
            <a:ext cx="300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3400">
                <a:solidFill>
                  <a:srgbClr val="0000FF"/>
                </a:solidFill>
                <a:highlight>
                  <a:schemeClr val="lt1"/>
                </a:highlight>
                <a:latin typeface="Saira"/>
                <a:ea typeface="Saira"/>
                <a:cs typeface="Saira"/>
                <a:sym typeface="Saira"/>
              </a:rPr>
              <a:t>Printf</a:t>
            </a:r>
            <a:endParaRPr b="1" sz="3400">
              <a:solidFill>
                <a:srgbClr val="0000FF"/>
              </a:solidFill>
              <a:latin typeface="Saira"/>
              <a:ea typeface="Saira"/>
              <a:cs typeface="Saira"/>
              <a:sym typeface="Sai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1f3aa79e631_0_93"/>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00" name="Google Shape;300;g1f3aa79e631_0_93"/>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301" name="Google Shape;301;g1f3aa79e631_0_93"/>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02" name="Google Shape;302;g1f3aa79e631_0_93"/>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303" name="Google Shape;303;g1f3aa79e631_0_93"/>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pic>
        <p:nvPicPr>
          <p:cNvPr id="304" name="Google Shape;304;g1f3aa79e631_0_93"/>
          <p:cNvPicPr preferRelativeResize="0"/>
          <p:nvPr/>
        </p:nvPicPr>
        <p:blipFill>
          <a:blip r:embed="rId5">
            <a:alphaModFix/>
          </a:blip>
          <a:stretch>
            <a:fillRect/>
          </a:stretch>
        </p:blipFill>
        <p:spPr>
          <a:xfrm>
            <a:off x="387791" y="3777045"/>
            <a:ext cx="1526161" cy="646500"/>
          </a:xfrm>
          <a:prstGeom prst="rect">
            <a:avLst/>
          </a:prstGeom>
          <a:noFill/>
          <a:ln>
            <a:noFill/>
          </a:ln>
        </p:spPr>
      </p:pic>
      <p:pic>
        <p:nvPicPr>
          <p:cNvPr id="305" name="Google Shape;305;g1f3aa79e631_0_93"/>
          <p:cNvPicPr preferRelativeResize="0"/>
          <p:nvPr/>
        </p:nvPicPr>
        <p:blipFill>
          <a:blip r:embed="rId6">
            <a:alphaModFix/>
          </a:blip>
          <a:stretch>
            <a:fillRect/>
          </a:stretch>
        </p:blipFill>
        <p:spPr>
          <a:xfrm>
            <a:off x="387812" y="4423550"/>
            <a:ext cx="2176814" cy="646500"/>
          </a:xfrm>
          <a:prstGeom prst="rect">
            <a:avLst/>
          </a:prstGeom>
          <a:noFill/>
          <a:ln>
            <a:noFill/>
          </a:ln>
        </p:spPr>
      </p:pic>
      <p:pic>
        <p:nvPicPr>
          <p:cNvPr id="306" name="Google Shape;306;g1f3aa79e631_0_93"/>
          <p:cNvPicPr preferRelativeResize="0"/>
          <p:nvPr/>
        </p:nvPicPr>
        <p:blipFill>
          <a:blip r:embed="rId7">
            <a:alphaModFix/>
          </a:blip>
          <a:stretch>
            <a:fillRect/>
          </a:stretch>
        </p:blipFill>
        <p:spPr>
          <a:xfrm>
            <a:off x="387800" y="2941100"/>
            <a:ext cx="3111300" cy="835950"/>
          </a:xfrm>
          <a:prstGeom prst="rect">
            <a:avLst/>
          </a:prstGeom>
          <a:noFill/>
          <a:ln>
            <a:noFill/>
          </a:ln>
        </p:spPr>
      </p:pic>
      <p:sp>
        <p:nvSpPr>
          <p:cNvPr id="307" name="Google Shape;307;g1f3aa79e631_0_93"/>
          <p:cNvSpPr txBox="1"/>
          <p:nvPr/>
        </p:nvSpPr>
        <p:spPr>
          <a:xfrm>
            <a:off x="3780900" y="3682250"/>
            <a:ext cx="42156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AR" sz="3500">
                <a:solidFill>
                  <a:schemeClr val="dk1"/>
                </a:solidFill>
                <a:latin typeface="Saira"/>
                <a:ea typeface="Saira"/>
                <a:cs typeface="Saira"/>
                <a:sym typeface="Saira"/>
              </a:rPr>
              <a:t>scanf</a:t>
            </a:r>
            <a:r>
              <a:rPr lang="es-AR" sz="3500">
                <a:solidFill>
                  <a:schemeClr val="dk1"/>
                </a:solidFill>
                <a:latin typeface="Saira"/>
                <a:ea typeface="Saira"/>
                <a:cs typeface="Saira"/>
                <a:sym typeface="Saira"/>
              </a:rPr>
              <a:t>(“%d”,</a:t>
            </a:r>
            <a:r>
              <a:rPr lang="es-AR" sz="3500">
                <a:solidFill>
                  <a:schemeClr val="dk1"/>
                </a:solidFill>
              </a:rPr>
              <a:t>&amp;</a:t>
            </a:r>
            <a:r>
              <a:rPr lang="es-AR" sz="3500">
                <a:solidFill>
                  <a:schemeClr val="dk1"/>
                </a:solidFill>
                <a:latin typeface="Saira"/>
                <a:ea typeface="Saira"/>
                <a:cs typeface="Saira"/>
                <a:sym typeface="Saira"/>
              </a:rPr>
              <a:t>edad);</a:t>
            </a:r>
            <a:endParaRPr sz="3500">
              <a:solidFill>
                <a:schemeClr val="dk1"/>
              </a:solidFill>
              <a:latin typeface="Saira"/>
              <a:ea typeface="Saira"/>
              <a:cs typeface="Saira"/>
              <a:sym typeface="Saira"/>
            </a:endParaRPr>
          </a:p>
        </p:txBody>
      </p:sp>
      <p:sp>
        <p:nvSpPr>
          <p:cNvPr id="308" name="Google Shape;308;g1f3aa79e631_0_93"/>
          <p:cNvSpPr/>
          <p:nvPr/>
        </p:nvSpPr>
        <p:spPr>
          <a:xfrm>
            <a:off x="7765200" y="3777050"/>
            <a:ext cx="646500" cy="646500"/>
          </a:xfrm>
          <a:prstGeom prst="mathEqual">
            <a:avLst>
              <a:gd fmla="val 23520" name="adj1"/>
              <a:gd fmla="val 1176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g1f3aa79e631_0_93"/>
          <p:cNvSpPr txBox="1"/>
          <p:nvPr/>
        </p:nvSpPr>
        <p:spPr>
          <a:xfrm>
            <a:off x="8411700" y="3682250"/>
            <a:ext cx="3780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3500">
                <a:solidFill>
                  <a:schemeClr val="dk1"/>
                </a:solidFill>
                <a:latin typeface="Saira"/>
                <a:ea typeface="Saira"/>
                <a:cs typeface="Saira"/>
                <a:sym typeface="Saira"/>
              </a:rPr>
              <a:t>scanf</a:t>
            </a:r>
            <a:r>
              <a:rPr lang="es-AR" sz="3500">
                <a:solidFill>
                  <a:schemeClr val="dk1"/>
                </a:solidFill>
                <a:latin typeface="Saira"/>
                <a:ea typeface="Saira"/>
                <a:cs typeface="Saira"/>
                <a:sym typeface="Saira"/>
              </a:rPr>
              <a:t>(“%d”,p);</a:t>
            </a:r>
            <a:endParaRPr sz="3500">
              <a:solidFill>
                <a:schemeClr val="dk1"/>
              </a:solidFill>
              <a:latin typeface="Saira"/>
              <a:ea typeface="Saira"/>
              <a:cs typeface="Saira"/>
              <a:sym typeface="Saira"/>
            </a:endParaRPr>
          </a:p>
        </p:txBody>
      </p:sp>
      <p:sp>
        <p:nvSpPr>
          <p:cNvPr id="310" name="Google Shape;310;g1f3aa79e631_0_93"/>
          <p:cNvSpPr txBox="1"/>
          <p:nvPr/>
        </p:nvSpPr>
        <p:spPr>
          <a:xfrm>
            <a:off x="387800" y="2325500"/>
            <a:ext cx="300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3400">
                <a:solidFill>
                  <a:srgbClr val="0000FF"/>
                </a:solidFill>
                <a:highlight>
                  <a:schemeClr val="lt1"/>
                </a:highlight>
                <a:latin typeface="Saira"/>
                <a:ea typeface="Saira"/>
                <a:cs typeface="Saira"/>
                <a:sym typeface="Saira"/>
              </a:rPr>
              <a:t>Scanf</a:t>
            </a:r>
            <a:endParaRPr sz="20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f3aa79e631_0_11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16" name="Google Shape;316;g1f3aa79e631_0_111"/>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317" name="Google Shape;317;g1f3aa79e631_0_11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18" name="Google Shape;318;g1f3aa79e631_0_111"/>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319" name="Google Shape;319;g1f3aa79e631_0_111"/>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28009"/>
                </a:solidFill>
                <a:latin typeface="Saira Medium"/>
                <a:ea typeface="Saira Medium"/>
                <a:cs typeface="Saira Medium"/>
                <a:sym typeface="Saira Medium"/>
              </a:rPr>
              <a:t>Desreferencia</a:t>
            </a:r>
            <a:endParaRPr i="0" sz="3000" u="none" cap="none" strike="noStrike">
              <a:solidFill>
                <a:srgbClr val="028009"/>
              </a:solidFill>
              <a:latin typeface="Saira Medium"/>
              <a:ea typeface="Saira Medium"/>
              <a:cs typeface="Saira Medium"/>
              <a:sym typeface="Saira Medium"/>
            </a:endParaRPr>
          </a:p>
        </p:txBody>
      </p:sp>
      <p:sp>
        <p:nvSpPr>
          <p:cNvPr id="320" name="Google Shape;320;g1f3aa79e631_0_111"/>
          <p:cNvSpPr txBox="1"/>
          <p:nvPr/>
        </p:nvSpPr>
        <p:spPr>
          <a:xfrm>
            <a:off x="1860000" y="3168486"/>
            <a:ext cx="84720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AR" sz="2800">
                <a:solidFill>
                  <a:schemeClr val="accent5"/>
                </a:solidFill>
                <a:highlight>
                  <a:schemeClr val="lt1"/>
                </a:highlight>
                <a:latin typeface="Saira"/>
                <a:ea typeface="Saira"/>
                <a:cs typeface="Saira"/>
                <a:sym typeface="Saira"/>
              </a:rPr>
              <a:t>¿Cómo sabe la computadora al momento de </a:t>
            </a:r>
            <a:r>
              <a:rPr lang="es-AR" sz="2800">
                <a:solidFill>
                  <a:schemeClr val="accent5"/>
                </a:solidFill>
                <a:highlight>
                  <a:schemeClr val="lt1"/>
                </a:highlight>
                <a:latin typeface="Saira"/>
                <a:ea typeface="Saira"/>
                <a:cs typeface="Saira"/>
                <a:sym typeface="Saira"/>
              </a:rPr>
              <a:t>desreferenciar</a:t>
            </a:r>
            <a:r>
              <a:rPr lang="es-AR" sz="2800">
                <a:solidFill>
                  <a:schemeClr val="accent5"/>
                </a:solidFill>
                <a:highlight>
                  <a:schemeClr val="lt1"/>
                </a:highlight>
                <a:latin typeface="Saira"/>
                <a:ea typeface="Saira"/>
                <a:cs typeface="Saira"/>
                <a:sym typeface="Saira"/>
              </a:rPr>
              <a:t> una variable </a:t>
            </a:r>
            <a:r>
              <a:rPr lang="es-AR" sz="2800">
                <a:solidFill>
                  <a:schemeClr val="accent5"/>
                </a:solidFill>
                <a:highlight>
                  <a:schemeClr val="lt1"/>
                </a:highlight>
                <a:latin typeface="Saira"/>
                <a:ea typeface="Saira"/>
                <a:cs typeface="Saira"/>
                <a:sym typeface="Saira"/>
              </a:rPr>
              <a:t>cuántas celdas de memoria debe tomar ? </a:t>
            </a:r>
            <a:endParaRPr>
              <a:solidFill>
                <a:schemeClr val="accent5"/>
              </a:solidFill>
              <a:latin typeface="Saira"/>
              <a:ea typeface="Saira"/>
              <a:cs typeface="Saira"/>
              <a:sym typeface="Sai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1f3aa79e631_0_129"/>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26" name="Google Shape;326;g1f3aa79e631_0_129"/>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327" name="Google Shape;327;g1f3aa79e631_0_129"/>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28" name="Google Shape;328;g1f3aa79e631_0_129"/>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329" name="Google Shape;329;g1f3aa79e631_0_129"/>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000FF"/>
                </a:solidFill>
                <a:latin typeface="Saira Medium"/>
                <a:ea typeface="Saira Medium"/>
                <a:cs typeface="Saira Medium"/>
                <a:sym typeface="Saira Medium"/>
              </a:rPr>
              <a:t>Puntero void</a:t>
            </a:r>
            <a:endParaRPr i="0" sz="3000" u="none" cap="none" strike="noStrike">
              <a:solidFill>
                <a:srgbClr val="0000FF"/>
              </a:solidFill>
              <a:latin typeface="Saira Medium"/>
              <a:ea typeface="Saira Medium"/>
              <a:cs typeface="Saira Medium"/>
              <a:sym typeface="Saira Medium"/>
            </a:endParaRPr>
          </a:p>
        </p:txBody>
      </p:sp>
      <p:sp>
        <p:nvSpPr>
          <p:cNvPr id="330" name="Google Shape;330;g1f3aa79e631_0_129"/>
          <p:cNvSpPr txBox="1"/>
          <p:nvPr/>
        </p:nvSpPr>
        <p:spPr>
          <a:xfrm>
            <a:off x="404700" y="2308500"/>
            <a:ext cx="110835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2100">
                <a:solidFill>
                  <a:schemeClr val="dk1"/>
                </a:solidFill>
                <a:latin typeface="Saira"/>
                <a:ea typeface="Saira"/>
                <a:cs typeface="Saira"/>
                <a:sym typeface="Saira"/>
              </a:rPr>
              <a:t>Este tipo de punteros no se puede </a:t>
            </a:r>
            <a:r>
              <a:rPr lang="es-AR" sz="2100">
                <a:solidFill>
                  <a:schemeClr val="dk1"/>
                </a:solidFill>
                <a:latin typeface="Saira"/>
                <a:ea typeface="Saira"/>
                <a:cs typeface="Saira"/>
                <a:sym typeface="Saira"/>
              </a:rPr>
              <a:t>desreferenciar</a:t>
            </a:r>
            <a:r>
              <a:rPr lang="es-AR" sz="2100">
                <a:solidFill>
                  <a:schemeClr val="dk1"/>
                </a:solidFill>
                <a:latin typeface="Saira"/>
                <a:ea typeface="Saira"/>
                <a:cs typeface="Saira"/>
                <a:sym typeface="Saira"/>
              </a:rPr>
              <a:t> porque no hay información acerca del tipo de dato apuntado.</a:t>
            </a:r>
            <a:endParaRPr sz="21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t/>
            </a:r>
            <a:endParaRPr sz="1800">
              <a:solidFill>
                <a:schemeClr val="dk1"/>
              </a:solidFill>
              <a:latin typeface="Saira"/>
              <a:ea typeface="Saira"/>
              <a:cs typeface="Saira"/>
              <a:sym typeface="Saira"/>
            </a:endParaRPr>
          </a:p>
        </p:txBody>
      </p:sp>
      <p:sp>
        <p:nvSpPr>
          <p:cNvPr id="331" name="Google Shape;331;g1f3aa79e631_0_129"/>
          <p:cNvSpPr txBox="1"/>
          <p:nvPr/>
        </p:nvSpPr>
        <p:spPr>
          <a:xfrm>
            <a:off x="3457750" y="3202525"/>
            <a:ext cx="6941100" cy="292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3200">
                <a:solidFill>
                  <a:srgbClr val="FF0000"/>
                </a:solidFill>
                <a:latin typeface="Saira"/>
                <a:ea typeface="Saira"/>
                <a:cs typeface="Saira"/>
                <a:sym typeface="Saira"/>
              </a:rPr>
              <a:t>void</a:t>
            </a:r>
            <a:r>
              <a:rPr lang="es-AR" sz="3200">
                <a:solidFill>
                  <a:schemeClr val="dk1"/>
                </a:solidFill>
                <a:latin typeface="Saira"/>
                <a:ea typeface="Saira"/>
                <a:cs typeface="Saira"/>
                <a:sym typeface="Saira"/>
              </a:rPr>
              <a:t> *v;</a:t>
            </a:r>
            <a:endParaRPr sz="3200">
              <a:solidFill>
                <a:schemeClr val="dk1"/>
              </a:solidFill>
              <a:latin typeface="Saira"/>
              <a:ea typeface="Saira"/>
              <a:cs typeface="Saira"/>
              <a:sym typeface="Saira"/>
            </a:endParaRPr>
          </a:p>
          <a:p>
            <a:pPr indent="0" lvl="0" marL="0" rtl="0" algn="l">
              <a:spcBef>
                <a:spcPts val="0"/>
              </a:spcBef>
              <a:spcAft>
                <a:spcPts val="0"/>
              </a:spcAft>
              <a:buNone/>
            </a:pPr>
            <a:r>
              <a:rPr lang="es-AR" sz="3200">
                <a:solidFill>
                  <a:srgbClr val="FF0000"/>
                </a:solidFill>
                <a:latin typeface="Saira"/>
                <a:ea typeface="Saira"/>
                <a:cs typeface="Saira"/>
                <a:sym typeface="Saira"/>
              </a:rPr>
              <a:t>int </a:t>
            </a:r>
            <a:r>
              <a:rPr lang="es-AR" sz="3200">
                <a:solidFill>
                  <a:schemeClr val="dk1"/>
                </a:solidFill>
                <a:latin typeface="Saira"/>
                <a:ea typeface="Saira"/>
                <a:cs typeface="Saira"/>
                <a:sym typeface="Saira"/>
              </a:rPr>
              <a:t>edad=23;</a:t>
            </a:r>
            <a:endParaRPr sz="3200">
              <a:solidFill>
                <a:schemeClr val="dk1"/>
              </a:solidFill>
              <a:latin typeface="Saira"/>
              <a:ea typeface="Saira"/>
              <a:cs typeface="Saira"/>
              <a:sym typeface="Saira"/>
            </a:endParaRPr>
          </a:p>
          <a:p>
            <a:pPr indent="0" lvl="0" marL="0" rtl="0" algn="l">
              <a:spcBef>
                <a:spcPts val="0"/>
              </a:spcBef>
              <a:spcAft>
                <a:spcPts val="0"/>
              </a:spcAft>
              <a:buNone/>
            </a:pPr>
            <a:r>
              <a:rPr lang="es-AR" sz="3200">
                <a:solidFill>
                  <a:schemeClr val="dk1"/>
                </a:solidFill>
                <a:latin typeface="Saira"/>
                <a:ea typeface="Saira"/>
                <a:cs typeface="Saira"/>
                <a:sym typeface="Saira"/>
              </a:rPr>
              <a:t>v=</a:t>
            </a:r>
            <a:r>
              <a:rPr lang="es-AR" sz="3200">
                <a:solidFill>
                  <a:schemeClr val="dk1"/>
                </a:solidFill>
              </a:rPr>
              <a:t>&amp;</a:t>
            </a:r>
            <a:r>
              <a:rPr lang="es-AR" sz="3200">
                <a:solidFill>
                  <a:schemeClr val="dk1"/>
                </a:solidFill>
                <a:latin typeface="Saira"/>
                <a:ea typeface="Saira"/>
                <a:cs typeface="Saira"/>
                <a:sym typeface="Saira"/>
              </a:rPr>
              <a:t>edad;</a:t>
            </a:r>
            <a:endParaRPr sz="3200">
              <a:solidFill>
                <a:schemeClr val="dk1"/>
              </a:solidFill>
              <a:latin typeface="Saira"/>
              <a:ea typeface="Saira"/>
              <a:cs typeface="Saira"/>
              <a:sym typeface="Saira"/>
            </a:endParaRPr>
          </a:p>
          <a:p>
            <a:pPr indent="0" lvl="0" marL="0" rtl="0" algn="l">
              <a:spcBef>
                <a:spcPts val="0"/>
              </a:spcBef>
              <a:spcAft>
                <a:spcPts val="0"/>
              </a:spcAft>
              <a:buNone/>
            </a:pPr>
            <a:r>
              <a:rPr lang="es-AR" sz="5000">
                <a:solidFill>
                  <a:schemeClr val="dk1"/>
                </a:solidFill>
                <a:latin typeface="Saira"/>
                <a:ea typeface="Saira"/>
                <a:cs typeface="Saira"/>
                <a:sym typeface="Saira"/>
              </a:rPr>
              <a:t>printf(“%d”,*(int *)v);</a:t>
            </a:r>
            <a:endParaRPr sz="5000">
              <a:solidFill>
                <a:schemeClr val="dk1"/>
              </a:solidFill>
              <a:latin typeface="Saira"/>
              <a:ea typeface="Saira"/>
              <a:cs typeface="Saira"/>
              <a:sym typeface="Saira"/>
            </a:endParaRPr>
          </a:p>
          <a:p>
            <a:pPr indent="0" lvl="0" marL="0" rtl="0" algn="l">
              <a:spcBef>
                <a:spcPts val="0"/>
              </a:spcBef>
              <a:spcAft>
                <a:spcPts val="0"/>
              </a:spcAft>
              <a:buNone/>
            </a:pPr>
            <a:r>
              <a:t/>
            </a:r>
            <a:endParaRPr sz="3200">
              <a:solidFill>
                <a:schemeClr val="dk1"/>
              </a:solidFill>
              <a:latin typeface="Saira"/>
              <a:ea typeface="Saira"/>
              <a:cs typeface="Saira"/>
              <a:sym typeface="Saira"/>
            </a:endParaRPr>
          </a:p>
        </p:txBody>
      </p:sp>
      <p:sp>
        <p:nvSpPr>
          <p:cNvPr id="332" name="Google Shape;332;g1f3aa79e631_0_129"/>
          <p:cNvSpPr/>
          <p:nvPr/>
        </p:nvSpPr>
        <p:spPr>
          <a:xfrm rot="-5400000">
            <a:off x="7811825" y="4939600"/>
            <a:ext cx="312900" cy="1459200"/>
          </a:xfrm>
          <a:prstGeom prst="leftBrace">
            <a:avLst>
              <a:gd fmla="val 50000" name="adj1"/>
              <a:gd fmla="val 50000" name="adj2"/>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3" name="Google Shape;333;g1f3aa79e631_0_129"/>
          <p:cNvSpPr txBox="1"/>
          <p:nvPr/>
        </p:nvSpPr>
        <p:spPr>
          <a:xfrm>
            <a:off x="7335575" y="5722625"/>
            <a:ext cx="226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800">
                <a:solidFill>
                  <a:srgbClr val="FF0000"/>
                </a:solidFill>
                <a:latin typeface="Saira SemiBold"/>
                <a:ea typeface="Saira SemiBold"/>
                <a:cs typeface="Saira SemiBold"/>
                <a:sym typeface="Saira SemiBold"/>
              </a:rPr>
              <a:t>Castear</a:t>
            </a:r>
            <a:endParaRPr sz="2800">
              <a:solidFill>
                <a:srgbClr val="FF0000"/>
              </a:solidFill>
              <a:latin typeface="Saira SemiBold"/>
              <a:ea typeface="Saira SemiBold"/>
              <a:cs typeface="Saira SemiBold"/>
              <a:sym typeface="Saira SemiBold"/>
            </a:endParaRPr>
          </a:p>
        </p:txBody>
      </p:sp>
      <p:sp>
        <p:nvSpPr>
          <p:cNvPr id="334" name="Google Shape;334;g1f3aa79e631_0_129"/>
          <p:cNvSpPr/>
          <p:nvPr/>
        </p:nvSpPr>
        <p:spPr>
          <a:xfrm>
            <a:off x="6741275" y="4789300"/>
            <a:ext cx="497400" cy="485700"/>
          </a:xfrm>
          <a:prstGeom prst="ellipse">
            <a:avLst/>
          </a:prstGeom>
          <a:noFill/>
          <a:ln cap="flat" cmpd="sng" w="3810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5" name="Google Shape;335;g1f3aa79e631_0_129"/>
          <p:cNvSpPr txBox="1"/>
          <p:nvPr/>
        </p:nvSpPr>
        <p:spPr>
          <a:xfrm>
            <a:off x="6968825" y="415692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800">
                <a:solidFill>
                  <a:srgbClr val="0000FF"/>
                </a:solidFill>
                <a:latin typeface="Saira SemiBold"/>
                <a:ea typeface="Saira SemiBold"/>
                <a:cs typeface="Saira SemiBold"/>
                <a:sym typeface="Saira SemiBold"/>
              </a:rPr>
              <a:t>D</a:t>
            </a:r>
            <a:r>
              <a:rPr lang="es-AR" sz="2800">
                <a:solidFill>
                  <a:srgbClr val="0000FF"/>
                </a:solidFill>
                <a:latin typeface="Saira SemiBold"/>
                <a:ea typeface="Saira SemiBold"/>
                <a:cs typeface="Saira SemiBold"/>
                <a:sym typeface="Saira SemiBold"/>
              </a:rPr>
              <a:t>esreferenciar </a:t>
            </a:r>
            <a:endParaRPr sz="2800">
              <a:solidFill>
                <a:srgbClr val="0000FF"/>
              </a:solidFill>
              <a:latin typeface="Saira SemiBold"/>
              <a:ea typeface="Saira SemiBold"/>
              <a:cs typeface="Saira SemiBold"/>
              <a:sym typeface="Saira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1f3aa79e631_0_152"/>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41" name="Google Shape;341;g1f3aa79e631_0_152"/>
          <p:cNvPicPr preferRelativeResize="0"/>
          <p:nvPr/>
        </p:nvPicPr>
        <p:blipFill rotWithShape="1">
          <a:blip r:embed="rId3">
            <a:alphaModFix/>
          </a:blip>
          <a:srcRect b="30674" l="23551" r="22740" t="29909"/>
          <a:stretch/>
        </p:blipFill>
        <p:spPr>
          <a:xfrm>
            <a:off x="8791460" y="390327"/>
            <a:ext cx="2959467" cy="1085934"/>
          </a:xfrm>
          <a:prstGeom prst="rect">
            <a:avLst/>
          </a:prstGeom>
          <a:noFill/>
          <a:ln>
            <a:noFill/>
          </a:ln>
        </p:spPr>
      </p:pic>
      <p:sp>
        <p:nvSpPr>
          <p:cNvPr id="342" name="Google Shape;342;g1f3aa79e631_0_152"/>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43" name="Google Shape;343;g1f3aa79e631_0_152"/>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344" name="Google Shape;344;g1f3aa79e631_0_152"/>
          <p:cNvSpPr txBox="1"/>
          <p:nvPr/>
        </p:nvSpPr>
        <p:spPr>
          <a:xfrm>
            <a:off x="319450" y="1747250"/>
            <a:ext cx="4895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FF0000"/>
                </a:solidFill>
                <a:latin typeface="Saira Medium"/>
                <a:ea typeface="Saira Medium"/>
                <a:cs typeface="Saira Medium"/>
                <a:sym typeface="Saira Medium"/>
              </a:rPr>
              <a:t>Imprimir dirección</a:t>
            </a:r>
            <a:endParaRPr i="0" sz="3000" u="none" cap="none" strike="noStrike">
              <a:solidFill>
                <a:srgbClr val="FF0000"/>
              </a:solidFill>
              <a:latin typeface="Saira Medium"/>
              <a:ea typeface="Saira Medium"/>
              <a:cs typeface="Saira Medium"/>
              <a:sym typeface="Saira Medium"/>
            </a:endParaRPr>
          </a:p>
        </p:txBody>
      </p:sp>
      <p:sp>
        <p:nvSpPr>
          <p:cNvPr id="345" name="Google Shape;345;g1f3aa79e631_0_152"/>
          <p:cNvSpPr txBox="1"/>
          <p:nvPr/>
        </p:nvSpPr>
        <p:spPr>
          <a:xfrm>
            <a:off x="404700" y="2308500"/>
            <a:ext cx="110835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2100">
                <a:solidFill>
                  <a:schemeClr val="dk1"/>
                </a:solidFill>
                <a:latin typeface="Saira"/>
                <a:ea typeface="Saira"/>
                <a:cs typeface="Saira"/>
                <a:sym typeface="Saira"/>
              </a:rPr>
              <a:t>Podemos imprimir la dirección a la que apunta p de la siguiente manera.</a:t>
            </a:r>
            <a:endParaRPr sz="21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t/>
            </a:r>
            <a:endParaRPr sz="1800">
              <a:solidFill>
                <a:schemeClr val="dk1"/>
              </a:solidFill>
              <a:latin typeface="Saira"/>
              <a:ea typeface="Saira"/>
              <a:cs typeface="Saira"/>
              <a:sym typeface="Saira"/>
            </a:endParaRPr>
          </a:p>
        </p:txBody>
      </p:sp>
      <p:sp>
        <p:nvSpPr>
          <p:cNvPr id="346" name="Google Shape;346;g1f3aa79e631_0_152"/>
          <p:cNvSpPr txBox="1"/>
          <p:nvPr/>
        </p:nvSpPr>
        <p:spPr>
          <a:xfrm>
            <a:off x="3457750" y="3202525"/>
            <a:ext cx="69411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3200">
                <a:solidFill>
                  <a:srgbClr val="FF0000"/>
                </a:solidFill>
                <a:latin typeface="Saira"/>
                <a:ea typeface="Saira"/>
                <a:cs typeface="Saira"/>
                <a:sym typeface="Saira"/>
              </a:rPr>
              <a:t>int </a:t>
            </a:r>
            <a:r>
              <a:rPr lang="es-AR" sz="3200">
                <a:solidFill>
                  <a:schemeClr val="dk1"/>
                </a:solidFill>
                <a:latin typeface="Saira"/>
                <a:ea typeface="Saira"/>
                <a:cs typeface="Saira"/>
                <a:sym typeface="Saira"/>
              </a:rPr>
              <a:t>*p;</a:t>
            </a:r>
            <a:endParaRPr sz="3200">
              <a:solidFill>
                <a:schemeClr val="dk1"/>
              </a:solidFill>
              <a:latin typeface="Saira"/>
              <a:ea typeface="Saira"/>
              <a:cs typeface="Saira"/>
              <a:sym typeface="Saira"/>
            </a:endParaRPr>
          </a:p>
          <a:p>
            <a:pPr indent="0" lvl="0" marL="0" rtl="0" algn="l">
              <a:spcBef>
                <a:spcPts val="0"/>
              </a:spcBef>
              <a:spcAft>
                <a:spcPts val="0"/>
              </a:spcAft>
              <a:buNone/>
            </a:pPr>
            <a:r>
              <a:rPr lang="es-AR" sz="3200">
                <a:solidFill>
                  <a:srgbClr val="FF0000"/>
                </a:solidFill>
                <a:latin typeface="Saira"/>
                <a:ea typeface="Saira"/>
                <a:cs typeface="Saira"/>
                <a:sym typeface="Saira"/>
              </a:rPr>
              <a:t>int </a:t>
            </a:r>
            <a:r>
              <a:rPr lang="es-AR" sz="3200">
                <a:solidFill>
                  <a:schemeClr val="dk1"/>
                </a:solidFill>
                <a:latin typeface="Saira"/>
                <a:ea typeface="Saira"/>
                <a:cs typeface="Saira"/>
                <a:sym typeface="Saira"/>
              </a:rPr>
              <a:t>edad=23;</a:t>
            </a:r>
            <a:endParaRPr sz="3200">
              <a:solidFill>
                <a:schemeClr val="dk1"/>
              </a:solidFill>
              <a:latin typeface="Saira"/>
              <a:ea typeface="Saira"/>
              <a:cs typeface="Saira"/>
              <a:sym typeface="Saira"/>
            </a:endParaRPr>
          </a:p>
          <a:p>
            <a:pPr indent="0" lvl="0" marL="0" rtl="0" algn="l">
              <a:spcBef>
                <a:spcPts val="0"/>
              </a:spcBef>
              <a:spcAft>
                <a:spcPts val="0"/>
              </a:spcAft>
              <a:buNone/>
            </a:pPr>
            <a:r>
              <a:rPr lang="es-AR" sz="3200">
                <a:solidFill>
                  <a:schemeClr val="dk1"/>
                </a:solidFill>
                <a:latin typeface="Saira"/>
                <a:ea typeface="Saira"/>
                <a:cs typeface="Saira"/>
                <a:sym typeface="Saira"/>
              </a:rPr>
              <a:t>p=</a:t>
            </a:r>
            <a:r>
              <a:rPr lang="es-AR" sz="3200">
                <a:solidFill>
                  <a:schemeClr val="dk1"/>
                </a:solidFill>
              </a:rPr>
              <a:t>&amp;</a:t>
            </a:r>
            <a:r>
              <a:rPr lang="es-AR" sz="3200">
                <a:solidFill>
                  <a:schemeClr val="dk1"/>
                </a:solidFill>
                <a:latin typeface="Saira"/>
                <a:ea typeface="Saira"/>
                <a:cs typeface="Saira"/>
                <a:sym typeface="Saira"/>
              </a:rPr>
              <a:t>edad;</a:t>
            </a:r>
            <a:endParaRPr sz="3200">
              <a:solidFill>
                <a:schemeClr val="dk1"/>
              </a:solidFill>
              <a:latin typeface="Saira"/>
              <a:ea typeface="Saira"/>
              <a:cs typeface="Saira"/>
              <a:sym typeface="Saira"/>
            </a:endParaRPr>
          </a:p>
          <a:p>
            <a:pPr indent="0" lvl="0" marL="0" rtl="0" algn="l">
              <a:spcBef>
                <a:spcPts val="0"/>
              </a:spcBef>
              <a:spcAft>
                <a:spcPts val="0"/>
              </a:spcAft>
              <a:buNone/>
            </a:pPr>
            <a:r>
              <a:rPr lang="es-AR" sz="3200">
                <a:solidFill>
                  <a:schemeClr val="dk1"/>
                </a:solidFill>
                <a:latin typeface="Saira"/>
                <a:ea typeface="Saira"/>
                <a:cs typeface="Saira"/>
                <a:sym typeface="Saira"/>
              </a:rPr>
              <a:t>printf(“%p”,p);</a:t>
            </a:r>
            <a:endParaRPr sz="3200">
              <a:solidFill>
                <a:schemeClr val="dk1"/>
              </a:solidFill>
              <a:latin typeface="Saira"/>
              <a:ea typeface="Saira"/>
              <a:cs typeface="Saira"/>
              <a:sym typeface="Saira"/>
            </a:endParaRPr>
          </a:p>
          <a:p>
            <a:pPr indent="0" lvl="0" marL="0" rtl="0" algn="l">
              <a:spcBef>
                <a:spcPts val="0"/>
              </a:spcBef>
              <a:spcAft>
                <a:spcPts val="0"/>
              </a:spcAft>
              <a:buNone/>
            </a:pPr>
            <a:r>
              <a:t/>
            </a:r>
            <a:endParaRPr sz="3200">
              <a:solidFill>
                <a:schemeClr val="dk1"/>
              </a:solidFill>
              <a:latin typeface="Saira"/>
              <a:ea typeface="Saira"/>
              <a:cs typeface="Saira"/>
              <a:sym typeface="Saira"/>
            </a:endParaRPr>
          </a:p>
        </p:txBody>
      </p:sp>
      <p:sp>
        <p:nvSpPr>
          <p:cNvPr id="347" name="Google Shape;347;g1f3aa79e631_0_152"/>
          <p:cNvSpPr txBox="1"/>
          <p:nvPr/>
        </p:nvSpPr>
        <p:spPr>
          <a:xfrm>
            <a:off x="6920175" y="3214550"/>
            <a:ext cx="4280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600">
                <a:solidFill>
                  <a:srgbClr val="0070C0"/>
                </a:solidFill>
                <a:latin typeface="Saira"/>
                <a:ea typeface="Saira"/>
                <a:cs typeface="Saira"/>
                <a:sym typeface="Saira"/>
              </a:rPr>
              <a:t>%p</a:t>
            </a:r>
            <a:r>
              <a:rPr lang="es-AR" sz="2600">
                <a:solidFill>
                  <a:schemeClr val="dk1"/>
                </a:solidFill>
                <a:latin typeface="Saira"/>
                <a:ea typeface="Saira"/>
                <a:cs typeface="Saira"/>
                <a:sym typeface="Saira"/>
              </a:rPr>
              <a:t> imprime la dirección de m</a:t>
            </a:r>
            <a:r>
              <a:rPr lang="es-AR" sz="2600">
                <a:solidFill>
                  <a:schemeClr val="dk1"/>
                </a:solidFill>
                <a:latin typeface="Saira"/>
                <a:ea typeface="Saira"/>
                <a:cs typeface="Saira"/>
                <a:sym typeface="Saira"/>
              </a:rPr>
              <a:t>emoria </a:t>
            </a:r>
            <a:r>
              <a:rPr lang="es-AR" sz="2600">
                <a:solidFill>
                  <a:schemeClr val="dk1"/>
                </a:solidFill>
                <a:latin typeface="Saira"/>
                <a:ea typeface="Saira"/>
                <a:cs typeface="Saira"/>
                <a:sym typeface="Saira"/>
              </a:rPr>
              <a:t>en hexadecimal</a:t>
            </a:r>
            <a:endParaRPr sz="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1f2ed7125a1_0_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53" name="Google Shape;353;g1f2ed7125a1_0_0"/>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354" name="Google Shape;354;g1f2ed7125a1_0_0"/>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55" name="Google Shape;355;g1f2ed7125a1_0_0"/>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356" name="Google Shape;356;g1f2ed7125a1_0_0"/>
          <p:cNvSpPr txBox="1"/>
          <p:nvPr/>
        </p:nvSpPr>
        <p:spPr>
          <a:xfrm>
            <a:off x="319450" y="1850575"/>
            <a:ext cx="6471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3000"/>
              <a:buFont typeface="Arial"/>
              <a:buNone/>
            </a:pPr>
            <a:r>
              <a:rPr lang="es-AR" sz="3000">
                <a:solidFill>
                  <a:srgbClr val="0000FF"/>
                </a:solidFill>
                <a:latin typeface="Saira Medium"/>
                <a:ea typeface="Saira Medium"/>
                <a:cs typeface="Saira Medium"/>
                <a:sym typeface="Saira Medium"/>
              </a:rPr>
              <a:t>Puntero del puntero del puntero…</a:t>
            </a:r>
            <a:endParaRPr sz="3000">
              <a:solidFill>
                <a:srgbClr val="0000FF"/>
              </a:solidFill>
              <a:latin typeface="Saira Medium"/>
              <a:ea typeface="Saira Medium"/>
              <a:cs typeface="Saira Medium"/>
              <a:sym typeface="Saira Medium"/>
            </a:endParaRPr>
          </a:p>
        </p:txBody>
      </p:sp>
      <p:sp>
        <p:nvSpPr>
          <p:cNvPr id="357" name="Google Shape;357;g1f2ed7125a1_0_0"/>
          <p:cNvSpPr txBox="1"/>
          <p:nvPr/>
        </p:nvSpPr>
        <p:spPr>
          <a:xfrm>
            <a:off x="319450" y="2618525"/>
            <a:ext cx="9778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200">
                <a:solidFill>
                  <a:srgbClr val="0D0D0D"/>
                </a:solidFill>
                <a:highlight>
                  <a:srgbClr val="FFFFFF"/>
                </a:highlight>
                <a:latin typeface="Saira"/>
                <a:ea typeface="Saira"/>
                <a:cs typeface="Saira"/>
                <a:sym typeface="Saira"/>
              </a:rPr>
              <a:t>Un puntero a un puntero, a menudo llamado puntero doble. </a:t>
            </a:r>
            <a:endParaRPr sz="2200">
              <a:solidFill>
                <a:schemeClr val="dk1"/>
              </a:solidFill>
              <a:latin typeface="Saira"/>
              <a:ea typeface="Saira"/>
              <a:cs typeface="Saira"/>
              <a:sym typeface="Saira"/>
            </a:endParaRPr>
          </a:p>
        </p:txBody>
      </p:sp>
      <p:sp>
        <p:nvSpPr>
          <p:cNvPr id="358" name="Google Shape;358;g1f2ed7125a1_0_0"/>
          <p:cNvSpPr txBox="1"/>
          <p:nvPr/>
        </p:nvSpPr>
        <p:spPr>
          <a:xfrm>
            <a:off x="476250" y="3333750"/>
            <a:ext cx="9513000" cy="266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300">
                <a:latin typeface="Saira"/>
                <a:ea typeface="Saira"/>
                <a:cs typeface="Saira"/>
                <a:sym typeface="Saira"/>
              </a:rPr>
              <a:t>    </a:t>
            </a:r>
            <a:r>
              <a:rPr lang="es-AR" sz="2300">
                <a:solidFill>
                  <a:srgbClr val="FF0000"/>
                </a:solidFill>
                <a:latin typeface="Saira"/>
                <a:ea typeface="Saira"/>
                <a:cs typeface="Saira"/>
                <a:sym typeface="Saira"/>
              </a:rPr>
              <a:t>int</a:t>
            </a:r>
            <a:r>
              <a:rPr lang="es-AR" sz="2300">
                <a:latin typeface="Saira"/>
                <a:ea typeface="Saira"/>
                <a:cs typeface="Saira"/>
                <a:sym typeface="Saira"/>
              </a:rPr>
              <a:t> x = 10;</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    </a:t>
            </a:r>
            <a:r>
              <a:rPr lang="es-AR" sz="2300">
                <a:solidFill>
                  <a:srgbClr val="FF0000"/>
                </a:solidFill>
                <a:latin typeface="Saira"/>
                <a:ea typeface="Saira"/>
                <a:cs typeface="Saira"/>
                <a:sym typeface="Saira"/>
              </a:rPr>
              <a:t>int</a:t>
            </a:r>
            <a:r>
              <a:rPr lang="es-AR" sz="2300">
                <a:latin typeface="Saira"/>
                <a:ea typeface="Saira"/>
                <a:cs typeface="Saira"/>
                <a:sym typeface="Saira"/>
              </a:rPr>
              <a:t> *ptr1 = </a:t>
            </a:r>
            <a:r>
              <a:rPr lang="es-AR" sz="2300"/>
              <a:t>&amp;</a:t>
            </a:r>
            <a:r>
              <a:rPr lang="es-AR" sz="2300">
                <a:latin typeface="Saira"/>
                <a:ea typeface="Saira"/>
                <a:cs typeface="Saira"/>
                <a:sym typeface="Saira"/>
              </a:rPr>
              <a:t>x; </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    </a:t>
            </a:r>
            <a:r>
              <a:rPr lang="es-AR" sz="2300">
                <a:solidFill>
                  <a:srgbClr val="FF0000"/>
                </a:solidFill>
                <a:latin typeface="Saira"/>
                <a:ea typeface="Saira"/>
                <a:cs typeface="Saira"/>
                <a:sym typeface="Saira"/>
              </a:rPr>
              <a:t>int</a:t>
            </a:r>
            <a:r>
              <a:rPr lang="es-AR" sz="2300">
                <a:latin typeface="Saira"/>
                <a:ea typeface="Saira"/>
                <a:cs typeface="Saira"/>
                <a:sym typeface="Saira"/>
              </a:rPr>
              <a:t> **ptr2 = </a:t>
            </a:r>
            <a:r>
              <a:rPr lang="es-AR" sz="2300"/>
              <a:t>&amp;</a:t>
            </a:r>
            <a:r>
              <a:rPr lang="es-AR" sz="2300">
                <a:latin typeface="Saira"/>
                <a:ea typeface="Saira"/>
                <a:cs typeface="Saira"/>
                <a:sym typeface="Saira"/>
              </a:rPr>
              <a:t>ptr1; </a:t>
            </a:r>
            <a:endParaRPr sz="2300">
              <a:latin typeface="Saira"/>
              <a:ea typeface="Saira"/>
              <a:cs typeface="Saira"/>
              <a:sym typeface="Saira"/>
            </a:endParaRPr>
          </a:p>
          <a:p>
            <a:pPr indent="0" lvl="0" marL="0" rtl="0" algn="l">
              <a:spcBef>
                <a:spcPts val="0"/>
              </a:spcBef>
              <a:spcAft>
                <a:spcPts val="0"/>
              </a:spcAft>
              <a:buNone/>
            </a:pPr>
            <a:r>
              <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    printf("El valor de x es: %d\n", x);</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    printf("El valor al que apunta ptr1 es: %d\n", *ptr1);</a:t>
            </a:r>
            <a:endParaRPr sz="2300">
              <a:latin typeface="Saira"/>
              <a:ea typeface="Saira"/>
              <a:cs typeface="Saira"/>
              <a:sym typeface="Saira"/>
            </a:endParaRPr>
          </a:p>
          <a:p>
            <a:pPr indent="0" lvl="0" marL="0" rtl="0" algn="l">
              <a:spcBef>
                <a:spcPts val="0"/>
              </a:spcBef>
              <a:spcAft>
                <a:spcPts val="0"/>
              </a:spcAft>
              <a:buNone/>
            </a:pPr>
            <a:r>
              <a:rPr lang="es-AR" sz="2300">
                <a:latin typeface="Saira"/>
                <a:ea typeface="Saira"/>
                <a:cs typeface="Saira"/>
                <a:sym typeface="Saira"/>
              </a:rPr>
              <a:t>    printf("El valor al que apunta ptr2 es: %d\n", **ptr2);</a:t>
            </a:r>
            <a:endParaRPr sz="2300">
              <a:latin typeface="Saira"/>
              <a:ea typeface="Saira"/>
              <a:cs typeface="Saira"/>
              <a:sym typeface="Saira"/>
            </a:endParaRPr>
          </a:p>
        </p:txBody>
      </p:sp>
      <p:pic>
        <p:nvPicPr>
          <p:cNvPr id="359" name="Google Shape;359;g1f2ed7125a1_0_0"/>
          <p:cNvPicPr preferRelativeResize="0"/>
          <p:nvPr/>
        </p:nvPicPr>
        <p:blipFill>
          <a:blip r:embed="rId5">
            <a:alphaModFix/>
          </a:blip>
          <a:stretch>
            <a:fillRect/>
          </a:stretch>
        </p:blipFill>
        <p:spPr>
          <a:xfrm>
            <a:off x="7833825" y="3227849"/>
            <a:ext cx="3202650" cy="2176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1f2ed7125a1_0_13"/>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65" name="Google Shape;365;g1f2ed7125a1_0_13"/>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366" name="Google Shape;366;g1f2ed7125a1_0_13"/>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67" name="Google Shape;367;g1f2ed7125a1_0_13"/>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368" name="Google Shape;368;g1f2ed7125a1_0_13"/>
          <p:cNvSpPr txBox="1"/>
          <p:nvPr/>
        </p:nvSpPr>
        <p:spPr>
          <a:xfrm>
            <a:off x="319450" y="1747250"/>
            <a:ext cx="7302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3000">
                <a:solidFill>
                  <a:srgbClr val="0000FF"/>
                </a:solidFill>
                <a:latin typeface="Saira Medium"/>
                <a:ea typeface="Saira Medium"/>
                <a:cs typeface="Saira Medium"/>
                <a:sym typeface="Saira Medium"/>
              </a:rPr>
              <a:t>Aritmética</a:t>
            </a:r>
            <a:r>
              <a:rPr lang="es-AR" sz="3000">
                <a:solidFill>
                  <a:srgbClr val="0000FF"/>
                </a:solidFill>
                <a:latin typeface="Saira Medium"/>
                <a:ea typeface="Saira Medium"/>
                <a:cs typeface="Saira Medium"/>
                <a:sym typeface="Saira Medium"/>
              </a:rPr>
              <a:t> de punteros</a:t>
            </a:r>
            <a:endParaRPr sz="3000">
              <a:solidFill>
                <a:schemeClr val="dk1"/>
              </a:solidFill>
              <a:latin typeface="Saira"/>
              <a:ea typeface="Saira"/>
              <a:cs typeface="Saira"/>
              <a:sym typeface="Saira"/>
            </a:endParaRPr>
          </a:p>
        </p:txBody>
      </p:sp>
      <p:sp>
        <p:nvSpPr>
          <p:cNvPr id="369" name="Google Shape;369;g1f2ed7125a1_0_13"/>
          <p:cNvSpPr txBox="1"/>
          <p:nvPr/>
        </p:nvSpPr>
        <p:spPr>
          <a:xfrm>
            <a:off x="573000" y="2602000"/>
            <a:ext cx="2959500" cy="25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AR" sz="3400">
                <a:solidFill>
                  <a:srgbClr val="FF0000"/>
                </a:solidFill>
                <a:latin typeface="Saira"/>
                <a:ea typeface="Saira"/>
                <a:cs typeface="Saira"/>
                <a:sym typeface="Saira"/>
              </a:rPr>
              <a:t>int </a:t>
            </a:r>
            <a:r>
              <a:rPr lang="es-AR" sz="3400">
                <a:solidFill>
                  <a:schemeClr val="dk1"/>
                </a:solidFill>
                <a:latin typeface="Saira"/>
                <a:ea typeface="Saira"/>
                <a:cs typeface="Saira"/>
                <a:sym typeface="Saira"/>
              </a:rPr>
              <a:t>n=4;</a:t>
            </a:r>
            <a:endParaRPr sz="3400">
              <a:solidFill>
                <a:schemeClr val="dk1"/>
              </a:solidFill>
              <a:latin typeface="Saira"/>
              <a:ea typeface="Saira"/>
              <a:cs typeface="Saira"/>
              <a:sym typeface="Saira"/>
            </a:endParaRPr>
          </a:p>
          <a:p>
            <a:pPr indent="0" lvl="0" marL="0" rtl="0" algn="l">
              <a:spcBef>
                <a:spcPts val="0"/>
              </a:spcBef>
              <a:spcAft>
                <a:spcPts val="0"/>
              </a:spcAft>
              <a:buNone/>
            </a:pPr>
            <a:r>
              <a:rPr lang="es-AR" sz="3400">
                <a:solidFill>
                  <a:srgbClr val="FF0000"/>
                </a:solidFill>
                <a:latin typeface="Saira"/>
                <a:ea typeface="Saira"/>
                <a:cs typeface="Saira"/>
                <a:sym typeface="Saira"/>
              </a:rPr>
              <a:t>int </a:t>
            </a:r>
            <a:r>
              <a:rPr lang="es-AR" sz="3400">
                <a:solidFill>
                  <a:schemeClr val="dk1"/>
                </a:solidFill>
                <a:latin typeface="Saira"/>
                <a:ea typeface="Saira"/>
                <a:cs typeface="Saira"/>
                <a:sym typeface="Saira"/>
              </a:rPr>
              <a:t>*p;</a:t>
            </a:r>
            <a:endParaRPr sz="3400">
              <a:solidFill>
                <a:schemeClr val="dk1"/>
              </a:solidFill>
              <a:latin typeface="Saira"/>
              <a:ea typeface="Saira"/>
              <a:cs typeface="Saira"/>
              <a:sym typeface="Saira"/>
            </a:endParaRPr>
          </a:p>
          <a:p>
            <a:pPr indent="0" lvl="0" marL="0" rtl="0" algn="l">
              <a:spcBef>
                <a:spcPts val="0"/>
              </a:spcBef>
              <a:spcAft>
                <a:spcPts val="0"/>
              </a:spcAft>
              <a:buNone/>
            </a:pPr>
            <a:r>
              <a:rPr lang="es-AR" sz="3400">
                <a:solidFill>
                  <a:schemeClr val="dk1"/>
                </a:solidFill>
                <a:latin typeface="Saira"/>
                <a:ea typeface="Saira"/>
                <a:cs typeface="Saira"/>
                <a:sym typeface="Saira"/>
              </a:rPr>
              <a:t>p=</a:t>
            </a:r>
            <a:r>
              <a:rPr lang="es-AR" sz="3400">
                <a:solidFill>
                  <a:schemeClr val="dk1"/>
                </a:solidFill>
              </a:rPr>
              <a:t>&amp;</a:t>
            </a:r>
            <a:r>
              <a:rPr lang="es-AR" sz="3400">
                <a:solidFill>
                  <a:schemeClr val="dk1"/>
                </a:solidFill>
                <a:latin typeface="Saira"/>
                <a:ea typeface="Saira"/>
                <a:cs typeface="Saira"/>
                <a:sym typeface="Saira"/>
              </a:rPr>
              <a:t>n;</a:t>
            </a:r>
            <a:endParaRPr sz="3400">
              <a:solidFill>
                <a:schemeClr val="dk1"/>
              </a:solidFill>
              <a:latin typeface="Saira"/>
              <a:ea typeface="Saira"/>
              <a:cs typeface="Saira"/>
              <a:sym typeface="Saira"/>
            </a:endParaRPr>
          </a:p>
          <a:p>
            <a:pPr indent="0" lvl="0" marL="0" rtl="0" algn="l">
              <a:spcBef>
                <a:spcPts val="0"/>
              </a:spcBef>
              <a:spcAft>
                <a:spcPts val="0"/>
              </a:spcAft>
              <a:buNone/>
            </a:pPr>
            <a:r>
              <a:rPr lang="es-AR" sz="3400">
                <a:solidFill>
                  <a:schemeClr val="dk1"/>
                </a:solidFill>
                <a:latin typeface="Saira"/>
                <a:ea typeface="Saira"/>
                <a:cs typeface="Saira"/>
                <a:sym typeface="Saira"/>
              </a:rPr>
              <a:t>p=p+1;</a:t>
            </a:r>
            <a:endParaRPr sz="3400">
              <a:solidFill>
                <a:schemeClr val="dk1"/>
              </a:solidFill>
              <a:latin typeface="Saira"/>
              <a:ea typeface="Saira"/>
              <a:cs typeface="Saira"/>
              <a:sym typeface="Saira"/>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370" name="Google Shape;370;g1f2ed7125a1_0_13"/>
          <p:cNvPicPr preferRelativeResize="0"/>
          <p:nvPr/>
        </p:nvPicPr>
        <p:blipFill>
          <a:blip r:embed="rId5">
            <a:alphaModFix/>
          </a:blip>
          <a:stretch>
            <a:fillRect/>
          </a:stretch>
        </p:blipFill>
        <p:spPr>
          <a:xfrm>
            <a:off x="3684900" y="2546150"/>
            <a:ext cx="7199174" cy="29604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1f3aa79e631_0_18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76" name="Google Shape;376;g1f3aa79e631_0_180"/>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377" name="Google Shape;377;g1f3aa79e631_0_180"/>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78" name="Google Shape;378;g1f3aa79e631_0_180"/>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379" name="Google Shape;379;g1f3aa79e631_0_180"/>
          <p:cNvSpPr txBox="1"/>
          <p:nvPr/>
        </p:nvSpPr>
        <p:spPr>
          <a:xfrm>
            <a:off x="319450" y="1747250"/>
            <a:ext cx="7302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3000">
                <a:solidFill>
                  <a:srgbClr val="0000FF"/>
                </a:solidFill>
                <a:latin typeface="Saira Medium"/>
                <a:ea typeface="Saira Medium"/>
                <a:cs typeface="Saira Medium"/>
                <a:sym typeface="Saira Medium"/>
              </a:rPr>
              <a:t>Aritmética de punteros</a:t>
            </a:r>
            <a:endParaRPr sz="3000">
              <a:solidFill>
                <a:schemeClr val="dk1"/>
              </a:solidFill>
              <a:latin typeface="Saira"/>
              <a:ea typeface="Saira"/>
              <a:cs typeface="Saira"/>
              <a:sym typeface="Saira"/>
            </a:endParaRPr>
          </a:p>
        </p:txBody>
      </p:sp>
      <p:sp>
        <p:nvSpPr>
          <p:cNvPr id="380" name="Google Shape;380;g1f3aa79e631_0_180"/>
          <p:cNvSpPr txBox="1"/>
          <p:nvPr/>
        </p:nvSpPr>
        <p:spPr>
          <a:xfrm>
            <a:off x="573000" y="2602000"/>
            <a:ext cx="2959500" cy="25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AR" sz="3400">
                <a:solidFill>
                  <a:srgbClr val="FF0000"/>
                </a:solidFill>
                <a:latin typeface="Saira"/>
                <a:ea typeface="Saira"/>
                <a:cs typeface="Saira"/>
                <a:sym typeface="Saira"/>
              </a:rPr>
              <a:t>int </a:t>
            </a:r>
            <a:r>
              <a:rPr lang="es-AR" sz="3400">
                <a:solidFill>
                  <a:schemeClr val="dk1"/>
                </a:solidFill>
                <a:latin typeface="Saira"/>
                <a:ea typeface="Saira"/>
                <a:cs typeface="Saira"/>
                <a:sym typeface="Saira"/>
              </a:rPr>
              <a:t>n=4;</a:t>
            </a:r>
            <a:endParaRPr sz="3400">
              <a:solidFill>
                <a:schemeClr val="dk1"/>
              </a:solidFill>
              <a:latin typeface="Saira"/>
              <a:ea typeface="Saira"/>
              <a:cs typeface="Saira"/>
              <a:sym typeface="Saira"/>
            </a:endParaRPr>
          </a:p>
          <a:p>
            <a:pPr indent="0" lvl="0" marL="0" rtl="0" algn="l">
              <a:spcBef>
                <a:spcPts val="0"/>
              </a:spcBef>
              <a:spcAft>
                <a:spcPts val="0"/>
              </a:spcAft>
              <a:buNone/>
            </a:pPr>
            <a:r>
              <a:rPr lang="es-AR" sz="3400">
                <a:solidFill>
                  <a:srgbClr val="FF0000"/>
                </a:solidFill>
                <a:latin typeface="Saira"/>
                <a:ea typeface="Saira"/>
                <a:cs typeface="Saira"/>
                <a:sym typeface="Saira"/>
              </a:rPr>
              <a:t>int </a:t>
            </a:r>
            <a:r>
              <a:rPr lang="es-AR" sz="3400">
                <a:solidFill>
                  <a:schemeClr val="dk1"/>
                </a:solidFill>
                <a:latin typeface="Saira"/>
                <a:ea typeface="Saira"/>
                <a:cs typeface="Saira"/>
                <a:sym typeface="Saira"/>
              </a:rPr>
              <a:t>*</a:t>
            </a:r>
            <a:r>
              <a:rPr lang="es-AR" sz="3400">
                <a:solidFill>
                  <a:schemeClr val="dk1"/>
                </a:solidFill>
                <a:latin typeface="Saira"/>
                <a:ea typeface="Saira"/>
                <a:cs typeface="Saira"/>
                <a:sym typeface="Saira"/>
              </a:rPr>
              <a:t>p;</a:t>
            </a:r>
            <a:endParaRPr sz="3400">
              <a:solidFill>
                <a:schemeClr val="dk1"/>
              </a:solidFill>
              <a:latin typeface="Saira"/>
              <a:ea typeface="Saira"/>
              <a:cs typeface="Saira"/>
              <a:sym typeface="Saira"/>
            </a:endParaRPr>
          </a:p>
          <a:p>
            <a:pPr indent="0" lvl="0" marL="0" rtl="0" algn="l">
              <a:spcBef>
                <a:spcPts val="0"/>
              </a:spcBef>
              <a:spcAft>
                <a:spcPts val="0"/>
              </a:spcAft>
              <a:buNone/>
            </a:pPr>
            <a:r>
              <a:rPr lang="es-AR" sz="3400">
                <a:solidFill>
                  <a:schemeClr val="dk1"/>
                </a:solidFill>
                <a:latin typeface="Saira"/>
                <a:ea typeface="Saira"/>
                <a:cs typeface="Saira"/>
                <a:sym typeface="Saira"/>
              </a:rPr>
              <a:t>p=</a:t>
            </a:r>
            <a:r>
              <a:rPr lang="es-AR" sz="3400">
                <a:solidFill>
                  <a:schemeClr val="dk1"/>
                </a:solidFill>
              </a:rPr>
              <a:t>&amp;</a:t>
            </a:r>
            <a:r>
              <a:rPr lang="es-AR" sz="3400">
                <a:solidFill>
                  <a:schemeClr val="dk1"/>
                </a:solidFill>
                <a:latin typeface="Saira"/>
                <a:ea typeface="Saira"/>
                <a:cs typeface="Saira"/>
                <a:sym typeface="Saira"/>
              </a:rPr>
              <a:t>n;</a:t>
            </a:r>
            <a:endParaRPr sz="3400">
              <a:solidFill>
                <a:schemeClr val="dk1"/>
              </a:solidFill>
              <a:latin typeface="Saira"/>
              <a:ea typeface="Saira"/>
              <a:cs typeface="Saira"/>
              <a:sym typeface="Saira"/>
            </a:endParaRPr>
          </a:p>
          <a:p>
            <a:pPr indent="0" lvl="0" marL="0" rtl="0" algn="l">
              <a:spcBef>
                <a:spcPts val="0"/>
              </a:spcBef>
              <a:spcAft>
                <a:spcPts val="0"/>
              </a:spcAft>
              <a:buNone/>
            </a:pPr>
            <a:r>
              <a:rPr lang="es-AR" sz="3400">
                <a:solidFill>
                  <a:schemeClr val="dk1"/>
                </a:solidFill>
                <a:latin typeface="Saira"/>
                <a:ea typeface="Saira"/>
                <a:cs typeface="Saira"/>
                <a:sym typeface="Saira"/>
              </a:rPr>
              <a:t>p=p+1;</a:t>
            </a:r>
            <a:endParaRPr sz="3400">
              <a:solidFill>
                <a:schemeClr val="dk1"/>
              </a:solidFill>
              <a:latin typeface="Saira"/>
              <a:ea typeface="Saira"/>
              <a:cs typeface="Saira"/>
              <a:sym typeface="Saira"/>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381" name="Google Shape;381;g1f3aa79e631_0_180"/>
          <p:cNvPicPr preferRelativeResize="0"/>
          <p:nvPr/>
        </p:nvPicPr>
        <p:blipFill>
          <a:blip r:embed="rId5">
            <a:alphaModFix/>
          </a:blip>
          <a:stretch>
            <a:fillRect/>
          </a:stretch>
        </p:blipFill>
        <p:spPr>
          <a:xfrm>
            <a:off x="3684900" y="2546150"/>
            <a:ext cx="7199174" cy="30960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1f3aa79e631_0_21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Punteros</a:t>
            </a:r>
            <a:endParaRPr b="0" i="0" sz="5400" u="none" cap="none" strike="noStrike">
              <a:solidFill>
                <a:schemeClr val="dk1"/>
              </a:solidFill>
              <a:latin typeface="Saira"/>
              <a:ea typeface="Saira"/>
              <a:cs typeface="Saira"/>
              <a:sym typeface="Saira"/>
            </a:endParaRPr>
          </a:p>
        </p:txBody>
      </p:sp>
      <p:pic>
        <p:nvPicPr>
          <p:cNvPr id="387" name="Google Shape;387;g1f3aa79e631_0_210"/>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388" name="Google Shape;388;g1f3aa79e631_0_210"/>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89" name="Google Shape;389;g1f3aa79e631_0_210"/>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390" name="Google Shape;390;g1f3aa79e631_0_210"/>
          <p:cNvSpPr txBox="1"/>
          <p:nvPr/>
        </p:nvSpPr>
        <p:spPr>
          <a:xfrm>
            <a:off x="319450" y="1747250"/>
            <a:ext cx="7302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3000">
                <a:solidFill>
                  <a:srgbClr val="0000FF"/>
                </a:solidFill>
                <a:latin typeface="Saira Medium"/>
                <a:ea typeface="Saira Medium"/>
                <a:cs typeface="Saira Medium"/>
                <a:sym typeface="Saira Medium"/>
              </a:rPr>
              <a:t>Aritmética de punteros</a:t>
            </a:r>
            <a:endParaRPr sz="3000">
              <a:solidFill>
                <a:schemeClr val="dk1"/>
              </a:solidFill>
              <a:latin typeface="Saira"/>
              <a:ea typeface="Saira"/>
              <a:cs typeface="Saira"/>
              <a:sym typeface="Saira"/>
            </a:endParaRPr>
          </a:p>
        </p:txBody>
      </p:sp>
      <p:sp>
        <p:nvSpPr>
          <p:cNvPr id="391" name="Google Shape;391;g1f3aa79e631_0_210"/>
          <p:cNvSpPr txBox="1"/>
          <p:nvPr/>
        </p:nvSpPr>
        <p:spPr>
          <a:xfrm>
            <a:off x="612325" y="2715238"/>
            <a:ext cx="83019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rgbClr val="0D0D0D"/>
              </a:buClr>
              <a:buSzPts val="3000"/>
              <a:buFont typeface="Saira"/>
              <a:buChar char="●"/>
            </a:pPr>
            <a:r>
              <a:rPr lang="es-AR" sz="3000">
                <a:solidFill>
                  <a:srgbClr val="FF0000"/>
                </a:solidFill>
                <a:highlight>
                  <a:schemeClr val="lt1"/>
                </a:highlight>
                <a:latin typeface="Saira"/>
                <a:ea typeface="Saira"/>
                <a:cs typeface="Saira"/>
                <a:sym typeface="Saira"/>
              </a:rPr>
              <a:t>int</a:t>
            </a:r>
            <a:r>
              <a:rPr lang="es-AR" sz="3000">
                <a:solidFill>
                  <a:srgbClr val="0D0D0D"/>
                </a:solidFill>
                <a:highlight>
                  <a:schemeClr val="lt1"/>
                </a:highlight>
                <a:latin typeface="Saira"/>
                <a:ea typeface="Saira"/>
                <a:cs typeface="Saira"/>
                <a:sym typeface="Saira"/>
              </a:rPr>
              <a:t>: Avanza 4 Bytes.</a:t>
            </a:r>
            <a:endParaRPr sz="3000">
              <a:solidFill>
                <a:srgbClr val="0D0D0D"/>
              </a:solidFill>
              <a:highlight>
                <a:schemeClr val="lt1"/>
              </a:highlight>
              <a:latin typeface="Saira"/>
              <a:ea typeface="Saira"/>
              <a:cs typeface="Saira"/>
              <a:sym typeface="Saira"/>
            </a:endParaRPr>
          </a:p>
          <a:p>
            <a:pPr indent="-419100" lvl="0" marL="457200" rtl="0" algn="l">
              <a:lnSpc>
                <a:spcPct val="115000"/>
              </a:lnSpc>
              <a:spcBef>
                <a:spcPts val="0"/>
              </a:spcBef>
              <a:spcAft>
                <a:spcPts val="0"/>
              </a:spcAft>
              <a:buClr>
                <a:srgbClr val="0D0D0D"/>
              </a:buClr>
              <a:buSzPts val="3000"/>
              <a:buFont typeface="Saira"/>
              <a:buChar char="●"/>
            </a:pPr>
            <a:r>
              <a:rPr lang="es-AR" sz="3000">
                <a:solidFill>
                  <a:srgbClr val="FF0000"/>
                </a:solidFill>
                <a:highlight>
                  <a:schemeClr val="lt1"/>
                </a:highlight>
                <a:latin typeface="Saira"/>
                <a:ea typeface="Saira"/>
                <a:cs typeface="Saira"/>
                <a:sym typeface="Saira"/>
              </a:rPr>
              <a:t>char</a:t>
            </a:r>
            <a:r>
              <a:rPr lang="es-AR" sz="3000">
                <a:solidFill>
                  <a:srgbClr val="0D0D0D"/>
                </a:solidFill>
                <a:highlight>
                  <a:schemeClr val="lt1"/>
                </a:highlight>
                <a:latin typeface="Saira"/>
                <a:ea typeface="Saira"/>
                <a:cs typeface="Saira"/>
                <a:sym typeface="Saira"/>
              </a:rPr>
              <a:t>: </a:t>
            </a:r>
            <a:r>
              <a:rPr lang="es-AR" sz="3000">
                <a:solidFill>
                  <a:srgbClr val="0D0D0D"/>
                </a:solidFill>
                <a:highlight>
                  <a:schemeClr val="lt1"/>
                </a:highlight>
                <a:latin typeface="Saira"/>
                <a:ea typeface="Saira"/>
                <a:cs typeface="Saira"/>
                <a:sym typeface="Saira"/>
              </a:rPr>
              <a:t>Avanza 1 Bytes</a:t>
            </a:r>
            <a:r>
              <a:rPr lang="es-AR" sz="3000">
                <a:solidFill>
                  <a:srgbClr val="0D0D0D"/>
                </a:solidFill>
                <a:highlight>
                  <a:schemeClr val="lt1"/>
                </a:highlight>
                <a:latin typeface="Saira"/>
                <a:ea typeface="Saira"/>
                <a:cs typeface="Saira"/>
                <a:sym typeface="Saira"/>
              </a:rPr>
              <a:t>.</a:t>
            </a:r>
            <a:endParaRPr sz="3000">
              <a:solidFill>
                <a:srgbClr val="0D0D0D"/>
              </a:solidFill>
              <a:highlight>
                <a:schemeClr val="lt1"/>
              </a:highlight>
              <a:latin typeface="Saira"/>
              <a:ea typeface="Saira"/>
              <a:cs typeface="Saira"/>
              <a:sym typeface="Saira"/>
            </a:endParaRPr>
          </a:p>
          <a:p>
            <a:pPr indent="-419100" lvl="0" marL="457200" rtl="0" algn="l">
              <a:lnSpc>
                <a:spcPct val="115000"/>
              </a:lnSpc>
              <a:spcBef>
                <a:spcPts val="0"/>
              </a:spcBef>
              <a:spcAft>
                <a:spcPts val="0"/>
              </a:spcAft>
              <a:buClr>
                <a:srgbClr val="0D0D0D"/>
              </a:buClr>
              <a:buSzPts val="3000"/>
              <a:buFont typeface="Saira"/>
              <a:buChar char="●"/>
            </a:pPr>
            <a:r>
              <a:rPr lang="es-AR" sz="3000">
                <a:solidFill>
                  <a:srgbClr val="FF0000"/>
                </a:solidFill>
                <a:highlight>
                  <a:schemeClr val="lt1"/>
                </a:highlight>
                <a:latin typeface="Saira"/>
                <a:ea typeface="Saira"/>
                <a:cs typeface="Saira"/>
                <a:sym typeface="Saira"/>
              </a:rPr>
              <a:t>float</a:t>
            </a:r>
            <a:r>
              <a:rPr lang="es-AR" sz="3000">
                <a:solidFill>
                  <a:srgbClr val="0D0D0D"/>
                </a:solidFill>
                <a:highlight>
                  <a:schemeClr val="lt1"/>
                </a:highlight>
                <a:latin typeface="Saira"/>
                <a:ea typeface="Saira"/>
                <a:cs typeface="Saira"/>
                <a:sym typeface="Saira"/>
              </a:rPr>
              <a:t>: </a:t>
            </a:r>
            <a:r>
              <a:rPr lang="es-AR" sz="3000">
                <a:solidFill>
                  <a:srgbClr val="0D0D0D"/>
                </a:solidFill>
                <a:highlight>
                  <a:schemeClr val="lt1"/>
                </a:highlight>
                <a:latin typeface="Saira"/>
                <a:ea typeface="Saira"/>
                <a:cs typeface="Saira"/>
                <a:sym typeface="Saira"/>
              </a:rPr>
              <a:t>Avanza 4 Bytes</a:t>
            </a:r>
            <a:r>
              <a:rPr lang="es-AR" sz="3000">
                <a:solidFill>
                  <a:srgbClr val="0D0D0D"/>
                </a:solidFill>
                <a:highlight>
                  <a:schemeClr val="lt1"/>
                </a:highlight>
                <a:latin typeface="Saira"/>
                <a:ea typeface="Saira"/>
                <a:cs typeface="Saira"/>
                <a:sym typeface="Saira"/>
              </a:rPr>
              <a:t>.</a:t>
            </a:r>
            <a:endParaRPr sz="3000">
              <a:solidFill>
                <a:srgbClr val="0D0D0D"/>
              </a:solidFill>
              <a:highlight>
                <a:schemeClr val="lt1"/>
              </a:highlight>
              <a:latin typeface="Saira"/>
              <a:ea typeface="Saira"/>
              <a:cs typeface="Saira"/>
              <a:sym typeface="Saira"/>
            </a:endParaRPr>
          </a:p>
          <a:p>
            <a:pPr indent="-419100" lvl="0" marL="457200" rtl="0" algn="l">
              <a:lnSpc>
                <a:spcPct val="115000"/>
              </a:lnSpc>
              <a:spcBef>
                <a:spcPts val="0"/>
              </a:spcBef>
              <a:spcAft>
                <a:spcPts val="0"/>
              </a:spcAft>
              <a:buClr>
                <a:srgbClr val="0D0D0D"/>
              </a:buClr>
              <a:buSzPts val="3000"/>
              <a:buFont typeface="Saira"/>
              <a:buChar char="●"/>
            </a:pPr>
            <a:r>
              <a:rPr lang="es-AR" sz="3000">
                <a:solidFill>
                  <a:srgbClr val="FF0000"/>
                </a:solidFill>
                <a:highlight>
                  <a:schemeClr val="lt1"/>
                </a:highlight>
                <a:latin typeface="Saira"/>
                <a:ea typeface="Saira"/>
                <a:cs typeface="Saira"/>
                <a:sym typeface="Saira"/>
              </a:rPr>
              <a:t>double</a:t>
            </a:r>
            <a:r>
              <a:rPr lang="es-AR" sz="3000">
                <a:solidFill>
                  <a:srgbClr val="0D0D0D"/>
                </a:solidFill>
                <a:highlight>
                  <a:schemeClr val="lt1"/>
                </a:highlight>
                <a:latin typeface="Saira"/>
                <a:ea typeface="Saira"/>
                <a:cs typeface="Saira"/>
                <a:sym typeface="Saira"/>
              </a:rPr>
              <a:t>: </a:t>
            </a:r>
            <a:r>
              <a:rPr lang="es-AR" sz="3000">
                <a:solidFill>
                  <a:srgbClr val="0D0D0D"/>
                </a:solidFill>
                <a:highlight>
                  <a:schemeClr val="lt1"/>
                </a:highlight>
                <a:latin typeface="Saira"/>
                <a:ea typeface="Saira"/>
                <a:cs typeface="Saira"/>
                <a:sym typeface="Saira"/>
              </a:rPr>
              <a:t>Avanza 8 Bytes</a:t>
            </a:r>
            <a:r>
              <a:rPr lang="es-AR" sz="3000">
                <a:solidFill>
                  <a:srgbClr val="0D0D0D"/>
                </a:solidFill>
                <a:highlight>
                  <a:schemeClr val="lt1"/>
                </a:highlight>
                <a:latin typeface="Saira"/>
                <a:ea typeface="Saira"/>
                <a:cs typeface="Saira"/>
                <a:sym typeface="Saira"/>
              </a:rPr>
              <a:t>.</a:t>
            </a:r>
            <a:endParaRPr sz="3000">
              <a:solidFill>
                <a:srgbClr val="0D0D0D"/>
              </a:solidFill>
              <a:highlight>
                <a:schemeClr val="lt1"/>
              </a:highlight>
              <a:latin typeface="Saira"/>
              <a:ea typeface="Saira"/>
              <a:cs typeface="Saira"/>
              <a:sym typeface="Saira"/>
            </a:endParaRPr>
          </a:p>
          <a:p>
            <a:pPr indent="-419100" lvl="0" marL="457200" rtl="0" algn="l">
              <a:lnSpc>
                <a:spcPct val="115000"/>
              </a:lnSpc>
              <a:spcBef>
                <a:spcPts val="0"/>
              </a:spcBef>
              <a:spcAft>
                <a:spcPts val="0"/>
              </a:spcAft>
              <a:buClr>
                <a:srgbClr val="0D0D0D"/>
              </a:buClr>
              <a:buSzPts val="3000"/>
              <a:buFont typeface="Saira"/>
              <a:buChar char="●"/>
            </a:pPr>
            <a:r>
              <a:rPr lang="es-AR" sz="3000">
                <a:solidFill>
                  <a:srgbClr val="FF0000"/>
                </a:solidFill>
                <a:highlight>
                  <a:schemeClr val="lt1"/>
                </a:highlight>
                <a:latin typeface="Saira"/>
                <a:ea typeface="Saira"/>
                <a:cs typeface="Saira"/>
                <a:sym typeface="Saira"/>
              </a:rPr>
              <a:t>bool</a:t>
            </a:r>
            <a:r>
              <a:rPr lang="es-AR" sz="3000">
                <a:solidFill>
                  <a:srgbClr val="0D0D0D"/>
                </a:solidFill>
                <a:highlight>
                  <a:schemeClr val="lt1"/>
                </a:highlight>
                <a:latin typeface="Saira"/>
                <a:ea typeface="Saira"/>
                <a:cs typeface="Saira"/>
                <a:sym typeface="Saira"/>
              </a:rPr>
              <a:t>: </a:t>
            </a:r>
            <a:r>
              <a:rPr lang="es-AR" sz="3000">
                <a:solidFill>
                  <a:srgbClr val="0D0D0D"/>
                </a:solidFill>
                <a:highlight>
                  <a:schemeClr val="lt1"/>
                </a:highlight>
                <a:latin typeface="Saira"/>
                <a:ea typeface="Saira"/>
                <a:cs typeface="Saira"/>
                <a:sym typeface="Saira"/>
              </a:rPr>
              <a:t>Avanza 1 Bytes</a:t>
            </a:r>
            <a:r>
              <a:rPr lang="es-AR" sz="3000">
                <a:solidFill>
                  <a:srgbClr val="0D0D0D"/>
                </a:solidFill>
                <a:highlight>
                  <a:schemeClr val="lt1"/>
                </a:highlight>
                <a:latin typeface="Saira"/>
                <a:ea typeface="Saira"/>
                <a:cs typeface="Saira"/>
                <a:sym typeface="Saira"/>
              </a:rPr>
              <a:t>.</a:t>
            </a:r>
            <a:endParaRPr sz="3000">
              <a:solidFill>
                <a:srgbClr val="FF0000"/>
              </a:solidFill>
              <a:highlight>
                <a:schemeClr val="lt1"/>
              </a:highlight>
              <a:latin typeface="Saira"/>
              <a:ea typeface="Saira"/>
              <a:cs typeface="Saira"/>
              <a:sym typeface="Saira"/>
            </a:endParaRPr>
          </a:p>
          <a:p>
            <a:pPr indent="0" lvl="0" marL="457200" rtl="0" algn="l">
              <a:lnSpc>
                <a:spcPct val="115000"/>
              </a:lnSpc>
              <a:spcBef>
                <a:spcPts val="0"/>
              </a:spcBef>
              <a:spcAft>
                <a:spcPts val="0"/>
              </a:spcAft>
              <a:buNone/>
            </a:pPr>
            <a:r>
              <a:t/>
            </a:r>
            <a:endParaRPr sz="3000">
              <a:solidFill>
                <a:srgbClr val="0D0D0D"/>
              </a:solidFill>
              <a:highlight>
                <a:schemeClr val="lt1"/>
              </a:highlight>
              <a:latin typeface="Saira"/>
              <a:ea typeface="Saira"/>
              <a:cs typeface="Saira"/>
              <a:sym typeface="Sair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1f3006538ad_0_287"/>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Práctica </a:t>
            </a:r>
            <a:endParaRPr b="0" i="0" sz="5400" u="none" cap="none" strike="noStrike">
              <a:solidFill>
                <a:schemeClr val="dk1"/>
              </a:solidFill>
              <a:latin typeface="Saira"/>
              <a:ea typeface="Saira"/>
              <a:cs typeface="Saira"/>
              <a:sym typeface="Saira"/>
            </a:endParaRPr>
          </a:p>
        </p:txBody>
      </p:sp>
      <p:pic>
        <p:nvPicPr>
          <p:cNvPr id="397" name="Google Shape;397;g1f3006538ad_0_287"/>
          <p:cNvPicPr preferRelativeResize="0"/>
          <p:nvPr/>
        </p:nvPicPr>
        <p:blipFill rotWithShape="1">
          <a:blip r:embed="rId3">
            <a:alphaModFix/>
          </a:blip>
          <a:srcRect b="30673" l="23551" r="22739" t="29909"/>
          <a:stretch/>
        </p:blipFill>
        <p:spPr>
          <a:xfrm>
            <a:off x="8791460" y="390327"/>
            <a:ext cx="2959467" cy="1085934"/>
          </a:xfrm>
          <a:prstGeom prst="rect">
            <a:avLst/>
          </a:prstGeom>
          <a:noFill/>
          <a:ln>
            <a:noFill/>
          </a:ln>
        </p:spPr>
      </p:pic>
      <p:sp>
        <p:nvSpPr>
          <p:cNvPr id="398" name="Google Shape;398;g1f3006538ad_0_287"/>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399" name="Google Shape;399;g1f3006538ad_0_287"/>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400" name="Google Shape;400;g1f3006538ad_0_287"/>
          <p:cNvSpPr txBox="1"/>
          <p:nvPr/>
        </p:nvSpPr>
        <p:spPr>
          <a:xfrm>
            <a:off x="472875" y="1827525"/>
            <a:ext cx="43623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AR" sz="2900" u="none" cap="none" strike="noStrike">
                <a:solidFill>
                  <a:srgbClr val="4A86E8"/>
                </a:solidFill>
                <a:highlight>
                  <a:srgbClr val="FFFFFF"/>
                </a:highlight>
                <a:latin typeface="Saira"/>
                <a:ea typeface="Saira"/>
                <a:cs typeface="Saira"/>
                <a:sym typeface="Saira"/>
              </a:rPr>
              <a:t>Ejercicio integrador</a:t>
            </a:r>
            <a:endParaRPr b="1" i="0" sz="2900" u="none" cap="none" strike="noStrike">
              <a:solidFill>
                <a:srgbClr val="4A86E8"/>
              </a:solidFill>
              <a:latin typeface="Saira"/>
              <a:ea typeface="Saira"/>
              <a:cs typeface="Saira"/>
              <a:sym typeface="Saira"/>
            </a:endParaRPr>
          </a:p>
        </p:txBody>
      </p:sp>
      <p:sp>
        <p:nvSpPr>
          <p:cNvPr id="401" name="Google Shape;401;g1f3006538ad_0_287"/>
          <p:cNvSpPr txBox="1"/>
          <p:nvPr/>
        </p:nvSpPr>
        <p:spPr>
          <a:xfrm>
            <a:off x="472875" y="2458725"/>
            <a:ext cx="9774900" cy="387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900"/>
              <a:buFont typeface="Arial"/>
              <a:buNone/>
            </a:pPr>
            <a:r>
              <a:rPr lang="es-AR" sz="1900">
                <a:solidFill>
                  <a:srgbClr val="0D0D0D"/>
                </a:solidFill>
                <a:highlight>
                  <a:schemeClr val="lt1"/>
                </a:highlight>
                <a:latin typeface="Saira"/>
                <a:ea typeface="Saira"/>
                <a:cs typeface="Saira"/>
                <a:sym typeface="Saira"/>
              </a:rPr>
              <a:t>Escribir un programa en C que solicite al usuario ingresar la cantidad de números que desea procesar. Luego, el programa debe solicitar al usuario que ingrese esos números uno por uno. Utilizando punteros, el programa debe calcular y mostrar la suma y el producto de los números ingresados.</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rPr lang="es-AR" sz="1900">
                <a:solidFill>
                  <a:srgbClr val="0D0D0D"/>
                </a:solidFill>
                <a:highlight>
                  <a:schemeClr val="lt1"/>
                </a:highlight>
                <a:latin typeface="Saira"/>
                <a:ea typeface="Saira"/>
                <a:cs typeface="Saira"/>
                <a:sym typeface="Saira"/>
              </a:rPr>
              <a:t>El programa debe cumplir con los siguientes requisitos:</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rPr lang="es-AR" sz="1900">
                <a:solidFill>
                  <a:srgbClr val="0D0D0D"/>
                </a:solidFill>
                <a:highlight>
                  <a:schemeClr val="lt1"/>
                </a:highlight>
                <a:latin typeface="Saira"/>
                <a:ea typeface="Saira"/>
                <a:cs typeface="Saira"/>
                <a:sym typeface="Saira"/>
              </a:rPr>
              <a:t>Debe utilizar punteros para acceder a los números ingresados.</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rPr lang="es-AR" sz="1900">
                <a:solidFill>
                  <a:srgbClr val="0D0D0D"/>
                </a:solidFill>
                <a:highlight>
                  <a:schemeClr val="lt1"/>
                </a:highlight>
                <a:latin typeface="Saira"/>
                <a:ea typeface="Saira"/>
                <a:cs typeface="Saira"/>
                <a:sym typeface="Saira"/>
              </a:rPr>
              <a:t>Debe utilizar las funciones scanf y printf para interactuar con el usuario.</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rPr lang="es-AR" sz="1900">
                <a:solidFill>
                  <a:srgbClr val="0D0D0D"/>
                </a:solidFill>
                <a:highlight>
                  <a:schemeClr val="lt1"/>
                </a:highlight>
                <a:latin typeface="Saira"/>
                <a:ea typeface="Saira"/>
                <a:cs typeface="Saira"/>
                <a:sym typeface="Saira"/>
              </a:rPr>
              <a:t>Debe utilizar un ciclo para procesar los números ingresados.</a:t>
            </a:r>
            <a:endParaRPr sz="1900">
              <a:solidFill>
                <a:srgbClr val="0D0D0D"/>
              </a:solidFill>
              <a:highlight>
                <a:schemeClr val="lt1"/>
              </a:highlight>
              <a:latin typeface="Saira"/>
              <a:ea typeface="Saira"/>
              <a:cs typeface="Saira"/>
              <a:sym typeface="Saira"/>
            </a:endParaRPr>
          </a:p>
          <a:p>
            <a:pPr indent="0" lvl="0" marL="0" rtl="0" algn="l">
              <a:spcBef>
                <a:spcPts val="0"/>
              </a:spcBef>
              <a:spcAft>
                <a:spcPts val="0"/>
              </a:spcAft>
              <a:buClr>
                <a:schemeClr val="dk1"/>
              </a:buClr>
              <a:buSzPts val="1900"/>
              <a:buFont typeface="Arial"/>
              <a:buNone/>
            </a:pPr>
            <a:r>
              <a:rPr lang="es-AR" sz="1900">
                <a:solidFill>
                  <a:srgbClr val="0D0D0D"/>
                </a:solidFill>
                <a:highlight>
                  <a:schemeClr val="lt1"/>
                </a:highlight>
                <a:latin typeface="Saira"/>
                <a:ea typeface="Saira"/>
                <a:cs typeface="Saira"/>
                <a:sym typeface="Saira"/>
              </a:rPr>
              <a:t>No está permitido utilizar vectores para almacenar los números ingresados.</a:t>
            </a:r>
            <a:endParaRPr sz="1900">
              <a:solidFill>
                <a:srgbClr val="0D0D0D"/>
              </a:solidFill>
              <a:highlight>
                <a:schemeClr val="lt1"/>
              </a:highlight>
              <a:latin typeface="Saira"/>
              <a:ea typeface="Saira"/>
              <a:cs typeface="Saira"/>
              <a:sym typeface="Saira"/>
            </a:endParaRPr>
          </a:p>
          <a:p>
            <a:pPr indent="0" lvl="0" marL="0" marR="0" rtl="0" algn="l">
              <a:lnSpc>
                <a:spcPct val="115000"/>
              </a:lnSpc>
              <a:spcBef>
                <a:spcPts val="1500"/>
              </a:spcBef>
              <a:spcAft>
                <a:spcPts val="0"/>
              </a:spcAft>
              <a:buClr>
                <a:srgbClr val="000000"/>
              </a:buClr>
              <a:buSzPts val="1800"/>
              <a:buFont typeface="Arial"/>
              <a:buNone/>
            </a:pPr>
            <a:r>
              <a:t/>
            </a:r>
            <a:endParaRPr sz="1800">
              <a:solidFill>
                <a:srgbClr val="0D0D0D"/>
              </a:solidFill>
              <a:highlight>
                <a:srgbClr val="FFFFFF"/>
              </a:highlight>
              <a:latin typeface="Saira"/>
              <a:ea typeface="Saira"/>
              <a:cs typeface="Saira"/>
              <a:sym typeface="Sai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g1f3006538ad_0_205"/>
          <p:cNvPicPr preferRelativeResize="0"/>
          <p:nvPr/>
        </p:nvPicPr>
        <p:blipFill rotWithShape="1">
          <a:blip r:embed="rId3">
            <a:alphaModFix/>
          </a:blip>
          <a:srcRect b="30673" l="23551" r="22739" t="29909"/>
          <a:stretch/>
        </p:blipFill>
        <p:spPr>
          <a:xfrm>
            <a:off x="8791460" y="390327"/>
            <a:ext cx="2959467" cy="1085934"/>
          </a:xfrm>
          <a:prstGeom prst="rect">
            <a:avLst/>
          </a:prstGeom>
          <a:noFill/>
          <a:ln>
            <a:noFill/>
          </a:ln>
        </p:spPr>
      </p:pic>
      <p:sp>
        <p:nvSpPr>
          <p:cNvPr id="407" name="Google Shape;407;g1f3006538ad_0_205"/>
          <p:cNvSpPr txBox="1"/>
          <p:nvPr>
            <p:ph idx="11" type="ftr"/>
          </p:nvPr>
        </p:nvSpPr>
        <p:spPr>
          <a:xfrm>
            <a:off x="2846238" y="2374225"/>
            <a:ext cx="6499500" cy="1003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AR" sz="2000">
                <a:latin typeface="Saira"/>
                <a:ea typeface="Saira"/>
                <a:cs typeface="Saira"/>
                <a:sym typeface="Saira"/>
              </a:rPr>
              <a:t>Próxima unidad: Vectores</a:t>
            </a:r>
            <a:endParaRPr sz="2000"/>
          </a:p>
        </p:txBody>
      </p:sp>
      <p:pic>
        <p:nvPicPr>
          <p:cNvPr id="408" name="Google Shape;408;g1f3006538ad_0_205"/>
          <p:cNvPicPr preferRelativeResize="0"/>
          <p:nvPr/>
        </p:nvPicPr>
        <p:blipFill rotWithShape="1">
          <a:blip r:embed="rId4">
            <a:alphaModFix/>
          </a:blip>
          <a:srcRect b="0" l="27396" r="27817" t="0"/>
          <a:stretch/>
        </p:blipFill>
        <p:spPr>
          <a:xfrm>
            <a:off x="5219014" y="3378025"/>
            <a:ext cx="1753976" cy="2170400"/>
          </a:xfrm>
          <a:prstGeom prst="rect">
            <a:avLst/>
          </a:prstGeom>
          <a:noFill/>
          <a:ln>
            <a:noFill/>
          </a:ln>
        </p:spPr>
      </p:pic>
      <p:sp>
        <p:nvSpPr>
          <p:cNvPr id="409" name="Google Shape;409;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